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36f1498-5d5e-4ca2-6f26-908b60dd6903}">
          <p14:sldIdLst>
            <p14:sldId id="256"/>
            <p14:sldId id="257"/>
          </p14:sldIdLst>
        </p14:section>
        <p14:section name="Scope of work" id="{ba42456a-1508-c99b-e5bc-ee9be69b88e9}">
          <p14:sldIdLst>
            <p14:sldId id="258"/>
            <p14:sldId id="259"/>
            <p14:sldId id="260"/>
          </p14:sldIdLst>
        </p14:section>
        <p14:section name="Procurement" id="{d13d2b87-00af-cdaf-ce1d-45abb8b0b4cb}">
          <p14:sldIdLst>
            <p14:sldId id="261"/>
            <p14:sldId id="262"/>
            <p14:sldId id="263"/>
          </p14:sldIdLst>
        </p14:section>
        <p14:section name="Mechanical build" id="{d6d32b82-f0fb-4eea-6fc2-5579f1a8e02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two decks on the registration captures, the session that gathers the sample set for registering the 3D sensor to the robot from plane-to-plane correspondences. It covers what has to exist before a capture session: the flat board, its adapter on the robot flange, the run-out fixture and the measuring tools, with estimated costs and candidate suppliers. Almost all of it is the stage-1 calibration hardware reused; the deck says what to check rather than what to make, and carries the specifications so that the items can be made if stage 1 has not been run. The second deck covers the test procedure itself and what the robot program must do. Both summarize the registration capture procedure in docs/procedures of the plane_plane_registration repository, whose section 1 and appendices A and D hold the full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needs only one target: a flat board whose plane the sensor can measure and whose pose the robot reports. The sensor fits a plane to the board in each capture; the robot's reported tool frame gives the same plane in the robot's base frame; the transform that maps one set of planes onto the other is the registration. No spheres and no three-ball nest are needed, which is why this deck is short. The board, its adapter and its tool frame are the stage-1 ones (procedure section 1a and section 3, figure 1). The front face is what matters: its flatness, its matte finish and the perpendicularity of its mounting on the flange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list of apparatus the session needs beyond the sensor, the robot and the computers, as section 1b of the procedure gives it. Every item was built for the stage-1 calibration session and is reused as it is: the same board, the same adapter, the same run-out fixture, the same sensor mount. If stage 1 has not been run, the items are built to the stage-1 specification and drawing, which the procedure carries: the plate specification in section 1d, the run-out fixture in 1e, and drawing SC1-05 for the board adapter in appendix D, copied from the stage-1 repository. The rigid sensor mount is built from the existing drawing from previous work and is not drawn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measuring tools and consumables of section 1c of the procedure. All of the tools were bought for stage 1; only consumables are new. The calipers measure the flange-to-face distance D, which sets the tool frame and goes in the session notes, and the board half-sizes, which go in the pose log; the straightedge and a 0.05 mm feeler leaf check the board's flatness after painting and after mounting; the square sets the board's x axis when the tool frame is defined; the thermometer gives the room temperature for the session notes. No micrometers are needed, since there are no spheres to measure. The sensor, the robot, the capture computer with its communication software and the analysis computer are already in hand (section 1a).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figures are the stage-1 procedure's, kept in one script (docs/procedures/build/costs.py) from which the procedure's section 1c and this slide are both filled, so they cannot disagree. They come from suppliers' list prices where these exist and from typical United States job-shop rates of about 80 to 150 dollars an hour otherwise. If the stage-1 session has been run, the board, the adapter, the run-out fixture and the tools exist, and the only new spending is consumables. Built from nothing, the three items come to 540 to 1,570 dollars and the tools to 170 to 570 dollars. Treat every figure as plus or minus 50 percent and get quotes; the board adapter, a one-off machined plate with lapped pads, is the least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purchase specification of section 1d of the procedure, identical to the stage-1 plate, to hand to a supplier or a grinding shop. The board is checked flat after painting and after mounting because that is the state the sensor sees. Thickness is not a stiffness matter: a 6 mm plate sags only about 0.002 mm under its own weight; the plate only has to survive the finish and the mounting flat. Bead-blasting is ruled out below about 10 mm because peening one face bows the plate; a thin, even matte paint over the ground or glass surface is the finish. The two reference edges rest against the adapter's edge pins, so they must be square and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appendix A of the procedure in brief, the stage-1 supplier list reduced to the items this procedure uses. The plate is one of the two materials of the specification on the previous slide: MIC-6 tooling plate is sold with a stated flatness of about 0.13 mm, coarser than the 0.05 mm asked for, so it is ordered oversize and finish-ground by a local shop; float glass is flat enough as delivered and is the better choice where no grinding shop is at hand. In both cases the supplier's or grinding shop's flatness report is the starting document, and the 0.05 mm is confirmed in-house with the straightedge and feeler leaf after painting and after mounting, the state the sensor sees. The instruments are stock items. The adapter is a one-off job for a machine shop, built to drawing SC1-05.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run-out check in deck 2 needs the dial indicator held still while the robot turns the board about the flange axis; it tests whether the board face is perpendicular to that axis, which the tool frame's z axis assumes. A magnetic base alone can creep on a non-magnetic table, so the fixture stands on a steel plate bolted down. The stage-1 fixture serves as it is; section 1e of the procedure gives the parts and their placement. The figure is figure 1a of the procedure: the flange, the adapter and the board in section, with the indicator tip on the front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 is the one part that needs a drawing. Its three lapped pads define the board plane, its three edge pins locate the board within that plane, and its three clamp fingers hold the board against the pads without bending it, so that a remount puts the board back in the same place. The plane of the pads must be parallel to the adapter's back face, which sits on the robot flange; that is what the run-out check verifies after mounting. Drawing SC1-05 in appendix D of the procedure gives every dimension and tolerance; the drawing is generated in the stage-1 repository and copied here. The figure is figure 1b of the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 and preparation checks of sections 1 and 3 of the procedure, gathered in one place. Each protects something the software cannot repair later: a board that is not flat gives plane residuals the registration reads as sensor error; a glossy spot returns a highlight and a bad read; a loose or unseated adapter shifts the board between poses and spoils every pose after it; wrong tool load data shifts every reported pose. The run-out and D measurements themselves are session steps, in deck 2. A remount is verified, not assumed: section 3 of the procedure repeats the run-out check and the D measurement and re-captures a saved reference pose, so that any change of the board's plane relative to the flange shows before it spoils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Sensor Registration: Procurement and Build</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The board, its adapter and the fixtures needed for the registration captures</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Procurement and mechanical build  ·  October 2026</a:t>
            </a:r>
            <a:endParaRPr lang="en-US" sz="1400" dirty="0"/>
          </a:p>
        </p:txBody>
      </p:sp>
      <p:sp>
        <p:nvSpPr>
          <p:cNvPr id="5" name="Graphic sensor body"/>
          <p:cNvSpPr/>
          <p:nvPr/>
        </p:nvSpPr>
        <p:spPr>
          <a:xfrm>
            <a:off x="457200" y="4023360"/>
            <a:ext cx="1005840" cy="1371600"/>
          </a:xfrm>
          <a:prstGeom prst="roundRect">
            <a:avLst>
              <a:gd name="adj" fmla="val 10909"/>
            </a:avLst>
          </a:prstGeom>
          <a:solidFill>
            <a:schemeClr val="accent2"/>
          </a:solidFill>
          <a:ln w="25400">
            <a:solidFill>
              <a:schemeClr val="accent6"/>
            </a:solidFill>
            <a:prstDash val="solid"/>
          </a:ln>
        </p:spPr>
      </p:sp>
      <p:sp>
        <p:nvSpPr>
          <p:cNvPr id="6" name="Graphic sensor lens"/>
          <p:cNvSpPr/>
          <p:nvPr/>
        </p:nvSpPr>
        <p:spPr>
          <a:xfrm>
            <a:off x="868680" y="4480560"/>
            <a:ext cx="457200" cy="457200"/>
          </a:xfrm>
          <a:prstGeom prst="ellipse">
            <a:avLst/>
          </a:prstGeom>
          <a:solidFill>
            <a:schemeClr val="accent3"/>
          </a:solidFill>
          <a:ln/>
        </p:spPr>
      </p:sp>
      <p:sp>
        <p:nvSpPr>
          <p:cNvPr id="7" name="Graphic board 1"/>
          <p:cNvSpPr/>
          <p:nvPr/>
        </p:nvSpPr>
        <p:spPr>
          <a:xfrm>
            <a:off x="3511296" y="3657600"/>
            <a:ext cx="128016" cy="2103120"/>
          </a:xfrm>
          <a:prstGeom prst="roundRect">
            <a:avLst>
              <a:gd name="adj" fmla="val 28571"/>
            </a:avLst>
          </a:prstGeom>
          <a:solidFill>
            <a:schemeClr val="accent6"/>
          </a:solidFill>
          <a:ln w="25400">
            <a:solidFill>
              <a:schemeClr val="accent3"/>
            </a:solidFill>
            <a:prstDash val="solid"/>
          </a:ln>
        </p:spPr>
      </p:sp>
      <p:sp>
        <p:nvSpPr>
          <p:cNvPr id="8" name="Graphic board 1 tool-frame origin"/>
          <p:cNvSpPr/>
          <p:nvPr/>
        </p:nvSpPr>
        <p:spPr>
          <a:xfrm>
            <a:off x="3465576" y="4599432"/>
            <a:ext cx="219456" cy="219456"/>
          </a:xfrm>
          <a:prstGeom prst="ellipse">
            <a:avLst/>
          </a:prstGeom>
          <a:solidFill>
            <a:schemeClr val="accent1"/>
          </a:solidFill>
          <a:ln/>
        </p:spPr>
      </p:sp>
      <p:sp>
        <p:nvSpPr>
          <p:cNvPr id="9" name="Graphic board 2"/>
          <p:cNvSpPr/>
          <p:nvPr/>
        </p:nvSpPr>
        <p:spPr>
          <a:xfrm rot="900000">
            <a:off x="4279392" y="3657600"/>
            <a:ext cx="128016" cy="2103120"/>
          </a:xfrm>
          <a:prstGeom prst="roundRect">
            <a:avLst>
              <a:gd name="adj" fmla="val 28571"/>
            </a:avLst>
          </a:prstGeom>
          <a:solidFill>
            <a:schemeClr val="accent6"/>
          </a:solidFill>
          <a:ln w="25400">
            <a:solidFill>
              <a:schemeClr val="accent3"/>
            </a:solidFill>
            <a:prstDash val="solid"/>
          </a:ln>
        </p:spPr>
      </p:sp>
      <p:sp>
        <p:nvSpPr>
          <p:cNvPr id="10" name="Graphic board 2 tool-frame origin"/>
          <p:cNvSpPr/>
          <p:nvPr/>
        </p:nvSpPr>
        <p:spPr>
          <a:xfrm>
            <a:off x="4233672" y="4599432"/>
            <a:ext cx="219456" cy="219456"/>
          </a:xfrm>
          <a:prstGeom prst="ellipse">
            <a:avLst/>
          </a:prstGeom>
          <a:solidFill>
            <a:schemeClr val="accent1"/>
          </a:solidFill>
          <a:ln/>
        </p:spPr>
      </p:sp>
      <p:sp>
        <p:nvSpPr>
          <p:cNvPr id="11" name="Graphic board 3"/>
          <p:cNvSpPr/>
          <p:nvPr/>
        </p:nvSpPr>
        <p:spPr>
          <a:xfrm rot="1800000">
            <a:off x="5047488" y="3657600"/>
            <a:ext cx="128016" cy="2103120"/>
          </a:xfrm>
          <a:prstGeom prst="roundRect">
            <a:avLst>
              <a:gd name="adj" fmla="val 28571"/>
            </a:avLst>
          </a:prstGeom>
          <a:solidFill>
            <a:schemeClr val="accent6"/>
          </a:solidFill>
          <a:ln w="25400">
            <a:solidFill>
              <a:schemeClr val="accent3"/>
            </a:solidFill>
            <a:prstDash val="solid"/>
          </a:ln>
        </p:spPr>
      </p:sp>
      <p:sp>
        <p:nvSpPr>
          <p:cNvPr id="12" name="Graphic board 3 tool-frame origin"/>
          <p:cNvSpPr/>
          <p:nvPr/>
        </p:nvSpPr>
        <p:spPr>
          <a:xfrm>
            <a:off x="5001768" y="459943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One flat board carries the known geometry</a:t>
            </a:r>
            <a:endParaRPr lang="en-US" sz="3400" dirty="0"/>
          </a:p>
        </p:txBody>
      </p:sp>
      <p:sp>
        <p:nvSpPr>
          <p:cNvPr id="3" name="Figure card"/>
          <p:cNvSpPr/>
          <p:nvPr/>
        </p:nvSpPr>
        <p:spPr>
          <a:xfrm>
            <a:off x="457200" y="1417320"/>
            <a:ext cx="6400800" cy="4709160"/>
          </a:xfrm>
          <a:prstGeom prst="roundRect">
            <a:avLst>
              <a:gd name="adj" fmla="val 2330"/>
            </a:avLst>
          </a:prstGeom>
          <a:solidFill>
            <a:schemeClr val="bg1"/>
          </a:solidFill>
          <a:ln w="12700">
            <a:solidFill>
              <a:schemeClr val="accent6"/>
            </a:solidFill>
            <a:prstDash val="solid"/>
          </a:ln>
        </p:spPr>
      </p:sp>
      <p:pic>
        <p:nvPicPr>
          <p:cNvPr id="4" name="Front face of the board as the sensor sees it" descr="Front face of the board as the sensor sees it">    </p:cNvPr>
          <p:cNvPicPr>
            <a:picLocks noChangeAspect="1"/>
          </p:cNvPicPr>
          <p:nvPr/>
        </p:nvPicPr>
        <p:blipFill>
          <a:blip r:embed="rId1"/>
          <a:stretch>
            <a:fillRect/>
          </a:stretch>
        </p:blipFill>
        <p:spPr>
          <a:xfrm>
            <a:off x="685800" y="2409168"/>
            <a:ext cx="5943600" cy="2121960"/>
          </a:xfrm>
          <a:prstGeom prst="rect">
            <a:avLst/>
          </a:prstGeom>
        </p:spPr>
      </p:pic>
      <p:sp>
        <p:nvSpPr>
          <p:cNvPr id="5" name="Figure caption"/>
          <p:cNvSpPr txBox="1"/>
          <p:nvPr/>
        </p:nvSpPr>
        <p:spPr>
          <a:xfrm>
            <a:off x="685800" y="4714008"/>
            <a:ext cx="5943600" cy="420624"/>
          </a:xfrm>
          <a:prstGeom prst="rect">
            <a:avLst/>
          </a:prstGeom>
          <a:noFill/>
          <a:ln/>
        </p:spPr>
        <p:txBody>
          <a:bodyPr wrap="square" lIns="0" tIns="0" rIns="0" bIns="0" rtlCol="0" anchor="t"/>
          <a:lstStyle/>
          <a:p>
            <a:pPr algn="l" indent="0" marL="0">
              <a:buNone/>
            </a:pPr>
            <a:r>
              <a:rPr lang="en-US" sz="1200" dirty="0">
                <a:solidFill>
                  <a:schemeClr val="accent5"/>
                </a:solidFill>
              </a:rPr>
              <a:t>The board's front face as the sensor sees it: the tool frame at the center, the four places where D is measured, and the three-point mounting behind it.</a:t>
            </a:r>
            <a:endParaRPr lang="en-US" sz="1200" dirty="0"/>
          </a:p>
        </p:txBody>
      </p:sp>
      <p:sp>
        <p:nvSpPr>
          <p:cNvPr id="6" name="Fixture 1 card"/>
          <p:cNvSpPr/>
          <p:nvPr/>
        </p:nvSpPr>
        <p:spPr>
          <a:xfrm>
            <a:off x="7132320" y="1417320"/>
            <a:ext cx="4602175" cy="1288701"/>
          </a:xfrm>
          <a:prstGeom prst="roundRect">
            <a:avLst>
              <a:gd name="adj" fmla="val 8515"/>
            </a:avLst>
          </a:prstGeom>
          <a:solidFill>
            <a:schemeClr val="bg2"/>
          </a:solidFill>
          <a:ln/>
        </p:spPr>
      </p:sp>
      <p:sp>
        <p:nvSpPr>
          <p:cNvPr id="7" name="Fixture 1 icon circle"/>
          <p:cNvSpPr/>
          <p:nvPr/>
        </p:nvSpPr>
        <p:spPr>
          <a:xfrm>
            <a:off x="7360920" y="1741631"/>
            <a:ext cx="640080" cy="640080"/>
          </a:xfrm>
          <a:prstGeom prst="ellipse">
            <a:avLst/>
          </a:prstGeom>
          <a:solidFill>
            <a:schemeClr val="accent2"/>
          </a:solidFill>
          <a:ln/>
        </p:spPr>
      </p:sp>
      <p:pic>
        <p:nvPicPr>
          <p:cNvPr id="8" name="Fixture 1 icon glyph" descr="board icon">    </p:cNvPr>
          <p:cNvPicPr>
            <a:picLocks noChangeAspect="1"/>
          </p:cNvPicPr>
          <p:nvPr/>
        </p:nvPicPr>
        <p:blipFill>
          <a:blip r:embed="rId2"/>
          <a:stretch>
            <a:fillRect/>
          </a:stretch>
        </p:blipFill>
        <p:spPr>
          <a:xfrm>
            <a:off x="7520940" y="1901651"/>
            <a:ext cx="320040" cy="320040"/>
          </a:xfrm>
          <a:prstGeom prst="rect">
            <a:avLst/>
          </a:prstGeom>
        </p:spPr>
      </p:pic>
      <p:sp>
        <p:nvSpPr>
          <p:cNvPr id="9" name="Fixture 1 text"/>
          <p:cNvSpPr txBox="1"/>
          <p:nvPr/>
        </p:nvSpPr>
        <p:spPr>
          <a:xfrm>
            <a:off x="8183880" y="1508760"/>
            <a:ext cx="3322015" cy="1105821"/>
          </a:xfrm>
          <a:prstGeom prst="rect">
            <a:avLst/>
          </a:prstGeom>
          <a:noFill/>
          <a:ln/>
        </p:spPr>
        <p:txBody>
          <a:bodyPr wrap="square" lIns="0" tIns="0" rIns="0" bIns="0" rtlCol="0" anchor="ctr"/>
          <a:lstStyle/>
          <a:p>
            <a:pPr algn="l" indent="0" marL="0">
              <a:buNone/>
            </a:pPr>
            <a:r>
              <a:rPr lang="en-US" sz="1800" b="1" dirty="0">
                <a:solidFill>
                  <a:schemeClr val="tx2"/>
                </a:solidFill>
              </a:rPr>
              <a:t>Board</a:t>
            </a:r>
            <a:endParaRPr lang="en-US" sz="1600" dirty="0"/>
          </a:p>
          <a:p>
            <a:pPr algn="l" indent="0" marL="0">
              <a:buNone/>
            </a:pPr>
            <a:r>
              <a:rPr lang="en-US" sz="1400" dirty="0">
                <a:solidFill>
                  <a:schemeClr val="tx1"/>
                </a:solidFill>
              </a:rPr>
              <a:t>200 x 150 mm plate, at least 6 mm thick, matte light gray, flat to 0.05 mm after painting and mounting</a:t>
            </a:r>
            <a:endParaRPr lang="en-US" sz="1600" dirty="0"/>
          </a:p>
        </p:txBody>
      </p:sp>
      <p:sp>
        <p:nvSpPr>
          <p:cNvPr id="10" name="Fixture 2 card"/>
          <p:cNvSpPr/>
          <p:nvPr/>
        </p:nvSpPr>
        <p:spPr>
          <a:xfrm>
            <a:off x="7132320" y="2888901"/>
            <a:ext cx="4602175" cy="1527349"/>
          </a:xfrm>
          <a:prstGeom prst="roundRect">
            <a:avLst>
              <a:gd name="adj" fmla="val 7184"/>
            </a:avLst>
          </a:prstGeom>
          <a:solidFill>
            <a:schemeClr val="bg2"/>
          </a:solidFill>
          <a:ln/>
        </p:spPr>
      </p:sp>
      <p:sp>
        <p:nvSpPr>
          <p:cNvPr id="11" name="Fixture 2 icon circle"/>
          <p:cNvSpPr/>
          <p:nvPr/>
        </p:nvSpPr>
        <p:spPr>
          <a:xfrm>
            <a:off x="7360920" y="3332536"/>
            <a:ext cx="640080" cy="640080"/>
          </a:xfrm>
          <a:prstGeom prst="ellipse">
            <a:avLst/>
          </a:prstGeom>
          <a:solidFill>
            <a:schemeClr val="accent2"/>
          </a:solidFill>
          <a:ln/>
        </p:spPr>
      </p:sp>
      <p:pic>
        <p:nvPicPr>
          <p:cNvPr id="12" name="Fixture 2 icon glyph" descr="layers icon">    </p:cNvPr>
          <p:cNvPicPr>
            <a:picLocks noChangeAspect="1"/>
          </p:cNvPicPr>
          <p:nvPr/>
        </p:nvPicPr>
        <p:blipFill>
          <a:blip r:embed="rId3"/>
          <a:stretch>
            <a:fillRect/>
          </a:stretch>
        </p:blipFill>
        <p:spPr>
          <a:xfrm>
            <a:off x="7520940" y="3492556"/>
            <a:ext cx="320040" cy="320040"/>
          </a:xfrm>
          <a:prstGeom prst="rect">
            <a:avLst/>
          </a:prstGeom>
        </p:spPr>
      </p:pic>
      <p:sp>
        <p:nvSpPr>
          <p:cNvPr id="13" name="Fixture 2 text"/>
          <p:cNvSpPr txBox="1"/>
          <p:nvPr/>
        </p:nvSpPr>
        <p:spPr>
          <a:xfrm>
            <a:off x="8183880" y="2980341"/>
            <a:ext cx="3322015" cy="1344469"/>
          </a:xfrm>
          <a:prstGeom prst="rect">
            <a:avLst/>
          </a:prstGeom>
          <a:noFill/>
          <a:ln/>
        </p:spPr>
        <p:txBody>
          <a:bodyPr wrap="square" lIns="0" tIns="0" rIns="0" bIns="0" rtlCol="0" anchor="ctr"/>
          <a:lstStyle/>
          <a:p>
            <a:pPr algn="l" indent="0" marL="0">
              <a:buNone/>
            </a:pPr>
            <a:r>
              <a:rPr lang="en-US" sz="1800" b="1" dirty="0">
                <a:solidFill>
                  <a:schemeClr val="tx2"/>
                </a:solidFill>
              </a:rPr>
              <a:t>Board adapter</a:t>
            </a:r>
            <a:endParaRPr lang="en-US" sz="1600" dirty="0"/>
          </a:p>
          <a:p>
            <a:pPr algn="l" indent="0" marL="0">
              <a:buNone/>
            </a:pPr>
            <a:r>
              <a:rPr lang="en-US" sz="1400" dirty="0">
                <a:solidFill>
                  <a:schemeClr val="tx1"/>
                </a:solidFill>
              </a:rPr>
              <a:t>Doweled plate on the ISO flange; three support pads, three edge pins, three clamp fingers hold the board square to the flange axis</a:t>
            </a:r>
            <a:endParaRPr lang="en-US" sz="1600" dirty="0"/>
          </a:p>
        </p:txBody>
      </p:sp>
      <p:sp>
        <p:nvSpPr>
          <p:cNvPr id="14" name="Fixture 3 card"/>
          <p:cNvSpPr/>
          <p:nvPr/>
        </p:nvSpPr>
        <p:spPr>
          <a:xfrm>
            <a:off x="7132320" y="4599131"/>
            <a:ext cx="4602175" cy="1527349"/>
          </a:xfrm>
          <a:prstGeom prst="roundRect">
            <a:avLst>
              <a:gd name="adj" fmla="val 7184"/>
            </a:avLst>
          </a:prstGeom>
          <a:solidFill>
            <a:schemeClr val="bg2"/>
          </a:solidFill>
          <a:ln/>
        </p:spPr>
      </p:sp>
      <p:sp>
        <p:nvSpPr>
          <p:cNvPr id="15" name="Fixture 3 icon circle"/>
          <p:cNvSpPr/>
          <p:nvPr/>
        </p:nvSpPr>
        <p:spPr>
          <a:xfrm>
            <a:off x="7360920" y="5042765"/>
            <a:ext cx="640080" cy="640080"/>
          </a:xfrm>
          <a:prstGeom prst="ellipse">
            <a:avLst/>
          </a:prstGeom>
          <a:solidFill>
            <a:schemeClr val="accent2"/>
          </a:solidFill>
          <a:ln/>
        </p:spPr>
      </p:sp>
      <p:pic>
        <p:nvPicPr>
          <p:cNvPr id="16" name="Fixture 3 icon glyph" descr="crosshairs icon">    </p:cNvPr>
          <p:cNvPicPr>
            <a:picLocks noChangeAspect="1"/>
          </p:cNvPicPr>
          <p:nvPr/>
        </p:nvPicPr>
        <p:blipFill>
          <a:blip r:embed="rId4"/>
          <a:stretch>
            <a:fillRect/>
          </a:stretch>
        </p:blipFill>
        <p:spPr>
          <a:xfrm>
            <a:off x="7520940" y="5202785"/>
            <a:ext cx="320040" cy="320040"/>
          </a:xfrm>
          <a:prstGeom prst="rect">
            <a:avLst/>
          </a:prstGeom>
        </p:spPr>
      </p:pic>
      <p:sp>
        <p:nvSpPr>
          <p:cNvPr id="17" name="Fixture 3 text"/>
          <p:cNvSpPr txBox="1"/>
          <p:nvPr/>
        </p:nvSpPr>
        <p:spPr>
          <a:xfrm>
            <a:off x="8183880" y="4690571"/>
            <a:ext cx="3322015" cy="1344469"/>
          </a:xfrm>
          <a:prstGeom prst="rect">
            <a:avLst/>
          </a:prstGeom>
          <a:noFill/>
          <a:ln/>
        </p:spPr>
        <p:txBody>
          <a:bodyPr wrap="square" lIns="0" tIns="0" rIns="0" bIns="0" rtlCol="0" anchor="ctr"/>
          <a:lstStyle/>
          <a:p>
            <a:pPr algn="l" indent="0" marL="0">
              <a:buNone/>
            </a:pPr>
            <a:r>
              <a:rPr lang="en-US" sz="1800" b="1" dirty="0">
                <a:solidFill>
                  <a:schemeClr val="tx2"/>
                </a:solidFill>
              </a:rPr>
              <a:t>Tool frame</a:t>
            </a:r>
            <a:endParaRPr lang="en-US" sz="1600" dirty="0"/>
          </a:p>
          <a:p>
            <a:pPr algn="l" indent="0" marL="0">
              <a:buNone/>
            </a:pPr>
            <a:r>
              <a:rPr lang="en-US" sz="1400" dirty="0">
                <a:solidFill>
                  <a:schemeClr val="tx1"/>
                </a:solidFill>
              </a:rPr>
              <a:t>Origin at the center of the front face, z along the board normal toward the sensor, x along the long edge; the robot reports this frame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built</a:t>
            </a:r>
            <a:endParaRPr lang="en-US" sz="3400" dirty="0"/>
          </a:p>
        </p:txBody>
      </p:sp>
      <p:graphicFrame>
        <p:nvGraphicFramePr>
          <p:cNvPr id="4" name="Build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8412480" cy="914400"/>
        </p:xfrm>
        <a:graphic>
          <a:graphicData uri="http://schemas.openxmlformats.org/drawingml/2006/table">
            <a:tbl>
              <a:tblPr/>
              <a:tblGrid>
                <a:gridCol w="4206240"/>
                <a:gridCol w="1097280"/>
                <a:gridCol w="1737360"/>
                <a:gridCol w="1371600"/>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Quantity</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Drawing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From stage 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1173480">
                <a:tc>
                  <a:txBody>
                    <a:bodyPr/>
                    <a:lstStyle/>
                    <a:p>
                      <a:pPr algn="l" indent="0" marL="0">
                        <a:buNone/>
                      </a:pPr>
                      <a:r>
                        <a:rPr lang="en-US" sz="1400" dirty="0">
                          <a:solidFill>
                            <a:schemeClr val="tx1"/>
                          </a:solidFill>
                        </a:rPr>
                        <a:t>Flat target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SC1-05 (outline)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1173480">
                <a:tc>
                  <a:txBody>
                    <a:bodyPr/>
                    <a:lstStyle/>
                    <a:p>
                      <a:pPr algn="l" indent="0" marL="0">
                        <a:buNone/>
                      </a:pPr>
                      <a:r>
                        <a:rPr lang="en-US" sz="1400" dirty="0">
                          <a:solidFill>
                            <a:schemeClr val="tx1"/>
                          </a:solidFill>
                        </a:rPr>
                        <a:t>Board adapter: flange plate with pads, edge pins and clamp fingers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SC1-05</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1173480">
                <a:tc>
                  <a:txBody>
                    <a:bodyPr/>
                    <a:lstStyle/>
                    <a:p>
                      <a:pPr algn="l" indent="0" marL="0">
                        <a:buNone/>
                      </a:pPr>
                      <a:r>
                        <a:rPr lang="en-US" sz="1400" dirty="0">
                          <a:solidFill>
                            <a:schemeClr val="tx1"/>
                          </a:solidFill>
                        </a:rPr>
                        <a:t>Run-out fixture: dial indicator on a magnetic base and steel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none needed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Visual card"/>
          <p:cNvSpPr/>
          <p:nvPr/>
        </p:nvSpPr>
        <p:spPr>
          <a:xfrm>
            <a:off x="9144000" y="1417320"/>
            <a:ext cx="2590495" cy="3977640"/>
          </a:xfrm>
          <a:prstGeom prst="roundRect">
            <a:avLst>
              <a:gd name="adj" fmla="val 4236"/>
            </a:avLst>
          </a:prstGeom>
          <a:solidFill>
            <a:schemeClr val="bg2"/>
          </a:solidFill>
          <a:ln/>
        </p:spPr>
      </p:sp>
      <p:sp>
        <p:nvSpPr>
          <p:cNvPr id="5" name="Toolbox icon circle"/>
          <p:cNvSpPr/>
          <p:nvPr/>
        </p:nvSpPr>
        <p:spPr>
          <a:xfrm>
            <a:off x="9707728" y="2674620"/>
            <a:ext cx="1463040" cy="1463040"/>
          </a:xfrm>
          <a:prstGeom prst="ellipse">
            <a:avLst/>
          </a:prstGeom>
          <a:solidFill>
            <a:schemeClr val="accent2"/>
          </a:solidFill>
          <a:ln/>
        </p:spPr>
      </p:sp>
      <p:pic>
        <p:nvPicPr>
          <p:cNvPr id="6" name="Toolbox icon glyph" descr="toolbox icon">    </p:cNvPr>
          <p:cNvPicPr>
            <a:picLocks noChangeAspect="1"/>
          </p:cNvPicPr>
          <p:nvPr/>
        </p:nvPicPr>
        <p:blipFill>
          <a:blip r:embed="rId1"/>
          <a:stretch>
            <a:fillRect/>
          </a:stretch>
        </p:blipFill>
        <p:spPr>
          <a:xfrm>
            <a:off x="10073488" y="3040380"/>
            <a:ext cx="731520" cy="731520"/>
          </a:xfrm>
          <a:prstGeom prst="rect">
            <a:avLst/>
          </a:prstGeom>
        </p:spPr>
      </p:pic>
      <p:sp>
        <p:nvSpPr>
          <p:cNvPr id="7" name="Build list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Nothing new if stage 1 was run. Section 1b of the procedure; the rigid sensor mount is in hand from the existing drawing (1a). Each item carries its specification and drawing so it can be made for this procedure alone.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bought</a:t>
            </a:r>
            <a:endParaRPr lang="en-US" sz="3400" dirty="0"/>
          </a:p>
        </p:txBody>
      </p:sp>
      <p:graphicFrame>
        <p:nvGraphicFramePr>
          <p:cNvPr id="5" name="Buy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3840480"/>
                <a:gridCol w="3962095"/>
                <a:gridCol w="2103120"/>
                <a:gridCol w="1371600"/>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Purpose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From stage 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740664">
                <a:tc>
                  <a:txBody>
                    <a:bodyPr/>
                    <a:lstStyle/>
                    <a:p>
                      <a:pPr algn="l" indent="0" marL="0">
                        <a:buNone/>
                      </a:pPr>
                      <a:r>
                        <a:rPr lang="en-US" sz="1400" dirty="0">
                          <a:solidFill>
                            <a:schemeClr val="tx1"/>
                          </a:solidFill>
                        </a:rPr>
                        <a:t>Calipers with depth rod, 150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Board distance D; board size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$30 to $150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740664">
                <a:tc>
                  <a:txBody>
                    <a:bodyPr/>
                    <a:lstStyle/>
                    <a:p>
                      <a:pPr algn="l" indent="0" marL="0">
                        <a:buNone/>
                      </a:pPr>
                      <a:r>
                        <a:rPr lang="en-US" sz="1400" dirty="0">
                          <a:solidFill>
                            <a:schemeClr val="tx1"/>
                          </a:solidFill>
                        </a:rPr>
                        <a:t>Straightedge 300 mm and feeler gauges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Board flatness after painting and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$75 to $240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740664">
                <a:tc>
                  <a:txBody>
                    <a:bodyPr/>
                    <a:lstStyle/>
                    <a:p>
                      <a:pPr algn="l" indent="0" marL="0">
                        <a:buNone/>
                      </a:pPr>
                      <a:r>
                        <a:rPr lang="en-US" sz="1400" dirty="0">
                          <a:solidFill>
                            <a:schemeClr val="tx1"/>
                          </a:solidFill>
                        </a:rPr>
                        <a:t>Thermometer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Room temperature in the session 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$15 to $40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740664">
                <a:tc>
                  <a:txBody>
                    <a:bodyPr/>
                    <a:lstStyle/>
                    <a:p>
                      <a:pPr algn="l" indent="0" marL="0">
                        <a:buNone/>
                      </a:pPr>
                      <a:r>
                        <a:rPr lang="en-US" sz="1400" dirty="0">
                          <a:solidFill>
                            <a:schemeClr val="tx1"/>
                          </a:solidFill>
                        </a:rPr>
                        <a:t>Machinist's square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Board x axis against the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$30 to $80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yes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740664">
                <a:tc>
                  <a:txBody>
                    <a:bodyPr/>
                    <a:lstStyle/>
                    <a:p>
                      <a:pPr algn="l" indent="0" marL="0">
                        <a:buNone/>
                      </a:pPr>
                      <a:r>
                        <a:rPr lang="en-US" sz="1400" dirty="0">
                          <a:solidFill>
                            <a:schemeClr val="tx1"/>
                          </a:solidFill>
                        </a:rPr>
                        <a:t>Consumables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Isopropyl alcohol and wipes, shim stock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$20 to $60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no</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Buy li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A phone camera is enough for the setup photos. Already in hand: sensor, robot, capture computer with its communication software, analysis computer.</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New spending: $20 to $60 after stage 1</a:t>
            </a:r>
            <a:endParaRPr lang="en-US" sz="3400" dirty="0"/>
          </a:p>
        </p:txBody>
      </p:sp>
      <p:graphicFrame>
        <p:nvGraphicFramePr>
          <p:cNvPr id="6" name="Cost table"/>
          <p:cNvGraphicFramePr>
            <a:graphicFrameLocks noGrp="1"/>
          </p:cNvGraphicFramePr>
          <p:nvPr>
            <p:extLst>
              <p:ext uri="{D42A27DB-BD31-4B8C-83A1-F6EECF244321}">
                <p14:modId xmlns:p14="http://schemas.microsoft.com/office/powerpoint/2010/main" val="1579011935"/>
              </p:ext>
            </p:extLst>
          </p:nvPr>
        </p:nvGraphicFramePr>
        <p:xfrm>
          <a:off x="457200" y="1417320"/>
          <a:ext cx="7223760" cy="914400"/>
        </p:xfrm>
        <a:graphic>
          <a:graphicData uri="http://schemas.openxmlformats.org/drawingml/2006/table">
            <a:tbl>
              <a:tblPr/>
              <a:tblGrid>
                <a:gridCol w="5120640"/>
                <a:gridCol w="2103120"/>
              </a:tblGrid>
              <a:tr h="457200">
                <a:tc>
                  <a:txBody>
                    <a:bodyPr/>
                    <a:lstStyle/>
                    <a:p>
                      <a:pPr algn="l" indent="0" marL="0">
                        <a:buNone/>
                      </a:pPr>
                      <a:r>
                        <a:rPr lang="en-US" sz="1400" b="1" dirty="0">
                          <a:solidFill>
                            <a:schemeClr val="bg1"/>
                          </a:solidFill>
                        </a:rPr>
                        <a:t>Item to build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925830">
                <a:tc>
                  <a:txBody>
                    <a:bodyPr/>
                    <a:lstStyle/>
                    <a:p>
                      <a:pPr algn="l" indent="0" marL="0">
                        <a:buNone/>
                      </a:pPr>
                      <a:r>
                        <a:rPr lang="en-US" sz="1400" dirty="0">
                          <a:solidFill>
                            <a:schemeClr val="tx1"/>
                          </a:solidFill>
                        </a:rPr>
                        <a:t>Flat target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$50 to $400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925830">
                <a:tc>
                  <a:txBody>
                    <a:bodyPr/>
                    <a:lstStyle/>
                    <a:p>
                      <a:pPr algn="l" indent="0" marL="0">
                        <a:buNone/>
                      </a:pPr>
                      <a:r>
                        <a:rPr lang="en-US" sz="1400" dirty="0">
                          <a:solidFill>
                            <a:schemeClr val="tx1"/>
                          </a:solidFill>
                        </a:rPr>
                        <a:t>Board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$250 to $600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925830">
                <a:tc>
                  <a:txBody>
                    <a:bodyPr/>
                    <a:lstStyle/>
                    <a:p>
                      <a:pPr algn="l" indent="0" marL="0">
                        <a:buNone/>
                      </a:pPr>
                      <a:r>
                        <a:rPr lang="en-US" sz="1400" dirty="0">
                          <a:solidFill>
                            <a:schemeClr val="tx1"/>
                          </a:solidFill>
                        </a:rPr>
                        <a:t>Run-out fixture: dial indicator, magnetic base, steel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$240 to $570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925830">
                <a:tc>
                  <a:txBody>
                    <a:bodyPr/>
                    <a:lstStyle/>
                    <a:p>
                      <a:pPr algn="l" indent="0" marL="0">
                        <a:buNone/>
                      </a:pPr>
                      <a:r>
                        <a:rPr lang="en-US" sz="1400" dirty="0">
                          <a:solidFill>
                            <a:schemeClr val="tx1"/>
                          </a:solidFill>
                        </a:rPr>
                        <a:t>Rigid sensor mount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not estimated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Total 1 card"/>
          <p:cNvSpPr/>
          <p:nvPr/>
        </p:nvSpPr>
        <p:spPr>
          <a:xfrm>
            <a:off x="7955280" y="1417320"/>
            <a:ext cx="3779215" cy="1943100"/>
          </a:xfrm>
          <a:prstGeom prst="roundRect">
            <a:avLst>
              <a:gd name="adj" fmla="val 5647"/>
            </a:avLst>
          </a:prstGeom>
          <a:solidFill>
            <a:schemeClr val="bg2"/>
          </a:solidFill>
          <a:ln/>
        </p:spPr>
      </p:sp>
      <p:sp>
        <p:nvSpPr>
          <p:cNvPr id="5" name="Total 1 value"/>
          <p:cNvSpPr txBox="1"/>
          <p:nvPr/>
        </p:nvSpPr>
        <p:spPr>
          <a:xfrm>
            <a:off x="8183880" y="1840230"/>
            <a:ext cx="3322015"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$20 to $60</a:t>
            </a:r>
            <a:endParaRPr lang="en-US" sz="2600" dirty="0"/>
          </a:p>
        </p:txBody>
      </p:sp>
      <p:sp>
        <p:nvSpPr>
          <p:cNvPr id="6" name="Total 1 label"/>
          <p:cNvSpPr txBox="1"/>
          <p:nvPr/>
        </p:nvSpPr>
        <p:spPr>
          <a:xfrm>
            <a:off x="8183880" y="2388870"/>
            <a:ext cx="3322015" cy="548640"/>
          </a:xfrm>
          <a:prstGeom prst="rect">
            <a:avLst/>
          </a:prstGeom>
          <a:noFill/>
          <a:ln/>
        </p:spPr>
        <p:txBody>
          <a:bodyPr wrap="square" lIns="0" tIns="0" rIns="0" bIns="0" rtlCol="0" anchor="t"/>
          <a:lstStyle/>
          <a:p>
            <a:pPr algn="l" indent="0" marL="0">
              <a:buNone/>
            </a:pPr>
            <a:r>
              <a:rPr lang="en-US" sz="1400" dirty="0">
                <a:solidFill>
                  <a:schemeClr val="tx1"/>
                </a:solidFill>
              </a:rPr>
              <a:t>new spending, everything else in hand from stage 1</a:t>
            </a:r>
            <a:endParaRPr lang="en-US" sz="1400" dirty="0"/>
          </a:p>
        </p:txBody>
      </p:sp>
      <p:sp>
        <p:nvSpPr>
          <p:cNvPr id="7" name="Total 2 card"/>
          <p:cNvSpPr/>
          <p:nvPr/>
        </p:nvSpPr>
        <p:spPr>
          <a:xfrm>
            <a:off x="7955280" y="3634740"/>
            <a:ext cx="3779215" cy="1943100"/>
          </a:xfrm>
          <a:prstGeom prst="roundRect">
            <a:avLst>
              <a:gd name="adj" fmla="val 5647"/>
            </a:avLst>
          </a:prstGeom>
          <a:solidFill>
            <a:schemeClr val="bg2"/>
          </a:solidFill>
          <a:ln/>
        </p:spPr>
      </p:sp>
      <p:sp>
        <p:nvSpPr>
          <p:cNvPr id="8" name="Total 2 value"/>
          <p:cNvSpPr txBox="1"/>
          <p:nvPr/>
        </p:nvSpPr>
        <p:spPr>
          <a:xfrm>
            <a:off x="8183880" y="4057650"/>
            <a:ext cx="3322015"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$710 to $2,140</a:t>
            </a:r>
            <a:endParaRPr lang="en-US" sz="2600" dirty="0"/>
          </a:p>
        </p:txBody>
      </p:sp>
      <p:sp>
        <p:nvSpPr>
          <p:cNvPr id="9" name="Total 2 label"/>
          <p:cNvSpPr txBox="1"/>
          <p:nvPr/>
        </p:nvSpPr>
        <p:spPr>
          <a:xfrm>
            <a:off x="8183880" y="4606290"/>
            <a:ext cx="3322015" cy="548640"/>
          </a:xfrm>
          <a:prstGeom prst="rect">
            <a:avLst/>
          </a:prstGeom>
          <a:noFill/>
          <a:ln/>
        </p:spPr>
        <p:txBody>
          <a:bodyPr wrap="square" lIns="0" tIns="0" rIns="0" bIns="0" rtlCol="0" anchor="t"/>
          <a:lstStyle/>
          <a:p>
            <a:pPr algn="l" indent="0" marL="0">
              <a:buNone/>
            </a:pPr>
            <a:r>
              <a:rPr lang="en-US" sz="1400" dirty="0">
                <a:solidFill>
                  <a:schemeClr val="tx1"/>
                </a:solidFill>
              </a:rPr>
              <a:t>built from nothing: $540 to $1,570 to build, $170 to $570 to buy</a:t>
            </a:r>
            <a:endParaRPr lang="en-US" sz="1400" dirty="0"/>
          </a:p>
        </p:txBody>
      </p:sp>
      <p:sp>
        <p:nvSpPr>
          <p:cNvPr id="10" name="Co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Estimates of October 2026 from the stage-1 procedure, plus or minus 50 percent; the board adapter is the least certain figure.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flat plate</a:t>
            </a:r>
            <a:endParaRPr lang="en-US" sz="3400" dirty="0"/>
          </a:p>
        </p:txBody>
      </p:sp>
      <p:graphicFrame>
        <p:nvGraphicFramePr>
          <p:cNvPr id="7" name="Plat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7680960" cy="914400"/>
        </p:xfrm>
        <a:graphic>
          <a:graphicData uri="http://schemas.openxmlformats.org/drawingml/2006/table">
            <a:tbl>
              <a:tblPr/>
              <a:tblGrid>
                <a:gridCol w="1554480"/>
                <a:gridCol w="6126480"/>
              </a:tblGrid>
              <a:tr h="457200">
                <a:tc>
                  <a:txBody>
                    <a:bodyPr/>
                    <a:lstStyle/>
                    <a:p>
                      <a:pPr algn="l" indent="0" marL="0">
                        <a:buNone/>
                      </a:pPr>
                      <a:r>
                        <a:rPr lang="en-US" sz="1400" b="1" dirty="0">
                          <a:solidFill>
                            <a:schemeClr val="bg1"/>
                          </a:solidFill>
                        </a:rPr>
                        <a:t>Requirement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Flat plate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17220">
                <a:tc>
                  <a:txBody>
                    <a:bodyPr/>
                    <a:lstStyle/>
                    <a:p>
                      <a:pPr algn="l" indent="0" marL="0">
                        <a:buNone/>
                      </a:pPr>
                      <a:r>
                        <a:rPr lang="en-US" sz="1400" b="1" dirty="0">
                          <a:solidFill>
                            <a:schemeClr val="tx2"/>
                          </a:solidFill>
                        </a:rPr>
                        <a:t>Size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200 x 150 mm, at least 6 mm thick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Material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Finish-ground aluminum tooling plate (for example MIC-6) or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Flatness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0.05 mm over the front face, checked with a straightedge and a 0.05 mm feeler leaf after painting and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Front 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Thin, even matte light-gray paint; do not bead-blast a plate thinner than about 10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Edges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Bottom long edge and left short edge square and clean: they rest on the adapter's edge pins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Documents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Supplier's flatness report, kept with the session 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Plate drawing card"/>
          <p:cNvSpPr/>
          <p:nvPr/>
        </p:nvSpPr>
        <p:spPr>
          <a:xfrm>
            <a:off x="8412480" y="1417320"/>
            <a:ext cx="3322015" cy="4160520"/>
          </a:xfrm>
          <a:prstGeom prst="roundRect">
            <a:avLst>
              <a:gd name="adj" fmla="val 3303"/>
            </a:avLst>
          </a:prstGeom>
          <a:solidFill>
            <a:schemeClr val="bg1"/>
          </a:solidFill>
          <a:ln w="12700">
            <a:solidFill>
              <a:schemeClr val="accent6"/>
            </a:solidFill>
            <a:prstDash val="solid"/>
          </a:ln>
        </p:spPr>
      </p:sp>
      <p:sp>
        <p:nvSpPr>
          <p:cNvPr id="5" name="Plate outline"/>
          <p:cNvSpPr/>
          <p:nvPr/>
        </p:nvSpPr>
        <p:spPr>
          <a:xfrm>
            <a:off x="8701888" y="1965960"/>
            <a:ext cx="2743200" cy="2057400"/>
          </a:xfrm>
          <a:prstGeom prst="rect">
            <a:avLst/>
          </a:prstGeom>
          <a:solidFill>
            <a:schemeClr val="bg2"/>
          </a:solidFill>
          <a:ln w="19050">
            <a:solidFill>
              <a:schemeClr val="accent5"/>
            </a:solidFill>
            <a:prstDash val="solid"/>
          </a:ln>
        </p:spPr>
      </p:sp>
      <p:sp>
        <p:nvSpPr>
          <p:cNvPr id="6" name="Plate bottom edge (locating)"/>
          <p:cNvSpPr/>
          <p:nvPr/>
        </p:nvSpPr>
        <p:spPr>
          <a:xfrm>
            <a:off x="8701888" y="4023360"/>
            <a:ext cx="2743200" cy="0"/>
          </a:xfrm>
          <a:prstGeom prst="line">
            <a:avLst/>
          </a:prstGeom>
          <a:noFill/>
          <a:ln w="63500">
            <a:solidFill>
              <a:schemeClr val="accent1"/>
            </a:solidFill>
            <a:prstDash val="solid"/>
          </a:ln>
        </p:spPr>
      </p:sp>
      <p:sp>
        <p:nvSpPr>
          <p:cNvPr id="7" name="Plate left edge (locating)"/>
          <p:cNvSpPr/>
          <p:nvPr/>
        </p:nvSpPr>
        <p:spPr>
          <a:xfrm>
            <a:off x="8701888" y="1965960"/>
            <a:ext cx="0" cy="2057400"/>
          </a:xfrm>
          <a:prstGeom prst="line">
            <a:avLst/>
          </a:prstGeom>
          <a:noFill/>
          <a:ln w="63500">
            <a:solidFill>
              <a:schemeClr val="accent1"/>
            </a:solidFill>
            <a:prstDash val="solid"/>
          </a:ln>
        </p:spPr>
      </p:sp>
      <p:sp>
        <p:nvSpPr>
          <p:cNvPr id="8" name="Support pad 1"/>
          <p:cNvSpPr/>
          <p:nvPr/>
        </p:nvSpPr>
        <p:spPr>
          <a:xfrm>
            <a:off x="8708746" y="3810762"/>
            <a:ext cx="205740" cy="205740"/>
          </a:xfrm>
          <a:prstGeom prst="ellipse">
            <a:avLst/>
          </a:prstGeom>
          <a:solidFill>
            <a:schemeClr val="accent2"/>
          </a:solidFill>
          <a:ln/>
        </p:spPr>
      </p:sp>
      <p:sp>
        <p:nvSpPr>
          <p:cNvPr id="9" name="Support pad 2"/>
          <p:cNvSpPr/>
          <p:nvPr/>
        </p:nvSpPr>
        <p:spPr>
          <a:xfrm>
            <a:off x="11232490" y="3810762"/>
            <a:ext cx="205740" cy="205740"/>
          </a:xfrm>
          <a:prstGeom prst="ellipse">
            <a:avLst/>
          </a:prstGeom>
          <a:solidFill>
            <a:schemeClr val="accent2"/>
          </a:solidFill>
          <a:ln/>
        </p:spPr>
      </p:sp>
      <p:sp>
        <p:nvSpPr>
          <p:cNvPr id="10" name="Support pad 3"/>
          <p:cNvSpPr/>
          <p:nvPr/>
        </p:nvSpPr>
        <p:spPr>
          <a:xfrm>
            <a:off x="9970618" y="1972818"/>
            <a:ext cx="205740" cy="205740"/>
          </a:xfrm>
          <a:prstGeom prst="ellipse">
            <a:avLst/>
          </a:prstGeom>
          <a:solidFill>
            <a:schemeClr val="accent2"/>
          </a:solidFill>
          <a:ln/>
        </p:spPr>
      </p:sp>
      <p:sp>
        <p:nvSpPr>
          <p:cNvPr id="11" name="Legend key locating edges"/>
          <p:cNvSpPr/>
          <p:nvPr/>
        </p:nvSpPr>
        <p:spPr>
          <a:xfrm>
            <a:off x="8701888" y="4366260"/>
            <a:ext cx="457200" cy="0"/>
          </a:xfrm>
          <a:prstGeom prst="line">
            <a:avLst/>
          </a:prstGeom>
          <a:noFill/>
          <a:ln w="63500">
            <a:solidFill>
              <a:schemeClr val="accent1"/>
            </a:solidFill>
            <a:prstDash val="solid"/>
          </a:ln>
        </p:spPr>
      </p:sp>
      <p:sp>
        <p:nvSpPr>
          <p:cNvPr id="12" name="Legend Locating edges"/>
          <p:cNvSpPr txBox="1"/>
          <p:nvPr/>
        </p:nvSpPr>
        <p:spPr>
          <a:xfrm>
            <a:off x="9341968" y="420624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Locating edges</a:t>
            </a:r>
            <a:endParaRPr lang="en-US" sz="1400" dirty="0"/>
          </a:p>
        </p:txBody>
      </p:sp>
      <p:sp>
        <p:nvSpPr>
          <p:cNvPr id="13" name="Legend key support pads"/>
          <p:cNvSpPr/>
          <p:nvPr/>
        </p:nvSpPr>
        <p:spPr>
          <a:xfrm>
            <a:off x="8827618" y="4766310"/>
            <a:ext cx="205740" cy="205740"/>
          </a:xfrm>
          <a:prstGeom prst="ellipse">
            <a:avLst/>
          </a:prstGeom>
          <a:solidFill>
            <a:schemeClr val="accent2"/>
          </a:solidFill>
          <a:ln/>
        </p:spPr>
      </p:sp>
      <p:sp>
        <p:nvSpPr>
          <p:cNvPr id="14" name="Legend Support pads"/>
          <p:cNvSpPr txBox="1"/>
          <p:nvPr/>
        </p:nvSpPr>
        <p:spPr>
          <a:xfrm>
            <a:off x="9341968" y="470916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Support pads</a:t>
            </a:r>
            <a:endParaRPr lang="en-US" sz="1400" dirty="0"/>
          </a:p>
        </p:txBody>
      </p:sp>
      <p:sp>
        <p:nvSpPr>
          <p:cNvPr id="15" name="Plate specification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the board outline is on drawing SC1-05.</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Candidate suppliers</a:t>
            </a:r>
            <a:endParaRPr lang="en-US" sz="3400" dirty="0"/>
          </a:p>
        </p:txBody>
      </p:sp>
      <p:graphicFrame>
        <p:nvGraphicFramePr>
          <p:cNvPr id="8" name="Suppliers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834640"/>
                <a:gridCol w="4754880"/>
                <a:gridCol w="3687775"/>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Candidate suppliers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925830">
                <a:tc>
                  <a:txBody>
                    <a:bodyPr/>
                    <a:lstStyle/>
                    <a:p>
                      <a:pPr algn="l" indent="0" marL="0">
                        <a:buNone/>
                      </a:pPr>
                      <a:r>
                        <a:rPr lang="en-US" sz="1400" b="1" dirty="0">
                          <a:solidFill>
                            <a:schemeClr val="tx2"/>
                          </a:solidFill>
                        </a:rPr>
                        <a:t>Board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McMaster-Carr MIC-6 plus a grinding shop; Edmund Optics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Ground or glass to 0.05 mm with a flatness report; painted matte; re-checked in-house after painting and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925830">
                <a:tc>
                  <a:txBody>
                    <a:bodyPr/>
                    <a:lstStyle/>
                    <a:p>
                      <a:pPr algn="l" indent="0" marL="0">
                        <a:buNone/>
                      </a:pPr>
                      <a:r>
                        <a:rPr lang="en-US" sz="1400" b="1" dirty="0">
                          <a:solidFill>
                            <a:schemeClr val="tx2"/>
                          </a:solidFill>
                        </a:rPr>
                        <a:t>Dial indicator and magnetic base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Mitutoyo 2046 series; Noga MG71003 or DG-61003</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For the run-out fixture; McMaster-Carr and the usual tool suppliers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925830">
                <a:tc>
                  <a:txBody>
                    <a:bodyPr/>
                    <a:lstStyle/>
                    <a:p>
                      <a:pPr algn="l" indent="0" marL="0">
                        <a:buNone/>
                      </a:pPr>
                      <a:r>
                        <a:rPr lang="en-US" sz="1400" b="1" dirty="0">
                          <a:solidFill>
                            <a:schemeClr val="tx2"/>
                          </a:solidFill>
                        </a:rPr>
                        <a:t>Calipers, straightedge, feeler gauges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Mitutoyo or Starrett; DIN 874 grade 0 or better straightedge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Transcat, MSI-Viking, McMaster-Carr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925830">
                <a:tc>
                  <a:txBody>
                    <a:bodyPr/>
                    <a:lstStyle/>
                    <a:p>
                      <a:pPr algn="l" indent="0" marL="0">
                        <a:buNone/>
                      </a:pPr>
                      <a:r>
                        <a:rPr lang="en-US" sz="1400" b="1" dirty="0">
                          <a:solidFill>
                            <a:schemeClr val="tx2"/>
                          </a:solidFill>
                        </a:rPr>
                        <a:t>Board adapter and run-out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Local machine shop</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Drawing SC1-05; the base plate is a plain drilled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Supplier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From suppliers' web pages, October 2026; not an endorsement. Confirm flatness, finish and price before ordering.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Run-out fixture: indicator and mounting</a:t>
            </a:r>
            <a:endParaRPr lang="en-US" sz="3400" dirty="0"/>
          </a:p>
        </p:txBody>
      </p:sp>
      <p:sp>
        <p:nvSpPr>
          <p:cNvPr id="3" name="Figure card"/>
          <p:cNvSpPr/>
          <p:nvPr/>
        </p:nvSpPr>
        <p:spPr>
          <a:xfrm>
            <a:off x="457200" y="1417320"/>
            <a:ext cx="4572000" cy="4709160"/>
          </a:xfrm>
          <a:prstGeom prst="roundRect">
            <a:avLst>
              <a:gd name="adj" fmla="val 2400"/>
            </a:avLst>
          </a:prstGeom>
          <a:solidFill>
            <a:schemeClr val="bg1"/>
          </a:solidFill>
          <a:ln w="12700">
            <a:solidFill>
              <a:schemeClr val="accent6"/>
            </a:solidFill>
            <a:prstDash val="solid"/>
          </a:ln>
        </p:spPr>
      </p:sp>
      <p:pic>
        <p:nvPicPr>
          <p:cNvPr id="4" name="Run-out check: flange, adapter, board and dial indicator in section" descr="Run-out check: flange, adapter, board and dial indicator in section">    </p:cNvPr>
          <p:cNvPicPr>
            <a:picLocks noChangeAspect="1"/>
          </p:cNvPicPr>
          <p:nvPr/>
        </p:nvPicPr>
        <p:blipFill>
          <a:blip r:embed="rId1"/>
          <a:stretch>
            <a:fillRect/>
          </a:stretch>
        </p:blipFill>
        <p:spPr>
          <a:xfrm>
            <a:off x="685800" y="2665663"/>
            <a:ext cx="4114800" cy="1608971"/>
          </a:xfrm>
          <a:prstGeom prst="rect">
            <a:avLst/>
          </a:prstGeom>
        </p:spPr>
      </p:pic>
      <p:sp>
        <p:nvSpPr>
          <p:cNvPr id="5" name="Figure caption"/>
          <p:cNvSpPr txBox="1"/>
          <p:nvPr/>
        </p:nvSpPr>
        <p:spPr>
          <a:xfrm>
            <a:off x="685800" y="4457513"/>
            <a:ext cx="4114800" cy="420624"/>
          </a:xfrm>
          <a:prstGeom prst="rect">
            <a:avLst/>
          </a:prstGeom>
          <a:noFill/>
          <a:ln/>
        </p:spPr>
        <p:txBody>
          <a:bodyPr wrap="square" lIns="0" tIns="0" rIns="0" bIns="0" rtlCol="0" anchor="t"/>
          <a:lstStyle/>
          <a:p>
            <a:pPr algn="l" indent="0" marL="0">
              <a:buNone/>
            </a:pPr>
            <a:r>
              <a:rPr lang="en-US" sz="1200" dirty="0">
                <a:solidFill>
                  <a:schemeClr val="accent5"/>
                </a:solidFill>
              </a:rPr>
              <a:t>The run-out check: joint 6 turns the flange, the indicator stays still, the reading must stay within 0.05 mm.</a:t>
            </a:r>
            <a:endParaRPr lang="en-US" sz="1200" dirty="0"/>
          </a:p>
        </p:txBody>
      </p:sp>
      <p:sp>
        <p:nvSpPr>
          <p:cNvPr id="6" name="Run-out part 1 card"/>
          <p:cNvSpPr/>
          <p:nvPr/>
        </p:nvSpPr>
        <p:spPr>
          <a:xfrm>
            <a:off x="5303520" y="1417320"/>
            <a:ext cx="6430975" cy="984209"/>
          </a:xfrm>
          <a:prstGeom prst="roundRect">
            <a:avLst>
              <a:gd name="adj" fmla="val 11149"/>
            </a:avLst>
          </a:prstGeom>
          <a:solidFill>
            <a:schemeClr val="bg2"/>
          </a:solidFill>
          <a:ln/>
        </p:spPr>
      </p:sp>
      <p:sp>
        <p:nvSpPr>
          <p:cNvPr id="7" name="Run-out part 1 icon circle"/>
          <p:cNvSpPr/>
          <p:nvPr/>
        </p:nvSpPr>
        <p:spPr>
          <a:xfrm>
            <a:off x="5532120" y="1589385"/>
            <a:ext cx="640080" cy="640080"/>
          </a:xfrm>
          <a:prstGeom prst="ellipse">
            <a:avLst/>
          </a:prstGeom>
          <a:solidFill>
            <a:schemeClr val="accent2"/>
          </a:solidFill>
          <a:ln/>
        </p:spPr>
      </p:sp>
      <p:pic>
        <p:nvPicPr>
          <p:cNvPr id="8" name="Run-out part 1 icon glyph" descr="gauge icon">    </p:cNvPr>
          <p:cNvPicPr>
            <a:picLocks noChangeAspect="1"/>
          </p:cNvPicPr>
          <p:nvPr/>
        </p:nvPicPr>
        <p:blipFill>
          <a:blip r:embed="rId2"/>
          <a:stretch>
            <a:fillRect/>
          </a:stretch>
        </p:blipFill>
        <p:spPr>
          <a:xfrm>
            <a:off x="5692140" y="1749405"/>
            <a:ext cx="320040" cy="320040"/>
          </a:xfrm>
          <a:prstGeom prst="rect">
            <a:avLst/>
          </a:prstGeom>
        </p:spPr>
      </p:pic>
      <p:sp>
        <p:nvSpPr>
          <p:cNvPr id="9" name="Run-out part 1 text"/>
          <p:cNvSpPr txBox="1"/>
          <p:nvPr/>
        </p:nvSpPr>
        <p:spPr>
          <a:xfrm>
            <a:off x="6355080" y="1508760"/>
            <a:ext cx="5150815" cy="801329"/>
          </a:xfrm>
          <a:prstGeom prst="rect">
            <a:avLst/>
          </a:prstGeom>
          <a:noFill/>
          <a:ln/>
        </p:spPr>
        <p:txBody>
          <a:bodyPr wrap="square" lIns="0" tIns="0" rIns="0" bIns="0" rtlCol="0" anchor="ctr"/>
          <a:lstStyle/>
          <a:p>
            <a:pPr algn="l" indent="0" marL="0">
              <a:buNone/>
            </a:pPr>
            <a:r>
              <a:rPr lang="en-US" sz="1800" b="1" dirty="0">
                <a:solidFill>
                  <a:schemeClr val="tx2"/>
                </a:solidFill>
              </a:rPr>
              <a:t>Dial indicator</a:t>
            </a:r>
            <a:endParaRPr lang="en-US" sz="1600" dirty="0"/>
          </a:p>
          <a:p>
            <a:pPr algn="l" indent="0" marL="0">
              <a:buNone/>
            </a:pPr>
            <a:r>
              <a:rPr lang="en-US" sz="1400" dirty="0">
                <a:solidFill>
                  <a:schemeClr val="tx1"/>
                </a:solidFill>
              </a:rPr>
              <a:t>0.01 mm graduation, about 10 mm travel; for example Mitutoyo 2046 series, about $50 to $150</a:t>
            </a:r>
            <a:endParaRPr lang="en-US" sz="1600" dirty="0"/>
          </a:p>
        </p:txBody>
      </p:sp>
      <p:sp>
        <p:nvSpPr>
          <p:cNvPr id="10" name="Run-out part 2 card"/>
          <p:cNvSpPr/>
          <p:nvPr/>
        </p:nvSpPr>
        <p:spPr>
          <a:xfrm>
            <a:off x="5303520" y="2584409"/>
            <a:ext cx="6430975" cy="984209"/>
          </a:xfrm>
          <a:prstGeom prst="roundRect">
            <a:avLst>
              <a:gd name="adj" fmla="val 11149"/>
            </a:avLst>
          </a:prstGeom>
          <a:solidFill>
            <a:schemeClr val="bg2"/>
          </a:solidFill>
          <a:ln/>
        </p:spPr>
      </p:sp>
      <p:sp>
        <p:nvSpPr>
          <p:cNvPr id="11" name="Run-out part 2 icon circle"/>
          <p:cNvSpPr/>
          <p:nvPr/>
        </p:nvSpPr>
        <p:spPr>
          <a:xfrm>
            <a:off x="5532120" y="2756474"/>
            <a:ext cx="640080" cy="640080"/>
          </a:xfrm>
          <a:prstGeom prst="ellipse">
            <a:avLst/>
          </a:prstGeom>
          <a:solidFill>
            <a:schemeClr val="accent2"/>
          </a:solidFill>
          <a:ln/>
        </p:spPr>
      </p:sp>
      <p:pic>
        <p:nvPicPr>
          <p:cNvPr id="12" name="Run-out part 2 icon glyph" descr="magnet icon">    </p:cNvPr>
          <p:cNvPicPr>
            <a:picLocks noChangeAspect="1"/>
          </p:cNvPicPr>
          <p:nvPr/>
        </p:nvPicPr>
        <p:blipFill>
          <a:blip r:embed="rId3"/>
          <a:stretch>
            <a:fillRect/>
          </a:stretch>
        </p:blipFill>
        <p:spPr>
          <a:xfrm>
            <a:off x="5692140" y="2916494"/>
            <a:ext cx="320040" cy="320040"/>
          </a:xfrm>
          <a:prstGeom prst="rect">
            <a:avLst/>
          </a:prstGeom>
        </p:spPr>
      </p:pic>
      <p:sp>
        <p:nvSpPr>
          <p:cNvPr id="13" name="Run-out part 2 text"/>
          <p:cNvSpPr txBox="1"/>
          <p:nvPr/>
        </p:nvSpPr>
        <p:spPr>
          <a:xfrm>
            <a:off x="6355080" y="2675849"/>
            <a:ext cx="5150815" cy="801329"/>
          </a:xfrm>
          <a:prstGeom prst="rect">
            <a:avLst/>
          </a:prstGeom>
          <a:noFill/>
          <a:ln/>
        </p:spPr>
        <p:txBody>
          <a:bodyPr wrap="square" lIns="0" tIns="0" rIns="0" bIns="0" rtlCol="0" anchor="ctr"/>
          <a:lstStyle/>
          <a:p>
            <a:pPr algn="l" indent="0" marL="0">
              <a:buNone/>
            </a:pPr>
            <a:r>
              <a:rPr lang="en-US" sz="1800" b="1" dirty="0">
                <a:solidFill>
                  <a:schemeClr val="tx2"/>
                </a:solidFill>
              </a:rPr>
              <a:t>Magnetic base</a:t>
            </a:r>
            <a:endParaRPr lang="en-US" sz="1600" dirty="0"/>
          </a:p>
          <a:p>
            <a:pPr algn="l" indent="0" marL="0">
              <a:buNone/>
            </a:pPr>
            <a:r>
              <a:rPr lang="en-US" sz="1400" dirty="0">
                <a:solidFill>
                  <a:schemeClr val="tx1"/>
                </a:solidFill>
              </a:rPr>
              <a:t>Articulating, with fine adjustment; for example Noga MG71003 or DG-61003, about $140 to $320</a:t>
            </a:r>
            <a:endParaRPr lang="en-US" sz="1600" dirty="0"/>
          </a:p>
        </p:txBody>
      </p:sp>
      <p:sp>
        <p:nvSpPr>
          <p:cNvPr id="14" name="Run-out part 3 card"/>
          <p:cNvSpPr/>
          <p:nvPr/>
        </p:nvSpPr>
        <p:spPr>
          <a:xfrm>
            <a:off x="5303520" y="3751498"/>
            <a:ext cx="6430975" cy="1207893"/>
          </a:xfrm>
          <a:prstGeom prst="roundRect">
            <a:avLst>
              <a:gd name="adj" fmla="val 9084"/>
            </a:avLst>
          </a:prstGeom>
          <a:solidFill>
            <a:schemeClr val="bg2"/>
          </a:solidFill>
          <a:ln/>
        </p:spPr>
      </p:sp>
      <p:sp>
        <p:nvSpPr>
          <p:cNvPr id="15" name="Run-out part 3 icon circle"/>
          <p:cNvSpPr/>
          <p:nvPr/>
        </p:nvSpPr>
        <p:spPr>
          <a:xfrm>
            <a:off x="5532120" y="4035405"/>
            <a:ext cx="640080" cy="640080"/>
          </a:xfrm>
          <a:prstGeom prst="ellipse">
            <a:avLst/>
          </a:prstGeom>
          <a:solidFill>
            <a:schemeClr val="accent2"/>
          </a:solidFill>
          <a:ln/>
        </p:spPr>
      </p:sp>
      <p:pic>
        <p:nvPicPr>
          <p:cNvPr id="16" name="Run-out part 3 icon glyph" descr="layers icon">    </p:cNvPr>
          <p:cNvPicPr>
            <a:picLocks noChangeAspect="1"/>
          </p:cNvPicPr>
          <p:nvPr/>
        </p:nvPicPr>
        <p:blipFill>
          <a:blip r:embed="rId4"/>
          <a:stretch>
            <a:fillRect/>
          </a:stretch>
        </p:blipFill>
        <p:spPr>
          <a:xfrm>
            <a:off x="5692140" y="4195425"/>
            <a:ext cx="320040" cy="320040"/>
          </a:xfrm>
          <a:prstGeom prst="rect">
            <a:avLst/>
          </a:prstGeom>
        </p:spPr>
      </p:pic>
      <p:sp>
        <p:nvSpPr>
          <p:cNvPr id="17" name="Run-out part 3 text"/>
          <p:cNvSpPr txBox="1"/>
          <p:nvPr/>
        </p:nvSpPr>
        <p:spPr>
          <a:xfrm>
            <a:off x="6355080" y="3842938"/>
            <a:ext cx="5150815" cy="1025013"/>
          </a:xfrm>
          <a:prstGeom prst="rect">
            <a:avLst/>
          </a:prstGeom>
          <a:noFill/>
          <a:ln/>
        </p:spPr>
        <p:txBody>
          <a:bodyPr wrap="square" lIns="0" tIns="0" rIns="0" bIns="0" rtlCol="0" anchor="ctr"/>
          <a:lstStyle/>
          <a:p>
            <a:pPr algn="l" indent="0" marL="0">
              <a:buNone/>
            </a:pPr>
            <a:r>
              <a:rPr lang="en-US" sz="1800" b="1" dirty="0">
                <a:solidFill>
                  <a:schemeClr val="tx2"/>
                </a:solidFill>
              </a:rPr>
              <a:t>Steel base plate</a:t>
            </a:r>
            <a:endParaRPr lang="en-US" sz="1600" dirty="0"/>
          </a:p>
          <a:p>
            <a:pPr algn="l" indent="0" marL="0">
              <a:buNone/>
            </a:pPr>
            <a:r>
              <a:rPr lang="en-US" sz="1400" dirty="0">
                <a:solidFill>
                  <a:schemeClr val="tx1"/>
                </a:solidFill>
              </a:rPr>
              <a:t>About 150 x 100 x 12 mm, bolted to the cell table with two M8 screws, so the base holds on a non-magnetic table and does not creep</a:t>
            </a:r>
            <a:endParaRPr lang="en-US" sz="1600" dirty="0"/>
          </a:p>
        </p:txBody>
      </p:sp>
      <p:sp>
        <p:nvSpPr>
          <p:cNvPr id="18" name="Run-out part 4 card"/>
          <p:cNvSpPr/>
          <p:nvPr/>
        </p:nvSpPr>
        <p:spPr>
          <a:xfrm>
            <a:off x="5303520" y="5142271"/>
            <a:ext cx="6430975" cy="984209"/>
          </a:xfrm>
          <a:prstGeom prst="roundRect">
            <a:avLst>
              <a:gd name="adj" fmla="val 11149"/>
            </a:avLst>
          </a:prstGeom>
          <a:solidFill>
            <a:schemeClr val="bg2"/>
          </a:solidFill>
          <a:ln/>
        </p:spPr>
      </p:sp>
      <p:sp>
        <p:nvSpPr>
          <p:cNvPr id="19" name="Run-out part 4 icon circle"/>
          <p:cNvSpPr/>
          <p:nvPr/>
        </p:nvSpPr>
        <p:spPr>
          <a:xfrm>
            <a:off x="5532120" y="5314335"/>
            <a:ext cx="640080" cy="640080"/>
          </a:xfrm>
          <a:prstGeom prst="ellipse">
            <a:avLst/>
          </a:prstGeom>
          <a:solidFill>
            <a:schemeClr val="accent2"/>
          </a:solidFill>
          <a:ln/>
        </p:spPr>
      </p:sp>
      <p:pic>
        <p:nvPicPr>
          <p:cNvPr id="20" name="Run-out part 4 icon glyph" descr="crosshairs icon">    </p:cNvPr>
          <p:cNvPicPr>
            <a:picLocks noChangeAspect="1"/>
          </p:cNvPicPr>
          <p:nvPr/>
        </p:nvPicPr>
        <p:blipFill>
          <a:blip r:embed="rId5"/>
          <a:stretch>
            <a:fillRect/>
          </a:stretch>
        </p:blipFill>
        <p:spPr>
          <a:xfrm>
            <a:off x="5692140" y="5474355"/>
            <a:ext cx="320040" cy="320040"/>
          </a:xfrm>
          <a:prstGeom prst="rect">
            <a:avLst/>
          </a:prstGeom>
        </p:spPr>
      </p:pic>
      <p:sp>
        <p:nvSpPr>
          <p:cNvPr id="21" name="Run-out part 4 text"/>
          <p:cNvSpPr txBox="1"/>
          <p:nvPr/>
        </p:nvSpPr>
        <p:spPr>
          <a:xfrm>
            <a:off x="6355080" y="5233711"/>
            <a:ext cx="5150815" cy="801329"/>
          </a:xfrm>
          <a:prstGeom prst="rect">
            <a:avLst/>
          </a:prstGeom>
          <a:noFill/>
          <a:ln/>
        </p:spPr>
        <p:txBody>
          <a:bodyPr wrap="square" lIns="0" tIns="0" rIns="0" bIns="0" rtlCol="0" anchor="ctr"/>
          <a:lstStyle/>
          <a:p>
            <a:pPr algn="l" indent="0" marL="0">
              <a:buNone/>
            </a:pPr>
            <a:r>
              <a:rPr lang="en-US" sz="1800" b="1" dirty="0">
                <a:solidFill>
                  <a:schemeClr val="tx2"/>
                </a:solidFill>
              </a:rPr>
              <a:t>Placement</a:t>
            </a:r>
            <a:endParaRPr lang="en-US" sz="1600" dirty="0"/>
          </a:p>
          <a:p>
            <a:pPr algn="l" indent="0" marL="0">
              <a:buNone/>
            </a:pPr>
            <a:r>
              <a:rPr lang="en-US" sz="1400" dirty="0">
                <a:solidFill>
                  <a:schemeClr val="tx1"/>
                </a:solidFill>
              </a:rPr>
              <a:t>Where the indicator tip reaches the board's front face about 20 mm from an edge with the robot in its run-out pose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Keep the board flat after mounting</a:t>
            </a:r>
            <a:endParaRPr lang="en-US" sz="3400" dirty="0"/>
          </a:p>
        </p:txBody>
      </p:sp>
      <p:sp>
        <p:nvSpPr>
          <p:cNvPr id="3" name="Figure card"/>
          <p:cNvSpPr/>
          <p:nvPr/>
        </p:nvSpPr>
        <p:spPr>
          <a:xfrm>
            <a:off x="457200" y="1417320"/>
            <a:ext cx="4937760" cy="4709160"/>
          </a:xfrm>
          <a:prstGeom prst="roundRect">
            <a:avLst>
              <a:gd name="adj" fmla="val 2330"/>
            </a:avLst>
          </a:prstGeom>
          <a:solidFill>
            <a:schemeClr val="bg1"/>
          </a:solidFill>
          <a:ln w="12700">
            <a:solidFill>
              <a:schemeClr val="accent6"/>
            </a:solidFill>
            <a:prstDash val="solid"/>
          </a:ln>
        </p:spPr>
      </p:sp>
      <p:pic>
        <p:nvPicPr>
          <p:cNvPr id="4" name="Front face of the board and its adapter" descr="Front face of the board and its adapter">    </p:cNvPr>
          <p:cNvPicPr>
            <a:picLocks noChangeAspect="1"/>
          </p:cNvPicPr>
          <p:nvPr/>
        </p:nvPicPr>
        <p:blipFill>
          <a:blip r:embed="rId1"/>
          <a:stretch>
            <a:fillRect/>
          </a:stretch>
        </p:blipFill>
        <p:spPr>
          <a:xfrm>
            <a:off x="685800" y="2578892"/>
            <a:ext cx="4480560" cy="1599632"/>
          </a:xfrm>
          <a:prstGeom prst="rect">
            <a:avLst/>
          </a:prstGeom>
        </p:spPr>
      </p:pic>
      <p:sp>
        <p:nvSpPr>
          <p:cNvPr id="5" name="Figure caption"/>
          <p:cNvSpPr txBox="1"/>
          <p:nvPr/>
        </p:nvSpPr>
        <p:spPr>
          <a:xfrm>
            <a:off x="685800" y="4361404"/>
            <a:ext cx="4480560" cy="603504"/>
          </a:xfrm>
          <a:prstGeom prst="rect">
            <a:avLst/>
          </a:prstGeom>
          <a:noFill/>
          <a:ln/>
        </p:spPr>
        <p:txBody>
          <a:bodyPr wrap="square" lIns="0" tIns="0" rIns="0" bIns="0" rtlCol="0" anchor="t"/>
          <a:lstStyle/>
          <a:p>
            <a:pPr algn="l" indent="0" marL="0">
              <a:buNone/>
            </a:pPr>
            <a:r>
              <a:rPr lang="en-US" sz="1200" dirty="0">
                <a:solidFill>
                  <a:schemeClr val="accent5"/>
                </a:solidFill>
              </a:rPr>
              <a:t>The front face: tool frame axes, the path of the indicator tip, the four D places, and the adapter's pads, pins and clamp behind the board.</a:t>
            </a:r>
            <a:endParaRPr lang="en-US" sz="1200" dirty="0"/>
          </a:p>
        </p:txBody>
      </p:sp>
      <p:sp>
        <p:nvSpPr>
          <p:cNvPr id="6" name="Board part 1 card"/>
          <p:cNvSpPr/>
          <p:nvPr/>
        </p:nvSpPr>
        <p:spPr>
          <a:xfrm>
            <a:off x="5669280" y="1417320"/>
            <a:ext cx="6065215" cy="984209"/>
          </a:xfrm>
          <a:prstGeom prst="roundRect">
            <a:avLst>
              <a:gd name="adj" fmla="val 11149"/>
            </a:avLst>
          </a:prstGeom>
          <a:solidFill>
            <a:schemeClr val="bg2"/>
          </a:solidFill>
          <a:ln/>
        </p:spPr>
      </p:sp>
      <p:sp>
        <p:nvSpPr>
          <p:cNvPr id="7" name="Board part 1 icon circle"/>
          <p:cNvSpPr/>
          <p:nvPr/>
        </p:nvSpPr>
        <p:spPr>
          <a:xfrm>
            <a:off x="5897880" y="1589385"/>
            <a:ext cx="640080" cy="640080"/>
          </a:xfrm>
          <a:prstGeom prst="ellipse">
            <a:avLst/>
          </a:prstGeom>
          <a:solidFill>
            <a:schemeClr val="accent2"/>
          </a:solidFill>
          <a:ln/>
        </p:spPr>
      </p:sp>
      <p:pic>
        <p:nvPicPr>
          <p:cNvPr id="8" name="Board part 1 icon glyph" descr="board icon">    </p:cNvPr>
          <p:cNvPicPr>
            <a:picLocks noChangeAspect="1"/>
          </p:cNvPicPr>
          <p:nvPr/>
        </p:nvPicPr>
        <p:blipFill>
          <a:blip r:embed="rId2"/>
          <a:stretch>
            <a:fillRect/>
          </a:stretch>
        </p:blipFill>
        <p:spPr>
          <a:xfrm>
            <a:off x="6057900" y="1749405"/>
            <a:ext cx="320040" cy="320040"/>
          </a:xfrm>
          <a:prstGeom prst="rect">
            <a:avLst/>
          </a:prstGeom>
        </p:spPr>
      </p:pic>
      <p:sp>
        <p:nvSpPr>
          <p:cNvPr id="9" name="Board part 1 text"/>
          <p:cNvSpPr txBox="1"/>
          <p:nvPr/>
        </p:nvSpPr>
        <p:spPr>
          <a:xfrm>
            <a:off x="6720840" y="1508760"/>
            <a:ext cx="4785055" cy="801329"/>
          </a:xfrm>
          <a:prstGeom prst="rect">
            <a:avLst/>
          </a:prstGeom>
          <a:noFill/>
          <a:ln/>
        </p:spPr>
        <p:txBody>
          <a:bodyPr wrap="square" lIns="0" tIns="0" rIns="0" bIns="0" rtlCol="0" anchor="ctr"/>
          <a:lstStyle/>
          <a:p>
            <a:pPr algn="l" indent="0" marL="0">
              <a:buNone/>
            </a:pPr>
            <a:r>
              <a:rPr lang="en-US" sz="1800" b="1" dirty="0">
                <a:solidFill>
                  <a:schemeClr val="tx2"/>
                </a:solidFill>
              </a:rPr>
              <a:t>Plate</a:t>
            </a:r>
            <a:endParaRPr lang="en-US" sz="1600" dirty="0"/>
          </a:p>
          <a:p>
            <a:pPr algn="l" indent="0" marL="0">
              <a:buNone/>
            </a:pPr>
            <a:r>
              <a:rPr lang="en-US" sz="1400" dirty="0">
                <a:solidFill>
                  <a:schemeClr val="tx1"/>
                </a:solidFill>
              </a:rPr>
              <a:t>200 x 150 mm, at least 6 mm thick; ground aluminum tooling plate or float glass</a:t>
            </a:r>
            <a:endParaRPr lang="en-US" sz="1600" dirty="0"/>
          </a:p>
        </p:txBody>
      </p:sp>
      <p:sp>
        <p:nvSpPr>
          <p:cNvPr id="10" name="Board part 2 card"/>
          <p:cNvSpPr/>
          <p:nvPr/>
        </p:nvSpPr>
        <p:spPr>
          <a:xfrm>
            <a:off x="5669280" y="2584409"/>
            <a:ext cx="6065215" cy="984209"/>
          </a:xfrm>
          <a:prstGeom prst="roundRect">
            <a:avLst>
              <a:gd name="adj" fmla="val 11149"/>
            </a:avLst>
          </a:prstGeom>
          <a:solidFill>
            <a:schemeClr val="bg2"/>
          </a:solidFill>
          <a:ln/>
        </p:spPr>
      </p:sp>
      <p:sp>
        <p:nvSpPr>
          <p:cNvPr id="11" name="Board part 2 icon circle"/>
          <p:cNvSpPr/>
          <p:nvPr/>
        </p:nvSpPr>
        <p:spPr>
          <a:xfrm>
            <a:off x="5897880" y="2756474"/>
            <a:ext cx="640080" cy="640080"/>
          </a:xfrm>
          <a:prstGeom prst="ellipse">
            <a:avLst/>
          </a:prstGeom>
          <a:solidFill>
            <a:schemeClr val="accent2"/>
          </a:solidFill>
          <a:ln/>
        </p:spPr>
      </p:sp>
      <p:pic>
        <p:nvPicPr>
          <p:cNvPr id="12" name="Board part 2 icon glyph" descr="paint icon">    </p:cNvPr>
          <p:cNvPicPr>
            <a:picLocks noChangeAspect="1"/>
          </p:cNvPicPr>
          <p:nvPr/>
        </p:nvPicPr>
        <p:blipFill>
          <a:blip r:embed="rId3"/>
          <a:stretch>
            <a:fillRect/>
          </a:stretch>
        </p:blipFill>
        <p:spPr>
          <a:xfrm>
            <a:off x="6057900" y="2916494"/>
            <a:ext cx="320040" cy="320040"/>
          </a:xfrm>
          <a:prstGeom prst="rect">
            <a:avLst/>
          </a:prstGeom>
        </p:spPr>
      </p:pic>
      <p:sp>
        <p:nvSpPr>
          <p:cNvPr id="13" name="Board part 2 text"/>
          <p:cNvSpPr txBox="1"/>
          <p:nvPr/>
        </p:nvSpPr>
        <p:spPr>
          <a:xfrm>
            <a:off x="6720840" y="2675849"/>
            <a:ext cx="4785055" cy="801329"/>
          </a:xfrm>
          <a:prstGeom prst="rect">
            <a:avLst/>
          </a:prstGeom>
          <a:noFill/>
          <a:ln/>
        </p:spPr>
        <p:txBody>
          <a:bodyPr wrap="square" lIns="0" tIns="0" rIns="0" bIns="0" rtlCol="0" anchor="ctr"/>
          <a:lstStyle/>
          <a:p>
            <a:pPr algn="l" indent="0" marL="0">
              <a:buNone/>
            </a:pPr>
            <a:r>
              <a:rPr lang="en-US" sz="1800" b="1" dirty="0">
                <a:solidFill>
                  <a:schemeClr val="tx2"/>
                </a:solidFill>
              </a:rPr>
              <a:t>Finish</a:t>
            </a:r>
            <a:endParaRPr lang="en-US" sz="1600" dirty="0"/>
          </a:p>
          <a:p>
            <a:pPr algn="l" indent="0" marL="0">
              <a:buNone/>
            </a:pPr>
            <a:r>
              <a:rPr lang="en-US" sz="1400" dirty="0">
                <a:solidFill>
                  <a:schemeClr val="tx1"/>
                </a:solidFill>
              </a:rPr>
              <a:t>Matte light gray paint on the front face; do not bead-blast a plate thinner than about 10 mm, it bows</a:t>
            </a:r>
            <a:endParaRPr lang="en-US" sz="1600" dirty="0"/>
          </a:p>
        </p:txBody>
      </p:sp>
      <p:sp>
        <p:nvSpPr>
          <p:cNvPr id="14" name="Board part 3 card"/>
          <p:cNvSpPr/>
          <p:nvPr/>
        </p:nvSpPr>
        <p:spPr>
          <a:xfrm>
            <a:off x="5669280" y="3751498"/>
            <a:ext cx="6065215" cy="984209"/>
          </a:xfrm>
          <a:prstGeom prst="roundRect">
            <a:avLst>
              <a:gd name="adj" fmla="val 11149"/>
            </a:avLst>
          </a:prstGeom>
          <a:solidFill>
            <a:schemeClr val="bg2"/>
          </a:solidFill>
          <a:ln/>
        </p:spPr>
      </p:sp>
      <p:sp>
        <p:nvSpPr>
          <p:cNvPr id="15" name="Board part 3 icon circle"/>
          <p:cNvSpPr/>
          <p:nvPr/>
        </p:nvSpPr>
        <p:spPr>
          <a:xfrm>
            <a:off x="5897880" y="3923563"/>
            <a:ext cx="640080" cy="640080"/>
          </a:xfrm>
          <a:prstGeom prst="ellipse">
            <a:avLst/>
          </a:prstGeom>
          <a:solidFill>
            <a:schemeClr val="accent2"/>
          </a:solidFill>
          <a:ln/>
        </p:spPr>
      </p:sp>
      <p:pic>
        <p:nvPicPr>
          <p:cNvPr id="16" name="Board part 3 icon glyph" descr="ruler icon">    </p:cNvPr>
          <p:cNvPicPr>
            <a:picLocks noChangeAspect="1"/>
          </p:cNvPicPr>
          <p:nvPr/>
        </p:nvPicPr>
        <p:blipFill>
          <a:blip r:embed="rId4"/>
          <a:stretch>
            <a:fillRect/>
          </a:stretch>
        </p:blipFill>
        <p:spPr>
          <a:xfrm>
            <a:off x="6057900" y="4083583"/>
            <a:ext cx="320040" cy="320040"/>
          </a:xfrm>
          <a:prstGeom prst="rect">
            <a:avLst/>
          </a:prstGeom>
        </p:spPr>
      </p:pic>
      <p:sp>
        <p:nvSpPr>
          <p:cNvPr id="17" name="Board part 3 text"/>
          <p:cNvSpPr txBox="1"/>
          <p:nvPr/>
        </p:nvSpPr>
        <p:spPr>
          <a:xfrm>
            <a:off x="6720840" y="3842938"/>
            <a:ext cx="4785055" cy="801329"/>
          </a:xfrm>
          <a:prstGeom prst="rect">
            <a:avLst/>
          </a:prstGeom>
          <a:noFill/>
          <a:ln/>
        </p:spPr>
        <p:txBody>
          <a:bodyPr wrap="square" lIns="0" tIns="0" rIns="0" bIns="0" rtlCol="0" anchor="ctr"/>
          <a:lstStyle/>
          <a:p>
            <a:pPr algn="l" indent="0" marL="0">
              <a:buNone/>
            </a:pPr>
            <a:r>
              <a:rPr lang="en-US" sz="1800" b="1" dirty="0">
                <a:solidFill>
                  <a:schemeClr val="tx2"/>
                </a:solidFill>
              </a:rPr>
              <a:t>Flatness</a:t>
            </a:r>
            <a:endParaRPr lang="en-US" sz="1600" dirty="0"/>
          </a:p>
          <a:p>
            <a:pPr algn="l" indent="0" marL="0">
              <a:buNone/>
            </a:pPr>
            <a:r>
              <a:rPr lang="en-US" sz="1400" dirty="0">
                <a:solidFill>
                  <a:schemeClr val="tx1"/>
                </a:solidFill>
              </a:rPr>
              <a:t>0.05 mm, checked after painting and mounting, not before; keep the flatness report</a:t>
            </a:r>
            <a:endParaRPr lang="en-US" sz="1600" dirty="0"/>
          </a:p>
        </p:txBody>
      </p:sp>
      <p:sp>
        <p:nvSpPr>
          <p:cNvPr id="18" name="Board part 4 card"/>
          <p:cNvSpPr/>
          <p:nvPr/>
        </p:nvSpPr>
        <p:spPr>
          <a:xfrm>
            <a:off x="5669280" y="4918587"/>
            <a:ext cx="6065215" cy="1207893"/>
          </a:xfrm>
          <a:prstGeom prst="roundRect">
            <a:avLst>
              <a:gd name="adj" fmla="val 9084"/>
            </a:avLst>
          </a:prstGeom>
          <a:solidFill>
            <a:schemeClr val="bg2"/>
          </a:solidFill>
          <a:ln/>
        </p:spPr>
      </p:sp>
      <p:sp>
        <p:nvSpPr>
          <p:cNvPr id="19" name="Board part 4 icon circle"/>
          <p:cNvSpPr/>
          <p:nvPr/>
        </p:nvSpPr>
        <p:spPr>
          <a:xfrm>
            <a:off x="5897880" y="5202494"/>
            <a:ext cx="640080" cy="640080"/>
          </a:xfrm>
          <a:prstGeom prst="ellipse">
            <a:avLst/>
          </a:prstGeom>
          <a:solidFill>
            <a:schemeClr val="accent2"/>
          </a:solidFill>
          <a:ln/>
        </p:spPr>
      </p:sp>
      <p:pic>
        <p:nvPicPr>
          <p:cNvPr id="20" name="Board part 4 icon glyph" descr="layers icon">    </p:cNvPr>
          <p:cNvPicPr>
            <a:picLocks noChangeAspect="1"/>
          </p:cNvPicPr>
          <p:nvPr/>
        </p:nvPicPr>
        <p:blipFill>
          <a:blip r:embed="rId5"/>
          <a:stretch>
            <a:fillRect/>
          </a:stretch>
        </p:blipFill>
        <p:spPr>
          <a:xfrm>
            <a:off x="6057900" y="5362514"/>
            <a:ext cx="320040" cy="320040"/>
          </a:xfrm>
          <a:prstGeom prst="rect">
            <a:avLst/>
          </a:prstGeom>
        </p:spPr>
      </p:pic>
      <p:sp>
        <p:nvSpPr>
          <p:cNvPr id="21" name="Board part 4 text"/>
          <p:cNvSpPr txBox="1"/>
          <p:nvPr/>
        </p:nvSpPr>
        <p:spPr>
          <a:xfrm>
            <a:off x="6720840" y="5010027"/>
            <a:ext cx="4785055" cy="1025013"/>
          </a:xfrm>
          <a:prstGeom prst="rect">
            <a:avLst/>
          </a:prstGeom>
          <a:noFill/>
          <a:ln/>
        </p:spPr>
        <p:txBody>
          <a:bodyPr wrap="square" lIns="0" tIns="0" rIns="0" bIns="0" rtlCol="0" anchor="ctr"/>
          <a:lstStyle/>
          <a:p>
            <a:pPr algn="l" indent="0" marL="0">
              <a:buNone/>
            </a:pPr>
            <a:r>
              <a:rPr lang="en-US" sz="1800" b="1" dirty="0">
                <a:solidFill>
                  <a:schemeClr val="tx2"/>
                </a:solidFill>
              </a:rPr>
              <a:t>Adapter</a:t>
            </a:r>
            <a:endParaRPr lang="en-US" sz="1600" dirty="0"/>
          </a:p>
          <a:p>
            <a:pPr algn="l" indent="0" marL="0">
              <a:buNone/>
            </a:pPr>
            <a:r>
              <a:rPr lang="en-US" sz="1400" dirty="0">
                <a:solidFill>
                  <a:schemeClr val="tx1"/>
                </a:solidFill>
              </a:rPr>
              <a:t>Three support pads, three edge pins and three clamp fingers hold the board square to the flange axis, centered on it, and in the same place after a remount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Checks before the board goes to the robot cell</a:t>
            </a:r>
            <a:endParaRPr lang="en-US" sz="3400" dirty="0"/>
          </a:p>
        </p:txBody>
      </p:sp>
      <p:pic>
        <p:nvPicPr>
          <p:cNvPr id="3" name="Checklist check 1" descr="check icon">    </p:cNvPr>
          <p:cNvPicPr>
            <a:picLocks noChangeAspect="1"/>
          </p:cNvPicPr>
          <p:nvPr/>
        </p:nvPicPr>
        <p:blipFill>
          <a:blip r:embed="rId1"/>
          <a:stretch>
            <a:fillRect/>
          </a:stretch>
        </p:blipFill>
        <p:spPr>
          <a:xfrm>
            <a:off x="457200" y="1527810"/>
            <a:ext cx="411480" cy="411480"/>
          </a:xfrm>
          <a:prstGeom prst="rect">
            <a:avLst/>
          </a:prstGeom>
        </p:spPr>
      </p:pic>
      <p:sp>
        <p:nvSpPr>
          <p:cNvPr id="4" name="Checklist text 1"/>
          <p:cNvSpPr txBox="1"/>
          <p:nvPr/>
        </p:nvSpPr>
        <p:spPr>
          <a:xfrm>
            <a:off x="1051560" y="1417320"/>
            <a:ext cx="7360920" cy="632460"/>
          </a:xfrm>
          <a:prstGeom prst="rect">
            <a:avLst/>
          </a:prstGeom>
          <a:noFill/>
          <a:ln/>
        </p:spPr>
        <p:txBody>
          <a:bodyPr wrap="square" lIns="0" tIns="0" rIns="0" bIns="0" rtlCol="0" anchor="ctr"/>
          <a:lstStyle/>
          <a:p>
            <a:pPr algn="l" indent="0" marL="0">
              <a:buNone/>
            </a:pPr>
            <a:r>
              <a:rPr lang="en-US" sz="1600" dirty="0">
                <a:solidFill>
                  <a:schemeClr val="tx1"/>
                </a:solidFill>
              </a:rPr>
              <a:t>Board adapter made to drawing SC1-05, flange interface confirmed against the robot's flange drawing</a:t>
            </a:r>
            <a:endParaRPr lang="en-US" sz="1600" dirty="0"/>
          </a:p>
        </p:txBody>
      </p:sp>
      <p:pic>
        <p:nvPicPr>
          <p:cNvPr id="5" name="Checklist check 2" descr="check icon">    </p:cNvPr>
          <p:cNvPicPr>
            <a:picLocks noChangeAspect="1"/>
          </p:cNvPicPr>
          <p:nvPr/>
        </p:nvPicPr>
        <p:blipFill>
          <a:blip r:embed="rId2"/>
          <a:stretch>
            <a:fillRect/>
          </a:stretch>
        </p:blipFill>
        <p:spPr>
          <a:xfrm>
            <a:off x="457200" y="2343150"/>
            <a:ext cx="411480" cy="411480"/>
          </a:xfrm>
          <a:prstGeom prst="rect">
            <a:avLst/>
          </a:prstGeom>
        </p:spPr>
      </p:pic>
      <p:sp>
        <p:nvSpPr>
          <p:cNvPr id="6" name="Checklist text 2"/>
          <p:cNvSpPr txBox="1"/>
          <p:nvPr/>
        </p:nvSpPr>
        <p:spPr>
          <a:xfrm>
            <a:off x="1051560" y="2232660"/>
            <a:ext cx="7360920" cy="632460"/>
          </a:xfrm>
          <a:prstGeom prst="rect">
            <a:avLst/>
          </a:prstGeom>
          <a:noFill/>
          <a:ln/>
        </p:spPr>
        <p:txBody>
          <a:bodyPr wrap="square" lIns="0" tIns="0" rIns="0" bIns="0" rtlCol="0" anchor="ctr"/>
          <a:lstStyle/>
          <a:p>
            <a:pPr algn="l" indent="0" marL="0">
              <a:buNone/>
            </a:pPr>
            <a:r>
              <a:rPr lang="en-US" sz="1600" dirty="0">
                <a:solidFill>
                  <a:schemeClr val="tx1"/>
                </a:solidFill>
              </a:rPr>
              <a:t>Board flat to 0.05 mm after painting and after mounting on the adapter; flatness report kept</a:t>
            </a:r>
            <a:endParaRPr lang="en-US" sz="1600" dirty="0"/>
          </a:p>
        </p:txBody>
      </p:sp>
      <p:pic>
        <p:nvPicPr>
          <p:cNvPr id="7" name="Checklist check 3" descr="check icon">    </p:cNvPr>
          <p:cNvPicPr>
            <a:picLocks noChangeAspect="1"/>
          </p:cNvPicPr>
          <p:nvPr/>
        </p:nvPicPr>
        <p:blipFill>
          <a:blip r:embed="rId3"/>
          <a:stretch>
            <a:fillRect/>
          </a:stretch>
        </p:blipFill>
        <p:spPr>
          <a:xfrm>
            <a:off x="457200" y="3158490"/>
            <a:ext cx="411480" cy="411480"/>
          </a:xfrm>
          <a:prstGeom prst="rect">
            <a:avLst/>
          </a:prstGeom>
        </p:spPr>
      </p:pic>
      <p:sp>
        <p:nvSpPr>
          <p:cNvPr id="8" name="Checklist text 3"/>
          <p:cNvSpPr txBox="1"/>
          <p:nvPr/>
        </p:nvSpPr>
        <p:spPr>
          <a:xfrm>
            <a:off x="1051560" y="3048000"/>
            <a:ext cx="7360920" cy="632460"/>
          </a:xfrm>
          <a:prstGeom prst="rect">
            <a:avLst/>
          </a:prstGeom>
          <a:noFill/>
          <a:ln/>
        </p:spPr>
        <p:txBody>
          <a:bodyPr wrap="square" lIns="0" tIns="0" rIns="0" bIns="0" rtlCol="0" anchor="ctr"/>
          <a:lstStyle/>
          <a:p>
            <a:pPr algn="l" indent="0" marL="0">
              <a:buNone/>
            </a:pPr>
            <a:r>
              <a:rPr lang="en-US" sz="1600" dirty="0">
                <a:solidFill>
                  <a:schemeClr val="tx1"/>
                </a:solidFill>
              </a:rPr>
              <a:t>Front face matte, uniform and free of highlights; reference edges square and clean</a:t>
            </a:r>
            <a:endParaRPr lang="en-US" sz="1600" dirty="0"/>
          </a:p>
        </p:txBody>
      </p:sp>
      <p:pic>
        <p:nvPicPr>
          <p:cNvPr id="9" name="Checklist check 4" descr="check icon">    </p:cNvPr>
          <p:cNvPicPr>
            <a:picLocks noChangeAspect="1"/>
          </p:cNvPicPr>
          <p:nvPr/>
        </p:nvPicPr>
        <p:blipFill>
          <a:blip r:embed="rId4"/>
          <a:stretch>
            <a:fillRect/>
          </a:stretch>
        </p:blipFill>
        <p:spPr>
          <a:xfrm>
            <a:off x="457200" y="3973830"/>
            <a:ext cx="411480" cy="411480"/>
          </a:xfrm>
          <a:prstGeom prst="rect">
            <a:avLst/>
          </a:prstGeom>
        </p:spPr>
      </p:pic>
      <p:sp>
        <p:nvSpPr>
          <p:cNvPr id="10" name="Checklist text 4"/>
          <p:cNvSpPr txBox="1"/>
          <p:nvPr/>
        </p:nvSpPr>
        <p:spPr>
          <a:xfrm>
            <a:off x="1051560" y="3863340"/>
            <a:ext cx="7360920" cy="632460"/>
          </a:xfrm>
          <a:prstGeom prst="rect">
            <a:avLst/>
          </a:prstGeom>
          <a:noFill/>
          <a:ln/>
        </p:spPr>
        <p:txBody>
          <a:bodyPr wrap="square" lIns="0" tIns="0" rIns="0" bIns="0" rtlCol="0" anchor="ctr"/>
          <a:lstStyle/>
          <a:p>
            <a:pPr algn="l" indent="0" marL="0">
              <a:buNone/>
            </a:pPr>
            <a:r>
              <a:rPr lang="en-US" sz="1600" dirty="0">
                <a:solidFill>
                  <a:schemeClr val="tx1"/>
                </a:solidFill>
              </a:rPr>
              <a:t>Board and adapter weighed for the tool load data</a:t>
            </a:r>
            <a:endParaRPr lang="en-US" sz="1600" dirty="0"/>
          </a:p>
        </p:txBody>
      </p:sp>
      <p:pic>
        <p:nvPicPr>
          <p:cNvPr id="11" name="Checklist check 5" descr="check icon">    </p:cNvPr>
          <p:cNvPicPr>
            <a:picLocks noChangeAspect="1"/>
          </p:cNvPicPr>
          <p:nvPr/>
        </p:nvPicPr>
        <p:blipFill>
          <a:blip r:embed="rId5"/>
          <a:stretch>
            <a:fillRect/>
          </a:stretch>
        </p:blipFill>
        <p:spPr>
          <a:xfrm>
            <a:off x="457200" y="4789170"/>
            <a:ext cx="411480" cy="411480"/>
          </a:xfrm>
          <a:prstGeom prst="rect">
            <a:avLst/>
          </a:prstGeom>
        </p:spPr>
      </p:pic>
      <p:sp>
        <p:nvSpPr>
          <p:cNvPr id="12" name="Checklist text 5"/>
          <p:cNvSpPr txBox="1"/>
          <p:nvPr/>
        </p:nvSpPr>
        <p:spPr>
          <a:xfrm>
            <a:off x="1051560" y="4678680"/>
            <a:ext cx="7360920" cy="632460"/>
          </a:xfrm>
          <a:prstGeom prst="rect">
            <a:avLst/>
          </a:prstGeom>
          <a:noFill/>
          <a:ln/>
        </p:spPr>
        <p:txBody>
          <a:bodyPr wrap="square" lIns="0" tIns="0" rIns="0" bIns="0" rtlCol="0" anchor="ctr"/>
          <a:lstStyle/>
          <a:p>
            <a:pPr algn="l" indent="0" marL="0">
              <a:buNone/>
            </a:pPr>
            <a:r>
              <a:rPr lang="en-US" sz="1600" dirty="0">
                <a:solidFill>
                  <a:schemeClr val="tx1"/>
                </a:solidFill>
              </a:rPr>
              <a:t>Run-out fixture's base plate bolted to the cell table where the indicator reaches the board</a:t>
            </a:r>
            <a:endParaRPr lang="en-US" sz="1600" dirty="0"/>
          </a:p>
        </p:txBody>
      </p:sp>
      <p:pic>
        <p:nvPicPr>
          <p:cNvPr id="13" name="Checklist check 6" descr="check icon">    </p:cNvPr>
          <p:cNvPicPr>
            <a:picLocks noChangeAspect="1"/>
          </p:cNvPicPr>
          <p:nvPr/>
        </p:nvPicPr>
        <p:blipFill>
          <a:blip r:embed="rId6"/>
          <a:stretch>
            <a:fillRect/>
          </a:stretch>
        </p:blipFill>
        <p:spPr>
          <a:xfrm>
            <a:off x="457200" y="5604510"/>
            <a:ext cx="411480" cy="411480"/>
          </a:xfrm>
          <a:prstGeom prst="rect">
            <a:avLst/>
          </a:prstGeom>
        </p:spPr>
      </p:pic>
      <p:sp>
        <p:nvSpPr>
          <p:cNvPr id="14" name="Checklist text 6"/>
          <p:cNvSpPr txBox="1"/>
          <p:nvPr/>
        </p:nvSpPr>
        <p:spPr>
          <a:xfrm>
            <a:off x="1051560" y="5494020"/>
            <a:ext cx="7360920" cy="632460"/>
          </a:xfrm>
          <a:prstGeom prst="rect">
            <a:avLst/>
          </a:prstGeom>
          <a:noFill/>
          <a:ln/>
        </p:spPr>
        <p:txBody>
          <a:bodyPr wrap="square" lIns="0" tIns="0" rIns="0" bIns="0" rtlCol="0" anchor="ctr"/>
          <a:lstStyle/>
          <a:p>
            <a:pPr algn="l" indent="0" marL="0">
              <a:buNone/>
            </a:pPr>
            <a:r>
              <a:rPr lang="en-US" sz="1600" dirty="0">
                <a:solidFill>
                  <a:schemeClr val="tx1"/>
                </a:solidFill>
              </a:rPr>
              <a:t>Dowels seated; after any remount, the remount check of the procedure (run-out, D, reference capture) passes</a:t>
            </a:r>
            <a:endParaRPr lang="en-US" sz="1600" dirty="0"/>
          </a:p>
        </p:txBody>
      </p:sp>
      <p:sp>
        <p:nvSpPr>
          <p:cNvPr id="15" name="Visual card"/>
          <p:cNvSpPr/>
          <p:nvPr/>
        </p:nvSpPr>
        <p:spPr>
          <a:xfrm>
            <a:off x="8686800" y="1417320"/>
            <a:ext cx="3047695" cy="4709160"/>
          </a:xfrm>
          <a:prstGeom prst="roundRect">
            <a:avLst>
              <a:gd name="adj" fmla="val 3600"/>
            </a:avLst>
          </a:prstGeom>
          <a:solidFill>
            <a:schemeClr val="bg2"/>
          </a:solidFill>
          <a:ln/>
        </p:spPr>
      </p:sp>
      <p:sp>
        <p:nvSpPr>
          <p:cNvPr id="16" name="Clipboard check icon circle"/>
          <p:cNvSpPr/>
          <p:nvPr/>
        </p:nvSpPr>
        <p:spPr>
          <a:xfrm>
            <a:off x="9021928" y="2583180"/>
            <a:ext cx="2377440" cy="2377440"/>
          </a:xfrm>
          <a:prstGeom prst="ellipse">
            <a:avLst/>
          </a:prstGeom>
          <a:solidFill>
            <a:schemeClr val="accent2"/>
          </a:solidFill>
          <a:ln/>
        </p:spPr>
      </p:sp>
      <p:pic>
        <p:nvPicPr>
          <p:cNvPr id="17" name="Clipboard check icon glyph" descr="clipboardCheck icon">    </p:cNvPr>
          <p:cNvPicPr>
            <a:picLocks noChangeAspect="1"/>
          </p:cNvPicPr>
          <p:nvPr/>
        </p:nvPicPr>
        <p:blipFill>
          <a:blip r:embed="rId7"/>
          <a:stretch>
            <a:fillRect/>
          </a:stretch>
        </p:blipFill>
        <p:spPr>
          <a:xfrm>
            <a:off x="9616288" y="3177540"/>
            <a:ext cx="1188720" cy="1188720"/>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ensor Registration">
  <a:themeElements>
    <a:clrScheme name="Sensor Registration">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ensor Registr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 Registration: Procurement and Build</dc:title>
  <dc:subject>Sensor-to-robot registration captures</dc:subject>
  <dc:creator>Plane-plane registration</dc:creator>
  <cp:lastModifiedBy>Plane-plane registration</cp:lastModifiedBy>
  <cp:revision>1</cp:revision>
  <dcterms:created xsi:type="dcterms:W3CDTF">2026-10-07T19:57:19Z</dcterms:created>
  <dcterms:modified xsi:type="dcterms:W3CDTF">2026-10-07T19:57:19Z</dcterms:modified>
</cp:coreProperties>
</file>