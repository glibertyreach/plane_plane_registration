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87c1106-6966-ec04-73ed-8415dc5fc5ff}">
          <p14:sldIdLst>
            <p14:sldId id="256"/>
            <p14:sldId id="257"/>
            <p14:sldId id="258"/>
            <p14:sldId id="259"/>
            <p14:sldId id="260"/>
          </p14:sldIdLst>
        </p14:section>
        <p14:section name="Setup" id="{b802a50b-3f73-7159-80e0-680be0bd36a0}">
          <p14:sldIdLst>
            <p14:sldId id="261"/>
            <p14:sldId id="262"/>
          </p14:sldIdLst>
        </p14:section>
        <p14:section name="Capture" id="{4db34bf4-0b25-92fc-7a06-e39d5f265e91}">
          <p14:sldIdLst>
            <p14:sldId id="263"/>
            <p14:sldId id="264"/>
            <p14:sldId id="265"/>
            <p14:sldId id="266"/>
            <p14:sldId id="267"/>
          </p14:sldIdLst>
        </p14:section>
        <p14:section name="Checks" id="{2445458f-a406-6d89-f53d-aee46129fbf2}">
          <p14:sldIdLst>
            <p14:sldId id="268"/>
            <p14:sldId id="269"/>
          </p14:sldIdLst>
        </p14:section>
        <p14:section name="Wrap-up" id="{bb1e6aa4-e5f2-8c74-19f0-5d7afc596ee7}">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second of two decks on the registration captures. The first covers what must exist before the session. This one covers the session itself: the board's tool frame, the rough sensor location, the pose plan, the two sub-procedures that drive the robot to the same poses in two different ways, how poses are recorded, the checks, and what to hand over. It follows sections 2 to 10 of the registration capture procedure in docs/procedures of the plane_plane_registration repository, which gives every step in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orients the audience before the procedure: what is being tested and why the session is shaped the way it is. The method under test registers the sensor into the robot's base frame from plane-to-plane correspondences: the sensor fits a plane to the board in each capture, the robot's reported tool frame gives the same plane in the base frame, and the transform that maps the sensor's planes onto the robot's is the registration, solved in closed form. Its claimed advantage is that one flat target and no 2D images are needed. The solver and the tools were verified on synthetic sessions only. This first real session answers four questions: does the method recover the transform on real captures; which error dominates, the robot's pose accuracy or the sensor's plane measurement, which the residual maps of the analysis show; how much backlash matters, which is why the same poses are captured twice, straight (A) and via a standardized approach (B); and what the thresholds should be, since every gate in the tools is a placeholder until real residuals set it. The specification review in docs/registration_review and the procedure's introduction give the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 of a session is two folders of sensor capture files, one group per robot pose, each with a manifest that records for every file where the robot reported the board. The registration software fits the sensor-to-robot transform from each folder. The two folders come from the same list of poses driven in two ways: sub-procedure A moves straight to each pose, sub-procedure B approaches every pose with the same final move so that backlash is taken up the same way each time; comparing the two tells whether backlash matters. The counts are for the default plan on a 640 x 480 sensor (section 5); the plan tool prints the exact ones. The purpose of this first session is to learn whether the robot's pose errors or the sensor's plane errors dominate, and to set the thresholds of the tools from real residuals; a larger run of 1,000 poses or more is planned only if the analysis calls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seven stages of a session, in order; sections 2 to 9 of the procedure correspond to them. Steps 1 to 4 are setup and happen once. Steps 5 and 6 each run over the whole plan, and each ends with the manifest and the quick check before the other starts, while the board is still mounted and flagged poses are cheap to re-capture. The sensor and the board are not touched between the two runs; moving either makes everything after it a new session. The software commands are listed in one table in section 2 of the procedure, with the section that explains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section 1f of the procedure: everything to prepare before the first session, beyond the hardware. The robot's absolute accuracy is taken from the maker's specification sheet; repeatability alone is not enough, because every pose is used as a known position. Tool load data matter because a wrong mass or center of gravity shifts every reported pose. The dry run covers both sub-procedures, including the 40 mm approach retreat of B, so that no pose collides with the sensor or its cables. The sensor settings are the stage-1 ones: the same depth sensor with its SGM parameters recorded, smoothing filters off and the installation patch size. The disk figure is 10 GB per 1,000 frames for about 2,350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board's pose is reported by the robot, not fitted, so its frame must be right: the registration takes the reported frame's z axis as the board normal and its origin as a point on the front face. The run-out check tests whether the board face is perpendicular to the flange axis; if the reading wanders, the adapter is shimmed. D is the distance from the flange face to the front face, measured at four places; the tool frame is defined at (0, 0, D) from the flange. An error in x only rotates the frame within the board plane, which the registration does not use; an error in z tilts the normal and shows as a residual on every pose. If the controller cannot define a tool frame, the flange pose is logged instead and the tools are given D with the target-offset option (procedure section 3). A remount is verified, not assumed (section 3, remount check): the run-out and D measurements are repeated, and the first bootstrap pose, saved on the controller as a named position, is captured again so that the bootstrap shows the before-and-after residuals side by side. A tilt or a change of D matters; a shift within the board's own plane does not. A remount between the two sub-procedures is recorded, because their comparison assumes an unchanged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software determines the sensor's exact position from the full capture set; this step only needs a rough position so that the planned poses land inside the field of view and so that the software knows where to look for the board in each capture. Six hand-jogged poses, tilted in four directions and at two distances, are enough; the bootstrap also reports the normal spread of the six, which must reach 0.05 and is about 0.2 with these tilts. The result, boot.json, is read by the plan tool and the check tool. Procedure section 4 gives the steps and the commands; the words it uses for what the software reports, segmentation, plane residual, normal and offset residual, are defined there with figure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tool writes poses.csv, a summary, and the picture shown here, which plots the planned board centers in the sensor's frame: a side view on the left and a front view on the right, with the field of view drawn; one color per standoff, held-out poses outlined. Each pose is described by its standoff, tilt and azimuth, which section 5 of the procedure defines. The summary reports how many poses were planned, dropped and kept at each standoff and tilt, the normal spread of the set, and the registration error to expect if the sensor's planes are good to 0.2 degrees and 0.2 mm. Every row of poses.csv carries the target pose in three orientation forms and the approach pose for sub-procedure B; section 5 lists the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robot program is small: it reads the plan, moves, waits, triggers the sensor, and logs what the robot reports. Its interface is fixed by the files on either side: poses.csv coming in (section 5 of the procedure), the trigger through the capture computer's communication software, and the pose log going out (section 7). The one thing it must never do is log the commanded pose instead of the reported one. For sub-procedure B it also logs the joint angles at the approach pose when the controller reports them, so that the check tool can confirm that each joint's final motion had the same direction at every pose. Both sub-procedures are in section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Sub-procedure A ignores backlash: the robot goes to each pose by whatever path the controller chooses, so each joint arrives from a different direction at different poses and the dead band of its gears is taken up differently each time. Whatever scatter that produces appears in the residuals of this set. The approach columns of poses.csv are not used. When the last pose is done, the manifest of captures_A is built and the quick check run while the board is still mounted, so that flagged poses can be re-captured cheaply (procedure sections 6 to 8). The time per pose is a rough figure, not a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Gear backlash lets the flange sit on either side of a small dead band after a move, depending on which way each joint last moved. Approaching every target with the same final move makes the last motion of each joint the same at every pose, as far as the geometry allows, so the dead band is taken up the same way each time and its effect is constant instead of random. A constant offset is absorbed into the registered transform; a random one shows as scatter. Comparing set B with set A therefore separates the two. The approach pose is in every row of poses.csv. The joint angles at the approach pose let the check tool report, per joint, the fraction of poses whose final motion had the majority direction. The figure is the right panel of figure 4 of the procedure, with the approach rotation exaggerated.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capture software writes the sensor data; the robot's pose is recorded separately by the robot program, in a CSV file with one header line and one line per pose. Section 7 of the procedure lists the columns and the rotation types with their controller examples; naming the form wrongly makes every pose disagree with the solution, which the check reports. After each sub-procedure, make_manifest matches every file to its pose id, converts the orientation to the standard matrix form, and complains by name about any pose without files, any file without a pose and any missing size. Writing the pose into the file header as well is an optional cross-check; it does not replace the log. The example line is one pose; the joint-angle columns follow it in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residuals are how every tool in the procedure reports agreement between the robot and the sensor: the bootstrap for the six hand-jogged poses, the check for each capture set against its own registration, and the analysis maps afterwards. The predicted plane comes from the logged robot pose and the current sensor-to-robot transform; the measured plane from the sensor's points. Once the transform has been solved from all the poses, each pose's residuals say how well it agrees with the solution. Section 4 of the procedure defines the words and shows this figure as figure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 tool prints one line per pose and a verdict, and writes a JSON report; its exit code is 0 when nothing is flagged, 1 when something is, and 2 when it cannot read the manifest. It runs on each folder as soon as its captures are complete, while the robot and the board are still set up, because that is when a flagged pose can be re-captured. It also reports the normal spread of the set, which should not fall below 0.05 with the plan's defaults. Section 8 of the procedure lists every flag and what it means. The thresholds are placeholders until the first real session sets them. A board image of fewer than 1,000 pixels, typically the far standoff at the largest tilt, gives a noisy plane; the check flags it as too small and suppresses its residual flags, and the right response is to drop the pose from the plan rather than re-capture it. The 1,000 is a placeholder.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failures that cannot be repaired afterwards in software. The first two change the sensor or the robot mid-session, which invalidates the comparison between the two runs. A commanded pose in the log hides exactly the robot error the session is meant to measure. The foreground matters because the software, when it has no better information, takes the closest large flat surface to be the board. The last item defeats sub-procedure B: every pose must get the same final move, and the two folders must not be mixed. Section 10 of the procedure gives the full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checklist is section 9 of the procedure. The session notes matter as much as the data: the analysis needs D, the tool frame values and the backlash compensation setting, and the notes are the only record of the order the runs were made in and of anything unusual. The four software tools are summarized in one table in section 2 of the procedure, with the section that gives each full command; appendix B quotes their help output and appendix C says how to install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1463040"/>
          </a:xfrm>
          <a:prstGeom prst="rect">
            <a:avLst/>
          </a:prstGeom>
          <a:noFill/>
          <a:ln/>
        </p:spPr>
        <p:txBody>
          <a:bodyPr wrap="square" rtlCol="0"/>
          <a:lstStyle>
            <a:lvl1pPr algn="l" indent="0" marL="0">
              <a:buNone/>
              <a:defRPr lang="en-US" sz="4400" b="1" dirty="0">
                <a:solidFill>
                  <a:schemeClr val="bg1"/>
                </a:solidFill>
                <a:latin typeface="+mj-lt" pitchFamily="34" charset="0"/>
                <a:ea typeface="+mj-lt" pitchFamily="34" charset="-122"/>
                <a:cs typeface="+mj-lt" pitchFamily="34" charset="-120"/>
              </a:defRPr>
            </a:lvl1pPr>
          </a:lstStyle>
          <a:p>
            <a:pPr algn="l" indent="0" marL="0">
              <a:buNone/>
            </a:pPr>
            <a:r>
              <a:rPr lang="en-US" sz="4400" b="1" dirty="0">
                <a:solidFill>
                  <a:schemeClr val="bg1"/>
                </a:solidFill>
                <a:latin typeface="+mj-lt" pitchFamily="34" charset="0"/>
                <a:ea typeface="+mj-lt" pitchFamily="34" charset="-122"/>
                <a:cs typeface="+mj-lt" pitchFamily="34" charset="-120"/>
              </a:rPr>
              <a:t>Title</a:t>
            </a:r>
            <a:endParaRPr lang="en-US" sz="4400" dirty="0"/>
          </a:p>
        </p:txBody>
      </p:sp>
      <p:sp>
        <p:nvSpPr>
          <p:cNvPr id="3" name="Text 0"/>
          <p:cNvSpPr/>
          <p:nvPr>
            <p:ph idx="101" type="body" hasCustomPrompt="1"/>
          </p:nvPr>
        </p:nvSpPr>
        <p:spPr>
          <a:xfrm>
            <a:off x="457200" y="2103120"/>
            <a:ext cx="8229600" cy="822960"/>
          </a:xfrm>
          <a:prstGeom prst="rect">
            <a:avLst/>
          </a:prstGeom>
          <a:noFill/>
          <a:ln/>
        </p:spPr>
        <p:txBody>
          <a:bodyPr wrap="square" rtlCol="0"/>
          <a:lstStyle>
            <a:lvl1pPr algn="l" indent="0" marL="0">
              <a:buNone/>
              <a:defRPr lang="en-US" sz="2200" dirty="0">
                <a:solidFill>
                  <a:schemeClr val="accent6"/>
                </a:solidFill>
              </a:defRPr>
            </a:lvl1pPr>
          </a:lstStyle>
          <a:p>
            <a:pPr algn="l" indent="0" marL="0">
              <a:buNone/>
            </a:pPr>
            <a:r>
              <a:rPr lang="en-US" sz="2200" dirty="0">
                <a:solidFill>
                  <a:schemeClr val="accent6"/>
                </a:solidFill>
              </a:rPr>
              <a:t>Subtitle</a:t>
            </a:r>
            <a:endParaRPr lang="en-US" sz="2200" dirty="0"/>
          </a:p>
        </p:txBody>
      </p:sp>
      <p:sp>
        <p:nvSpPr>
          <p:cNvPr id="4" name="Text 0"/>
          <p:cNvSpPr/>
          <p:nvPr>
            <p:ph idx="102" type="body" hasCustomPrompt="1"/>
          </p:nvPr>
        </p:nvSpPr>
        <p:spPr>
          <a:xfrm>
            <a:off x="457200" y="6035040"/>
            <a:ext cx="11277295" cy="365760"/>
          </a:xfrm>
          <a:prstGeom prst="rect">
            <a:avLst/>
          </a:prstGeom>
          <a:noFill/>
          <a:ln/>
        </p:spPr>
        <p:txBody>
          <a:bodyPr wrap="square" rtlCol="0"/>
          <a:lstStyle>
            <a:lvl1pPr algn="l" indent="0" marL="0">
              <a:buNone/>
              <a:defRPr lang="en-US" sz="1400" dirty="0">
                <a:solidFill>
                  <a:schemeClr val="accent6"/>
                </a:solidFill>
              </a:defRPr>
            </a:lvl1pPr>
          </a:lstStyle>
          <a:p>
            <a:pPr algn="l" indent="0" marL="0">
              <a:buNone/>
            </a:pPr>
            <a:r>
              <a:rPr lang="en-US" sz="1400" dirty="0">
                <a:solidFill>
                  <a:schemeClr val="accent6"/>
                </a:solidFill>
              </a:rPr>
              <a:t>Footer</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rtlCol="0"/>
          <a:lstStyle>
            <a:lvl1pPr algn="l" indent="0" marL="0">
              <a:buNone/>
              <a:defRPr lang="en-US" sz="3400" b="1" dirty="0">
                <a:solidFill>
                  <a:schemeClr val="tx2"/>
                </a:solidFill>
                <a:latin typeface="+mj-lt" pitchFamily="34" charset="0"/>
                <a:ea typeface="+mj-lt" pitchFamily="34" charset="-122"/>
                <a:cs typeface="+mj-lt" pitchFamily="34" charset="-120"/>
              </a:defRPr>
            </a:lvl1pPr>
          </a:lstStyle>
          <a:p>
            <a:pPr algn="l" indent="0" marL="0">
              <a:buNone/>
            </a:pPr>
            <a:r>
              <a:rPr lang="en-US" sz="3400" b="1" dirty="0">
                <a:solidFill>
                  <a:schemeClr val="tx2"/>
                </a:solidFill>
                <a:latin typeface="+mj-lt" pitchFamily="34" charset="0"/>
                <a:ea typeface="+mj-lt" pitchFamily="34" charset="-122"/>
                <a:cs typeface="+mj-lt" pitchFamily="34" charset="-120"/>
              </a:rPr>
              <a:t>Title</a:t>
            </a:r>
            <a:endParaRPr lang="en-US" sz="3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3.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3.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3.xml"/><Relationship Id="rId10"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1463040"/>
          </a:xfrm>
          <a:prstGeom prst="rect">
            <a:avLst/>
          </a:prstGeom>
          <a:noFill/>
          <a:ln/>
        </p:spPr>
        <p:txBody>
          <a:bodyPr wrap="square" lIns="0" tIns="0" rIns="0" bIns="0" rtlCol="0" anchor="b"/>
          <a:lstStyle/>
          <a:p>
            <a:pPr algn="l" indent="0" marL="0">
              <a:buNone/>
            </a:pPr>
            <a:r>
              <a:rPr lang="en-US" sz="4400" b="1" dirty="0">
                <a:solidFill>
                  <a:schemeClr val="bg1"/>
                </a:solidFill>
                <a:latin typeface="+mj-lt" pitchFamily="34" charset="0"/>
                <a:ea typeface="+mj-lt" pitchFamily="34" charset="-122"/>
                <a:cs typeface="+mj-lt" pitchFamily="34" charset="-120"/>
              </a:rPr>
              <a:t>Sensor Registration: Test Procedure and Robot Program</a:t>
            </a:r>
            <a:endParaRPr lang="en-US" sz="4400" dirty="0"/>
          </a:p>
        </p:txBody>
      </p:sp>
      <p:sp>
        <p:nvSpPr>
          <p:cNvPr id="3" name="Text 0"/>
          <p:cNvSpPr/>
          <p:nvPr>
            <p:ph idx="101" type="body" hasCustomPrompt="1"/>
          </p:nvPr>
        </p:nvSpPr>
        <p:spPr>
          <a:xfrm>
            <a:off x="457200" y="2103120"/>
            <a:ext cx="8229600" cy="822960"/>
          </a:xfrm>
          <a:prstGeom prst="rect">
            <a:avLst/>
          </a:prstGeom>
          <a:noFill/>
          <a:ln/>
        </p:spPr>
        <p:txBody>
          <a:bodyPr wrap="square" lIns="0" tIns="0" rIns="0" bIns="0" rtlCol="0" anchor="t"/>
          <a:lstStyle/>
          <a:p>
            <a:pPr algn="l" indent="0" marL="0">
              <a:buNone/>
            </a:pPr>
            <a:r>
              <a:rPr lang="en-US" sz="2200" dirty="0">
                <a:solidFill>
                  <a:schemeClr val="accent6"/>
                </a:solidFill>
              </a:rPr>
              <a:t>Running the two capture runs and what the robot program must do</a:t>
            </a:r>
            <a:endParaRPr lang="en-US" sz="2200" dirty="0"/>
          </a:p>
        </p:txBody>
      </p:sp>
      <p:sp>
        <p:nvSpPr>
          <p:cNvPr id="4" name="Text 0"/>
          <p:cNvSpPr/>
          <p:nvPr>
            <p:ph idx="102" type="body" hasCustomPrompt="1"/>
          </p:nvPr>
        </p:nvSpPr>
        <p:spPr>
          <a:xfrm>
            <a:off x="457200" y="6035040"/>
            <a:ext cx="11277295" cy="365760"/>
          </a:xfrm>
          <a:prstGeom prst="rect">
            <a:avLst/>
          </a:prstGeom>
          <a:noFill/>
          <a:ln/>
        </p:spPr>
        <p:txBody>
          <a:bodyPr wrap="square" lIns="0" tIns="0" rIns="0" bIns="0" rtlCol="0" anchor="b"/>
          <a:lstStyle/>
          <a:p>
            <a:pPr algn="l" indent="0" marL="0">
              <a:buNone/>
            </a:pPr>
            <a:r>
              <a:rPr lang="en-US" sz="1400" dirty="0">
                <a:solidFill>
                  <a:schemeClr val="accent6"/>
                </a:solidFill>
              </a:rPr>
              <a:t>Test procedure  ·  October 2026</a:t>
            </a:r>
            <a:endParaRPr lang="en-US" sz="1400" dirty="0"/>
          </a:p>
        </p:txBody>
      </p:sp>
      <p:sp>
        <p:nvSpPr>
          <p:cNvPr id="5" name="Graphic sensor body"/>
          <p:cNvSpPr/>
          <p:nvPr/>
        </p:nvSpPr>
        <p:spPr>
          <a:xfrm>
            <a:off x="457200" y="4023360"/>
            <a:ext cx="1005840" cy="1371600"/>
          </a:xfrm>
          <a:prstGeom prst="roundRect">
            <a:avLst>
              <a:gd name="adj" fmla="val 10909"/>
            </a:avLst>
          </a:prstGeom>
          <a:solidFill>
            <a:schemeClr val="accent2"/>
          </a:solidFill>
          <a:ln w="25400">
            <a:solidFill>
              <a:schemeClr val="accent6"/>
            </a:solidFill>
            <a:prstDash val="solid"/>
          </a:ln>
        </p:spPr>
      </p:sp>
      <p:sp>
        <p:nvSpPr>
          <p:cNvPr id="6" name="Graphic sensor lens"/>
          <p:cNvSpPr/>
          <p:nvPr/>
        </p:nvSpPr>
        <p:spPr>
          <a:xfrm>
            <a:off x="868680" y="4480560"/>
            <a:ext cx="457200" cy="457200"/>
          </a:xfrm>
          <a:prstGeom prst="ellipse">
            <a:avLst/>
          </a:prstGeom>
          <a:solidFill>
            <a:schemeClr val="accent3"/>
          </a:solidFill>
          <a:ln/>
        </p:spPr>
      </p:sp>
      <p:sp>
        <p:nvSpPr>
          <p:cNvPr id="7" name="Graphic board 1"/>
          <p:cNvSpPr/>
          <p:nvPr/>
        </p:nvSpPr>
        <p:spPr>
          <a:xfrm>
            <a:off x="3511296" y="3657600"/>
            <a:ext cx="128016" cy="2103120"/>
          </a:xfrm>
          <a:prstGeom prst="roundRect">
            <a:avLst>
              <a:gd name="adj" fmla="val 28571"/>
            </a:avLst>
          </a:prstGeom>
          <a:solidFill>
            <a:schemeClr val="accent6"/>
          </a:solidFill>
          <a:ln w="25400">
            <a:solidFill>
              <a:schemeClr val="accent3"/>
            </a:solidFill>
            <a:prstDash val="solid"/>
          </a:ln>
        </p:spPr>
      </p:sp>
      <p:sp>
        <p:nvSpPr>
          <p:cNvPr id="8" name="Graphic board 1 tool-frame origin"/>
          <p:cNvSpPr/>
          <p:nvPr/>
        </p:nvSpPr>
        <p:spPr>
          <a:xfrm>
            <a:off x="3465576" y="4599432"/>
            <a:ext cx="219456" cy="219456"/>
          </a:xfrm>
          <a:prstGeom prst="ellipse">
            <a:avLst/>
          </a:prstGeom>
          <a:solidFill>
            <a:schemeClr val="accent1"/>
          </a:solidFill>
          <a:ln/>
        </p:spPr>
      </p:sp>
      <p:sp>
        <p:nvSpPr>
          <p:cNvPr id="9" name="Graphic board 2"/>
          <p:cNvSpPr/>
          <p:nvPr/>
        </p:nvSpPr>
        <p:spPr>
          <a:xfrm rot="900000">
            <a:off x="4279392" y="3657600"/>
            <a:ext cx="128016" cy="2103120"/>
          </a:xfrm>
          <a:prstGeom prst="roundRect">
            <a:avLst>
              <a:gd name="adj" fmla="val 28571"/>
            </a:avLst>
          </a:prstGeom>
          <a:solidFill>
            <a:schemeClr val="accent6"/>
          </a:solidFill>
          <a:ln w="25400">
            <a:solidFill>
              <a:schemeClr val="accent3"/>
            </a:solidFill>
            <a:prstDash val="solid"/>
          </a:ln>
        </p:spPr>
      </p:sp>
      <p:sp>
        <p:nvSpPr>
          <p:cNvPr id="10" name="Graphic board 2 tool-frame origin"/>
          <p:cNvSpPr/>
          <p:nvPr/>
        </p:nvSpPr>
        <p:spPr>
          <a:xfrm>
            <a:off x="4233672" y="4599432"/>
            <a:ext cx="219456" cy="219456"/>
          </a:xfrm>
          <a:prstGeom prst="ellipse">
            <a:avLst/>
          </a:prstGeom>
          <a:solidFill>
            <a:schemeClr val="accent1"/>
          </a:solidFill>
          <a:ln/>
        </p:spPr>
      </p:sp>
      <p:sp>
        <p:nvSpPr>
          <p:cNvPr id="11" name="Graphic board 3"/>
          <p:cNvSpPr/>
          <p:nvPr/>
        </p:nvSpPr>
        <p:spPr>
          <a:xfrm rot="1800000">
            <a:off x="5047488" y="3657600"/>
            <a:ext cx="128016" cy="2103120"/>
          </a:xfrm>
          <a:prstGeom prst="roundRect">
            <a:avLst>
              <a:gd name="adj" fmla="val 28571"/>
            </a:avLst>
          </a:prstGeom>
          <a:solidFill>
            <a:schemeClr val="accent6"/>
          </a:solidFill>
          <a:ln w="25400">
            <a:solidFill>
              <a:schemeClr val="accent3"/>
            </a:solidFill>
            <a:prstDash val="solid"/>
          </a:ln>
        </p:spPr>
      </p:sp>
      <p:sp>
        <p:nvSpPr>
          <p:cNvPr id="12" name="Graphic board 3 tool-frame origin"/>
          <p:cNvSpPr/>
          <p:nvPr/>
        </p:nvSpPr>
        <p:spPr>
          <a:xfrm>
            <a:off x="5001768" y="4599432"/>
            <a:ext cx="219456" cy="219456"/>
          </a:xfrm>
          <a:prstGeom prst="ellipse">
            <a:avLst/>
          </a:prstGeom>
          <a:solidFill>
            <a:schemeClr val="accent1"/>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What we are testing, and why</a:t>
            </a:r>
            <a:endParaRPr lang="en-US" sz="3400" dirty="0"/>
          </a:p>
        </p:txBody>
      </p:sp>
      <p:sp>
        <p:nvSpPr>
          <p:cNvPr id="3" name="Column 1 card"/>
          <p:cNvSpPr/>
          <p:nvPr/>
        </p:nvSpPr>
        <p:spPr>
          <a:xfrm>
            <a:off x="457200" y="1417320"/>
            <a:ext cx="3576218" cy="3703320"/>
          </a:xfrm>
          <a:prstGeom prst="roundRect">
            <a:avLst>
              <a:gd name="adj" fmla="val 3068"/>
            </a:avLst>
          </a:prstGeom>
          <a:solidFill>
            <a:schemeClr val="bg2"/>
          </a:solidFill>
          <a:ln/>
        </p:spPr>
      </p:sp>
      <p:sp>
        <p:nvSpPr>
          <p:cNvPr id="4" name="Column 1 icon circle"/>
          <p:cNvSpPr/>
          <p:nvPr/>
        </p:nvSpPr>
        <p:spPr>
          <a:xfrm>
            <a:off x="685800" y="1645920"/>
            <a:ext cx="640080" cy="640080"/>
          </a:xfrm>
          <a:prstGeom prst="ellipse">
            <a:avLst/>
          </a:prstGeom>
          <a:solidFill>
            <a:schemeClr val="accent2"/>
          </a:solidFill>
          <a:ln/>
        </p:spPr>
      </p:sp>
      <p:pic>
        <p:nvPicPr>
          <p:cNvPr id="5" name="Column 1 icon glyph" descr="crosshairs icon">    </p:cNvPr>
          <p:cNvPicPr>
            <a:picLocks noChangeAspect="1"/>
          </p:cNvPicPr>
          <p:nvPr/>
        </p:nvPicPr>
        <p:blipFill>
          <a:blip r:embed="rId1"/>
          <a:stretch>
            <a:fillRect/>
          </a:stretch>
        </p:blipFill>
        <p:spPr>
          <a:xfrm>
            <a:off x="845820" y="1805940"/>
            <a:ext cx="320040" cy="320040"/>
          </a:xfrm>
          <a:prstGeom prst="rect">
            <a:avLst/>
          </a:prstGeom>
        </p:spPr>
      </p:pic>
      <p:sp>
        <p:nvSpPr>
          <p:cNvPr id="6" name="Column 1 head"/>
          <p:cNvSpPr txBox="1"/>
          <p:nvPr/>
        </p:nvSpPr>
        <p:spPr>
          <a:xfrm>
            <a:off x="1508760" y="1645920"/>
            <a:ext cx="2296058" cy="640080"/>
          </a:xfrm>
          <a:prstGeom prst="rect">
            <a:avLst/>
          </a:prstGeom>
          <a:noFill/>
          <a:ln/>
        </p:spPr>
        <p:txBody>
          <a:bodyPr wrap="square" lIns="0" tIns="0" rIns="0" bIns="0" rtlCol="0" anchor="ctr"/>
          <a:lstStyle/>
          <a:p>
            <a:pPr algn="l" indent="0" marL="0">
              <a:buNone/>
            </a:pPr>
            <a:r>
              <a:rPr lang="en-US" sz="2000" b="1" dirty="0">
                <a:solidFill>
                  <a:schemeClr val="tx2"/>
                </a:solidFill>
                <a:latin typeface="+mj-lt" pitchFamily="34" charset="0"/>
                <a:ea typeface="+mj-lt" pitchFamily="34" charset="-122"/>
                <a:cs typeface="+mj-lt" pitchFamily="34" charset="-120"/>
              </a:rPr>
              <a:t>The method</a:t>
            </a:r>
            <a:endParaRPr lang="en-US" sz="2000" dirty="0"/>
          </a:p>
        </p:txBody>
      </p:sp>
      <p:sp>
        <p:nvSpPr>
          <p:cNvPr id="7" name="Column 1 points"/>
          <p:cNvSpPr txBox="1"/>
          <p:nvPr/>
        </p:nvSpPr>
        <p:spPr>
          <a:xfrm>
            <a:off x="685800" y="2468880"/>
            <a:ext cx="3119018" cy="2423160"/>
          </a:xfrm>
          <a:prstGeom prst="rect">
            <a:avLst/>
          </a:prstGeom>
          <a:noFill/>
          <a:ln/>
        </p:spPr>
        <p:txBody>
          <a:bodyPr wrap="square" lIns="0" tIns="0" rIns="0" bIns="0" rtlCol="0" anchor="t"/>
          <a:lstStyle/>
          <a:p>
            <a:pPr algn="l" marL="177800" indent="-177800">
              <a:spcAft>
                <a:spcPts val="600"/>
              </a:spcAft>
              <a:buSzPct val="100000"/>
              <a:buChar char="•"/>
            </a:pPr>
            <a:r>
              <a:rPr lang="en-US" sz="1400" dirty="0">
                <a:solidFill>
                  <a:schemeClr val="tx1"/>
                </a:solidFill>
              </a:rPr>
              <a:t>Register a 3D sensor to the robot from plane-to-plane correspondences</a:t>
            </a:r>
            <a:endParaRPr lang="en-US" sz="1400" dirty="0"/>
          </a:p>
          <a:p>
            <a:pPr algn="l" marL="177800" indent="-177800">
              <a:spcAft>
                <a:spcPts val="600"/>
              </a:spcAft>
              <a:buSzPct val="100000"/>
              <a:buChar char="•"/>
            </a:pPr>
            <a:r>
              <a:rPr lang="en-US" sz="1400" dirty="0">
                <a:solidFill>
                  <a:schemeClr val="tx1"/>
                </a:solidFill>
              </a:rPr>
              <a:t>One flat board on the flange, viewed at many poses; no 2D images, no spheres</a:t>
            </a:r>
            <a:endParaRPr lang="en-US" sz="1400" dirty="0"/>
          </a:p>
          <a:p>
            <a:pPr algn="l" marL="177800" indent="-177800">
              <a:spcAft>
                <a:spcPts val="600"/>
              </a:spcAft>
              <a:buSzPct val="100000"/>
              <a:buChar char="•"/>
            </a:pPr>
            <a:r>
              <a:rPr lang="en-US" sz="1400" dirty="0">
                <a:solidFill>
                  <a:schemeClr val="tx1"/>
                </a:solidFill>
              </a:rPr>
              <a:t>The sensor measures the board plane; the robot reports where the board is; the transform that maps one onto the other is the registration</a:t>
            </a:r>
            <a:endParaRPr lang="en-US" sz="1400" dirty="0"/>
          </a:p>
        </p:txBody>
      </p:sp>
      <p:sp>
        <p:nvSpPr>
          <p:cNvPr id="8" name="Column 2 card"/>
          <p:cNvSpPr/>
          <p:nvPr/>
        </p:nvSpPr>
        <p:spPr>
          <a:xfrm>
            <a:off x="4307738" y="1417320"/>
            <a:ext cx="3576218" cy="3703320"/>
          </a:xfrm>
          <a:prstGeom prst="roundRect">
            <a:avLst>
              <a:gd name="adj" fmla="val 3068"/>
            </a:avLst>
          </a:prstGeom>
          <a:solidFill>
            <a:schemeClr val="bg2"/>
          </a:solidFill>
          <a:ln/>
        </p:spPr>
      </p:sp>
      <p:sp>
        <p:nvSpPr>
          <p:cNvPr id="9" name="Column 2 icon circle"/>
          <p:cNvSpPr/>
          <p:nvPr/>
        </p:nvSpPr>
        <p:spPr>
          <a:xfrm>
            <a:off x="4536338" y="1645920"/>
            <a:ext cx="640080" cy="640080"/>
          </a:xfrm>
          <a:prstGeom prst="ellipse">
            <a:avLst/>
          </a:prstGeom>
          <a:solidFill>
            <a:schemeClr val="accent2"/>
          </a:solidFill>
          <a:ln/>
        </p:spPr>
      </p:sp>
      <p:pic>
        <p:nvPicPr>
          <p:cNvPr id="10" name="Column 2 icon glyph" descr="question icon">    </p:cNvPr>
          <p:cNvPicPr>
            <a:picLocks noChangeAspect="1"/>
          </p:cNvPicPr>
          <p:nvPr/>
        </p:nvPicPr>
        <p:blipFill>
          <a:blip r:embed="rId2"/>
          <a:stretch>
            <a:fillRect/>
          </a:stretch>
        </p:blipFill>
        <p:spPr>
          <a:xfrm>
            <a:off x="4696358" y="1805940"/>
            <a:ext cx="320040" cy="320040"/>
          </a:xfrm>
          <a:prstGeom prst="rect">
            <a:avLst/>
          </a:prstGeom>
        </p:spPr>
      </p:pic>
      <p:sp>
        <p:nvSpPr>
          <p:cNvPr id="11" name="Column 2 head"/>
          <p:cNvSpPr txBox="1"/>
          <p:nvPr/>
        </p:nvSpPr>
        <p:spPr>
          <a:xfrm>
            <a:off x="5359298" y="1645920"/>
            <a:ext cx="2296058" cy="640080"/>
          </a:xfrm>
          <a:prstGeom prst="rect">
            <a:avLst/>
          </a:prstGeom>
          <a:noFill/>
          <a:ln/>
        </p:spPr>
        <p:txBody>
          <a:bodyPr wrap="square" lIns="0" tIns="0" rIns="0" bIns="0" rtlCol="0" anchor="ctr"/>
          <a:lstStyle/>
          <a:p>
            <a:pPr algn="l" indent="0" marL="0">
              <a:buNone/>
            </a:pPr>
            <a:r>
              <a:rPr lang="en-US" sz="2000" b="1" dirty="0">
                <a:solidFill>
                  <a:schemeClr val="tx2"/>
                </a:solidFill>
                <a:latin typeface="+mj-lt" pitchFamily="34" charset="0"/>
                <a:ea typeface="+mj-lt" pitchFamily="34" charset="-122"/>
                <a:cs typeface="+mj-lt" pitchFamily="34" charset="-120"/>
              </a:rPr>
              <a:t>What is unproven</a:t>
            </a:r>
            <a:endParaRPr lang="en-US" sz="2000" dirty="0"/>
          </a:p>
        </p:txBody>
      </p:sp>
      <p:sp>
        <p:nvSpPr>
          <p:cNvPr id="12" name="Column 2 points"/>
          <p:cNvSpPr txBox="1"/>
          <p:nvPr/>
        </p:nvSpPr>
        <p:spPr>
          <a:xfrm>
            <a:off x="4536338" y="2468880"/>
            <a:ext cx="3119018" cy="2423160"/>
          </a:xfrm>
          <a:prstGeom prst="rect">
            <a:avLst/>
          </a:prstGeom>
          <a:noFill/>
          <a:ln/>
        </p:spPr>
        <p:txBody>
          <a:bodyPr wrap="square" lIns="0" tIns="0" rIns="0" bIns="0" rtlCol="0" anchor="t"/>
          <a:lstStyle/>
          <a:p>
            <a:pPr algn="l" marL="177800" indent="-177800">
              <a:spcAft>
                <a:spcPts val="600"/>
              </a:spcAft>
              <a:buSzPct val="100000"/>
              <a:buChar char="•"/>
            </a:pPr>
            <a:r>
              <a:rPr lang="en-US" sz="1400" dirty="0">
                <a:solidFill>
                  <a:schemeClr val="tx1"/>
                </a:solidFill>
              </a:rPr>
              <a:t>Everything so far was verified on synthetic data</a:t>
            </a:r>
            <a:endParaRPr lang="en-US" sz="1400" dirty="0"/>
          </a:p>
          <a:p>
            <a:pPr algn="l" marL="177800" indent="-177800">
              <a:spcAft>
                <a:spcPts val="600"/>
              </a:spcAft>
              <a:buSzPct val="100000"/>
              <a:buChar char="•"/>
            </a:pPr>
            <a:r>
              <a:rPr lang="en-US" sz="1400" dirty="0">
                <a:solidFill>
                  <a:schemeClr val="tx1"/>
                </a:solidFill>
              </a:rPr>
              <a:t>Whether the board is found and the planes fit cleanly on real captures</a:t>
            </a:r>
            <a:endParaRPr lang="en-US" sz="1400" dirty="0"/>
          </a:p>
          <a:p>
            <a:pPr algn="l" marL="177800" indent="-177800">
              <a:spcAft>
                <a:spcPts val="600"/>
              </a:spcAft>
              <a:buSzPct val="100000"/>
              <a:buChar char="•"/>
            </a:pPr>
            <a:r>
              <a:rPr lang="en-US" sz="1400" dirty="0">
                <a:solidFill>
                  <a:schemeClr val="tx1"/>
                </a:solidFill>
              </a:rPr>
              <a:t>Whether the robot's pose errors or the sensor's plane errors dominate</a:t>
            </a:r>
            <a:endParaRPr lang="en-US" sz="1400" dirty="0"/>
          </a:p>
          <a:p>
            <a:pPr algn="l" marL="177800" indent="-177800">
              <a:spcAft>
                <a:spcPts val="600"/>
              </a:spcAft>
              <a:buSzPct val="100000"/>
              <a:buChar char="•"/>
            </a:pPr>
            <a:r>
              <a:rPr lang="en-US" sz="1400" dirty="0">
                <a:solidFill>
                  <a:schemeClr val="tx1"/>
                </a:solidFill>
              </a:rPr>
              <a:t>How much gear backlash shifts the result</a:t>
            </a:r>
            <a:endParaRPr lang="en-US" sz="1400" dirty="0"/>
          </a:p>
        </p:txBody>
      </p:sp>
      <p:sp>
        <p:nvSpPr>
          <p:cNvPr id="13" name="Column 3 card"/>
          <p:cNvSpPr/>
          <p:nvPr/>
        </p:nvSpPr>
        <p:spPr>
          <a:xfrm>
            <a:off x="8158277" y="1417320"/>
            <a:ext cx="3576218" cy="3703320"/>
          </a:xfrm>
          <a:prstGeom prst="roundRect">
            <a:avLst>
              <a:gd name="adj" fmla="val 3068"/>
            </a:avLst>
          </a:prstGeom>
          <a:solidFill>
            <a:schemeClr val="bg2"/>
          </a:solidFill>
          <a:ln/>
        </p:spPr>
      </p:sp>
      <p:sp>
        <p:nvSpPr>
          <p:cNvPr id="14" name="Column 3 icon circle"/>
          <p:cNvSpPr/>
          <p:nvPr/>
        </p:nvSpPr>
        <p:spPr>
          <a:xfrm>
            <a:off x="8386877" y="1645920"/>
            <a:ext cx="640080" cy="640080"/>
          </a:xfrm>
          <a:prstGeom prst="ellipse">
            <a:avLst/>
          </a:prstGeom>
          <a:solidFill>
            <a:schemeClr val="accent2"/>
          </a:solidFill>
          <a:ln/>
        </p:spPr>
      </p:sp>
      <p:pic>
        <p:nvPicPr>
          <p:cNvPr id="15" name="Column 3 icon glyph" descr="clipboardCheck icon">    </p:cNvPr>
          <p:cNvPicPr>
            <a:picLocks noChangeAspect="1"/>
          </p:cNvPicPr>
          <p:nvPr/>
        </p:nvPicPr>
        <p:blipFill>
          <a:blip r:embed="rId3"/>
          <a:stretch>
            <a:fillRect/>
          </a:stretch>
        </p:blipFill>
        <p:spPr>
          <a:xfrm>
            <a:off x="8546897" y="1805940"/>
            <a:ext cx="320040" cy="320040"/>
          </a:xfrm>
          <a:prstGeom prst="rect">
            <a:avLst/>
          </a:prstGeom>
        </p:spPr>
      </p:pic>
      <p:sp>
        <p:nvSpPr>
          <p:cNvPr id="16" name="Column 3 head"/>
          <p:cNvSpPr txBox="1"/>
          <p:nvPr/>
        </p:nvSpPr>
        <p:spPr>
          <a:xfrm>
            <a:off x="9209837" y="1645920"/>
            <a:ext cx="2296058" cy="640080"/>
          </a:xfrm>
          <a:prstGeom prst="rect">
            <a:avLst/>
          </a:prstGeom>
          <a:noFill/>
          <a:ln/>
        </p:spPr>
        <p:txBody>
          <a:bodyPr wrap="square" lIns="0" tIns="0" rIns="0" bIns="0" rtlCol="0" anchor="ctr"/>
          <a:lstStyle/>
          <a:p>
            <a:pPr algn="l" indent="0" marL="0">
              <a:buNone/>
            </a:pPr>
            <a:r>
              <a:rPr lang="en-US" sz="2000" b="1" dirty="0">
                <a:solidFill>
                  <a:schemeClr val="tx2"/>
                </a:solidFill>
                <a:latin typeface="+mj-lt" pitchFamily="34" charset="0"/>
                <a:ea typeface="+mj-lt" pitchFamily="34" charset="-122"/>
                <a:cs typeface="+mj-lt" pitchFamily="34" charset="-120"/>
              </a:rPr>
              <a:t>What the session answers</a:t>
            </a:r>
            <a:endParaRPr lang="en-US" sz="2000" dirty="0"/>
          </a:p>
        </p:txBody>
      </p:sp>
      <p:sp>
        <p:nvSpPr>
          <p:cNvPr id="17" name="Column 3 points"/>
          <p:cNvSpPr txBox="1"/>
          <p:nvPr/>
        </p:nvSpPr>
        <p:spPr>
          <a:xfrm>
            <a:off x="8386877" y="2468880"/>
            <a:ext cx="3119018" cy="2423160"/>
          </a:xfrm>
          <a:prstGeom prst="rect">
            <a:avLst/>
          </a:prstGeom>
          <a:noFill/>
          <a:ln/>
        </p:spPr>
        <p:txBody>
          <a:bodyPr wrap="square" lIns="0" tIns="0" rIns="0" bIns="0" rtlCol="0" anchor="t"/>
          <a:lstStyle/>
          <a:p>
            <a:pPr algn="l" marL="177800" indent="-177800">
              <a:spcAft>
                <a:spcPts val="600"/>
              </a:spcAft>
              <a:buSzPct val="100000"/>
              <a:buChar char="•"/>
            </a:pPr>
            <a:r>
              <a:rPr lang="en-US" sz="1400" dirty="0">
                <a:solidFill>
                  <a:schemeClr val="tx1"/>
                </a:solidFill>
              </a:rPr>
              <a:t>The sensor-to-robot transform and its residuals on real data</a:t>
            </a:r>
            <a:endParaRPr lang="en-US" sz="1400" dirty="0"/>
          </a:p>
          <a:p>
            <a:pPr algn="l" marL="177800" indent="-177800">
              <a:spcAft>
                <a:spcPts val="600"/>
              </a:spcAft>
              <a:buSzPct val="100000"/>
              <a:buChar char="•"/>
            </a:pPr>
            <a:r>
              <a:rPr lang="en-US" sz="1400" dirty="0">
                <a:solidFill>
                  <a:schemeClr val="tx1"/>
                </a:solidFill>
              </a:rPr>
              <a:t>Residual maps that point at the robot or at the sensor</a:t>
            </a:r>
            <a:endParaRPr lang="en-US" sz="1400" dirty="0"/>
          </a:p>
          <a:p>
            <a:pPr algn="l" marL="177800" indent="-177800">
              <a:spcAft>
                <a:spcPts val="600"/>
              </a:spcAft>
              <a:buSzPct val="100000"/>
              <a:buChar char="•"/>
            </a:pPr>
            <a:r>
              <a:rPr lang="en-US" sz="1400" dirty="0">
                <a:solidFill>
                  <a:schemeClr val="tx1"/>
                </a:solidFill>
              </a:rPr>
              <a:t>Set A against set B: a constant backlash offset or random scatter</a:t>
            </a:r>
            <a:endParaRPr lang="en-US" sz="1400" dirty="0"/>
          </a:p>
          <a:p>
            <a:pPr algn="l" marL="177800" indent="-177800">
              <a:spcAft>
                <a:spcPts val="600"/>
              </a:spcAft>
              <a:buSzPct val="100000"/>
              <a:buChar char="•"/>
            </a:pPr>
            <a:r>
              <a:rPr lang="en-US" sz="1400" dirty="0">
                <a:solidFill>
                  <a:schemeClr val="tx1"/>
                </a:solidFill>
              </a:rPr>
              <a:t>Real residuals to set the tools' thresholds, which are placeholders today</a:t>
            </a:r>
            <a:endParaRPr lang="en-US" sz="1400" dirty="0"/>
          </a:p>
        </p:txBody>
      </p:sp>
      <p:sp>
        <p:nvSpPr>
          <p:cNvPr id="18" name="Message box"/>
          <p:cNvSpPr/>
          <p:nvPr/>
        </p:nvSpPr>
        <p:spPr>
          <a:xfrm>
            <a:off x="457200" y="5394960"/>
            <a:ext cx="11277295" cy="731520"/>
          </a:xfrm>
          <a:prstGeom prst="roundRect">
            <a:avLst>
              <a:gd name="adj" fmla="val 15000"/>
            </a:avLst>
          </a:prstGeom>
          <a:solidFill>
            <a:schemeClr val="bg2"/>
          </a:solidFill>
          <a:ln w="25400">
            <a:solidFill>
              <a:schemeClr val="accent1"/>
            </a:solidFill>
            <a:prstDash val="solid"/>
          </a:ln>
        </p:spPr>
      </p:sp>
      <p:sp>
        <p:nvSpPr>
          <p:cNvPr id="19" name="Message icon circle"/>
          <p:cNvSpPr/>
          <p:nvPr/>
        </p:nvSpPr>
        <p:spPr>
          <a:xfrm>
            <a:off x="685800" y="5440680"/>
            <a:ext cx="640080" cy="640080"/>
          </a:xfrm>
          <a:prstGeom prst="ellipse">
            <a:avLst/>
          </a:prstGeom>
          <a:solidFill>
            <a:schemeClr val="accent1"/>
          </a:solidFill>
          <a:ln/>
        </p:spPr>
      </p:sp>
      <p:pic>
        <p:nvPicPr>
          <p:cNvPr id="20" name="Message icon glyph" descr="tool icon">    </p:cNvPr>
          <p:cNvPicPr>
            <a:picLocks noChangeAspect="1"/>
          </p:cNvPicPr>
          <p:nvPr/>
        </p:nvPicPr>
        <p:blipFill>
          <a:blip r:embed="rId4"/>
          <a:stretch>
            <a:fillRect/>
          </a:stretch>
        </p:blipFill>
        <p:spPr>
          <a:xfrm>
            <a:off x="845820" y="5600700"/>
            <a:ext cx="320040" cy="320040"/>
          </a:xfrm>
          <a:prstGeom prst="rect">
            <a:avLst/>
          </a:prstGeom>
        </p:spPr>
      </p:pic>
      <p:sp>
        <p:nvSpPr>
          <p:cNvPr id="21" name="Key message"/>
          <p:cNvSpPr txBox="1"/>
          <p:nvPr/>
        </p:nvSpPr>
        <p:spPr>
          <a:xfrm>
            <a:off x="1508760" y="5394960"/>
            <a:ext cx="9997135" cy="731520"/>
          </a:xfrm>
          <a:prstGeom prst="rect">
            <a:avLst/>
          </a:prstGeom>
          <a:noFill/>
          <a:ln/>
        </p:spPr>
        <p:txBody>
          <a:bodyPr wrap="square" lIns="0" tIns="0" rIns="0" bIns="0" rtlCol="0" anchor="ctr"/>
          <a:lstStyle/>
          <a:p>
            <a:pPr algn="l" indent="0" marL="0">
              <a:buNone/>
            </a:pPr>
            <a:r>
              <a:rPr lang="en-US" sz="1800" b="1" dirty="0">
                <a:solidFill>
                  <a:schemeClr val="tx2"/>
                </a:solidFill>
              </a:rPr>
              <a:t>A few hundred poses decide whether a run of 1,000 or more is needed; that second run is planned only from this one's analysis.</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Two capture sets and an exact log of poses</a:t>
            </a:r>
            <a:endParaRPr lang="en-US" sz="3400" dirty="0"/>
          </a:p>
        </p:txBody>
      </p:sp>
      <p:sp>
        <p:nvSpPr>
          <p:cNvPr id="3" name="Stat 1 card"/>
          <p:cNvSpPr/>
          <p:nvPr/>
        </p:nvSpPr>
        <p:spPr>
          <a:xfrm>
            <a:off x="457200" y="1417320"/>
            <a:ext cx="3576218" cy="2560320"/>
          </a:xfrm>
          <a:prstGeom prst="roundRect">
            <a:avLst>
              <a:gd name="adj" fmla="val 4286"/>
            </a:avLst>
          </a:prstGeom>
          <a:solidFill>
            <a:schemeClr val="bg2"/>
          </a:solidFill>
          <a:ln/>
        </p:spPr>
      </p:sp>
      <p:sp>
        <p:nvSpPr>
          <p:cNvPr id="4" name="Stat 1 icon circle"/>
          <p:cNvSpPr/>
          <p:nvPr/>
        </p:nvSpPr>
        <p:spPr>
          <a:xfrm>
            <a:off x="685800" y="1645920"/>
            <a:ext cx="502920" cy="502920"/>
          </a:xfrm>
          <a:prstGeom prst="ellipse">
            <a:avLst/>
          </a:prstGeom>
          <a:solidFill>
            <a:schemeClr val="accent2"/>
          </a:solidFill>
          <a:ln/>
        </p:spPr>
      </p:sp>
      <p:pic>
        <p:nvPicPr>
          <p:cNvPr id="5" name="Stat 1 icon glyph" descr="clipboard icon">    </p:cNvPr>
          <p:cNvPicPr>
            <a:picLocks noChangeAspect="1"/>
          </p:cNvPicPr>
          <p:nvPr/>
        </p:nvPicPr>
        <p:blipFill>
          <a:blip r:embed="rId1"/>
          <a:stretch>
            <a:fillRect/>
          </a:stretch>
        </p:blipFill>
        <p:spPr>
          <a:xfrm>
            <a:off x="811530" y="1771650"/>
            <a:ext cx="251460" cy="251460"/>
          </a:xfrm>
          <a:prstGeom prst="rect">
            <a:avLst/>
          </a:prstGeom>
        </p:spPr>
      </p:pic>
      <p:sp>
        <p:nvSpPr>
          <p:cNvPr id="6" name="Stat 1 value"/>
          <p:cNvSpPr txBox="1"/>
          <p:nvPr/>
        </p:nvSpPr>
        <p:spPr>
          <a:xfrm>
            <a:off x="685800" y="2240280"/>
            <a:ext cx="3119018" cy="82296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235</a:t>
            </a:r>
            <a:endParaRPr lang="en-US" sz="5400" dirty="0"/>
          </a:p>
        </p:txBody>
      </p:sp>
      <p:sp>
        <p:nvSpPr>
          <p:cNvPr id="7" name="Stat 1 label"/>
          <p:cNvSpPr txBox="1"/>
          <p:nvPr/>
        </p:nvSpPr>
        <p:spPr>
          <a:xfrm>
            <a:off x="685800" y="3063240"/>
            <a:ext cx="3119018" cy="548640"/>
          </a:xfrm>
          <a:prstGeom prst="rect">
            <a:avLst/>
          </a:prstGeom>
          <a:noFill/>
          <a:ln/>
        </p:spPr>
        <p:txBody>
          <a:bodyPr wrap="square" lIns="0" tIns="0" rIns="0" bIns="0" rtlCol="0" anchor="t"/>
          <a:lstStyle/>
          <a:p>
            <a:pPr algn="l" indent="0" marL="0">
              <a:buNone/>
            </a:pPr>
            <a:r>
              <a:rPr lang="en-US" sz="1400" dirty="0">
                <a:solidFill>
                  <a:schemeClr val="tx1"/>
                </a:solidFill>
              </a:rPr>
              <a:t>robot poses, visited twice, 5 frames each</a:t>
            </a:r>
            <a:endParaRPr lang="en-US" sz="1400" dirty="0"/>
          </a:p>
        </p:txBody>
      </p:sp>
      <p:sp>
        <p:nvSpPr>
          <p:cNvPr id="8" name="Stat 2 card"/>
          <p:cNvSpPr/>
          <p:nvPr/>
        </p:nvSpPr>
        <p:spPr>
          <a:xfrm>
            <a:off x="4307738" y="1417320"/>
            <a:ext cx="3576218" cy="2560320"/>
          </a:xfrm>
          <a:prstGeom prst="roundRect">
            <a:avLst>
              <a:gd name="adj" fmla="val 4286"/>
            </a:avLst>
          </a:prstGeom>
          <a:solidFill>
            <a:schemeClr val="bg2"/>
          </a:solidFill>
          <a:ln/>
        </p:spPr>
      </p:sp>
      <p:sp>
        <p:nvSpPr>
          <p:cNvPr id="9" name="Stat 2 icon circle"/>
          <p:cNvSpPr/>
          <p:nvPr/>
        </p:nvSpPr>
        <p:spPr>
          <a:xfrm>
            <a:off x="4536338" y="1645920"/>
            <a:ext cx="502920" cy="502920"/>
          </a:xfrm>
          <a:prstGeom prst="ellipse">
            <a:avLst/>
          </a:prstGeom>
          <a:solidFill>
            <a:schemeClr val="accent2"/>
          </a:solidFill>
          <a:ln/>
        </p:spPr>
      </p:sp>
      <p:pic>
        <p:nvPicPr>
          <p:cNvPr id="10" name="Stat 2 icon glyph" descr="clock icon">    </p:cNvPr>
          <p:cNvPicPr>
            <a:picLocks noChangeAspect="1"/>
          </p:cNvPicPr>
          <p:nvPr/>
        </p:nvPicPr>
        <p:blipFill>
          <a:blip r:embed="rId2"/>
          <a:stretch>
            <a:fillRect/>
          </a:stretch>
        </p:blipFill>
        <p:spPr>
          <a:xfrm>
            <a:off x="4662068" y="1771650"/>
            <a:ext cx="251460" cy="251460"/>
          </a:xfrm>
          <a:prstGeom prst="rect">
            <a:avLst/>
          </a:prstGeom>
        </p:spPr>
      </p:pic>
      <p:sp>
        <p:nvSpPr>
          <p:cNvPr id="11" name="Stat 2 value"/>
          <p:cNvSpPr txBox="1"/>
          <p:nvPr/>
        </p:nvSpPr>
        <p:spPr>
          <a:xfrm>
            <a:off x="4536338" y="2240280"/>
            <a:ext cx="3119018" cy="82296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~3 h</a:t>
            </a:r>
            <a:endParaRPr lang="en-US" sz="5400" dirty="0"/>
          </a:p>
        </p:txBody>
      </p:sp>
      <p:sp>
        <p:nvSpPr>
          <p:cNvPr id="12" name="Stat 2 label"/>
          <p:cNvSpPr txBox="1"/>
          <p:nvPr/>
        </p:nvSpPr>
        <p:spPr>
          <a:xfrm>
            <a:off x="4536338" y="3063240"/>
            <a:ext cx="3119018" cy="548640"/>
          </a:xfrm>
          <a:prstGeom prst="rect">
            <a:avLst/>
          </a:prstGeom>
          <a:noFill/>
          <a:ln/>
        </p:spPr>
        <p:txBody>
          <a:bodyPr wrap="square" lIns="0" tIns="0" rIns="0" bIns="0" rtlCol="0" anchor="t"/>
          <a:lstStyle/>
          <a:p>
            <a:pPr algn="l" indent="0" marL="0">
              <a:buNone/>
            </a:pPr>
            <a:r>
              <a:rPr lang="en-US" sz="1400" dirty="0">
                <a:solidFill>
                  <a:schemeClr val="tx1"/>
                </a:solidFill>
              </a:rPr>
              <a:t>with setup and checks; about 80 minutes of robot time</a:t>
            </a:r>
            <a:endParaRPr lang="en-US" sz="1400" dirty="0"/>
          </a:p>
        </p:txBody>
      </p:sp>
      <p:sp>
        <p:nvSpPr>
          <p:cNvPr id="13" name="Stat 3 card"/>
          <p:cNvSpPr/>
          <p:nvPr/>
        </p:nvSpPr>
        <p:spPr>
          <a:xfrm>
            <a:off x="8158277" y="1417320"/>
            <a:ext cx="3576218" cy="2560320"/>
          </a:xfrm>
          <a:prstGeom prst="roundRect">
            <a:avLst>
              <a:gd name="adj" fmla="val 4286"/>
            </a:avLst>
          </a:prstGeom>
          <a:solidFill>
            <a:schemeClr val="bg2"/>
          </a:solidFill>
          <a:ln/>
        </p:spPr>
      </p:sp>
      <p:sp>
        <p:nvSpPr>
          <p:cNvPr id="14" name="Stat 3 icon circle"/>
          <p:cNvSpPr/>
          <p:nvPr/>
        </p:nvSpPr>
        <p:spPr>
          <a:xfrm>
            <a:off x="8386877" y="1645920"/>
            <a:ext cx="502920" cy="502920"/>
          </a:xfrm>
          <a:prstGeom prst="ellipse">
            <a:avLst/>
          </a:prstGeom>
          <a:solidFill>
            <a:schemeClr val="accent2"/>
          </a:solidFill>
          <a:ln/>
        </p:spPr>
      </p:sp>
      <p:pic>
        <p:nvPicPr>
          <p:cNvPr id="15" name="Stat 3 icon glyph" descr="bullseye icon">    </p:cNvPr>
          <p:cNvPicPr>
            <a:picLocks noChangeAspect="1"/>
          </p:cNvPicPr>
          <p:nvPr/>
        </p:nvPicPr>
        <p:blipFill>
          <a:blip r:embed="rId3"/>
          <a:stretch>
            <a:fillRect/>
          </a:stretch>
        </p:blipFill>
        <p:spPr>
          <a:xfrm>
            <a:off x="8512607" y="1771650"/>
            <a:ext cx="251460" cy="251460"/>
          </a:xfrm>
          <a:prstGeom prst="rect">
            <a:avLst/>
          </a:prstGeom>
        </p:spPr>
      </p:pic>
      <p:sp>
        <p:nvSpPr>
          <p:cNvPr id="16" name="Stat 3 value"/>
          <p:cNvSpPr txBox="1"/>
          <p:nvPr/>
        </p:nvSpPr>
        <p:spPr>
          <a:xfrm>
            <a:off x="8386877" y="2240280"/>
            <a:ext cx="3119018" cy="82296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2,350</a:t>
            </a:r>
            <a:endParaRPr lang="en-US" sz="5400" dirty="0"/>
          </a:p>
        </p:txBody>
      </p:sp>
      <p:sp>
        <p:nvSpPr>
          <p:cNvPr id="17" name="Stat 3 label"/>
          <p:cNvSpPr txBox="1"/>
          <p:nvPr/>
        </p:nvSpPr>
        <p:spPr>
          <a:xfrm>
            <a:off x="8386877" y="3063240"/>
            <a:ext cx="3119018" cy="548640"/>
          </a:xfrm>
          <a:prstGeom prst="rect">
            <a:avLst/>
          </a:prstGeom>
          <a:noFill/>
          <a:ln/>
        </p:spPr>
        <p:txBody>
          <a:bodyPr wrap="square" lIns="0" tIns="0" rIns="0" bIns="0" rtlCol="0" anchor="t"/>
          <a:lstStyle/>
          <a:p>
            <a:pPr algn="l" indent="0" marL="0">
              <a:buNone/>
            </a:pPr>
            <a:r>
              <a:rPr lang="en-US" sz="1400" dirty="0">
                <a:solidFill>
                  <a:schemeClr val="tx1"/>
                </a:solidFill>
              </a:rPr>
              <a:t>capture files, about 25 GB</a:t>
            </a:r>
            <a:endParaRPr lang="en-US" sz="1400" dirty="0"/>
          </a:p>
        </p:txBody>
      </p:sp>
      <p:sp>
        <p:nvSpPr>
          <p:cNvPr id="18" name="Message icon circle"/>
          <p:cNvSpPr/>
          <p:nvPr/>
        </p:nvSpPr>
        <p:spPr>
          <a:xfrm>
            <a:off x="457200" y="4297680"/>
            <a:ext cx="548640" cy="548640"/>
          </a:xfrm>
          <a:prstGeom prst="ellipse">
            <a:avLst/>
          </a:prstGeom>
          <a:solidFill>
            <a:schemeClr val="accent1"/>
          </a:solidFill>
          <a:ln/>
        </p:spPr>
      </p:sp>
      <p:pic>
        <p:nvPicPr>
          <p:cNvPr id="19" name="Message icon glyph" descr="table icon">    </p:cNvPr>
          <p:cNvPicPr>
            <a:picLocks noChangeAspect="1"/>
          </p:cNvPicPr>
          <p:nvPr/>
        </p:nvPicPr>
        <p:blipFill>
          <a:blip r:embed="rId4"/>
          <a:stretch>
            <a:fillRect/>
          </a:stretch>
        </p:blipFill>
        <p:spPr>
          <a:xfrm>
            <a:off x="594360" y="4434840"/>
            <a:ext cx="274320" cy="274320"/>
          </a:xfrm>
          <a:prstGeom prst="rect">
            <a:avLst/>
          </a:prstGeom>
        </p:spPr>
      </p:pic>
      <p:sp>
        <p:nvSpPr>
          <p:cNvPr id="20" name="Key message"/>
          <p:cNvSpPr txBox="1"/>
          <p:nvPr/>
        </p:nvSpPr>
        <p:spPr>
          <a:xfrm>
            <a:off x="1188720" y="4251960"/>
            <a:ext cx="10545775" cy="640080"/>
          </a:xfrm>
          <a:prstGeom prst="rect">
            <a:avLst/>
          </a:prstGeom>
          <a:noFill/>
          <a:ln/>
        </p:spPr>
        <p:txBody>
          <a:bodyPr wrap="square" lIns="0" tIns="0" rIns="0" bIns="0" rtlCol="0" anchor="ctr"/>
          <a:lstStyle/>
          <a:p>
            <a:pPr algn="l" indent="0" marL="0">
              <a:buNone/>
            </a:pPr>
            <a:r>
              <a:rPr lang="en-US" sz="2200" b="1" i="1" dirty="0">
                <a:solidFill>
                  <a:schemeClr val="tx2"/>
                </a:solidFill>
              </a:rPr>
              <a:t>If the pose log is wrong, the registration is wrong.</a:t>
            </a:r>
            <a:endParaRPr lang="en-US" sz="2200" dirty="0"/>
          </a:p>
        </p:txBody>
      </p:sp>
      <p:sp>
        <p:nvSpPr>
          <p:cNvPr id="21" name="Body"/>
          <p:cNvSpPr txBox="1"/>
          <p:nvPr/>
        </p:nvSpPr>
        <p:spPr>
          <a:xfrm>
            <a:off x="457200" y="5166360"/>
            <a:ext cx="11277295" cy="960120"/>
          </a:xfrm>
          <a:prstGeom prst="rect">
            <a:avLst/>
          </a:prstGeom>
          <a:noFill/>
          <a:ln/>
        </p:spPr>
        <p:txBody>
          <a:bodyPr wrap="square" lIns="0" tIns="0" rIns="0" bIns="0" rtlCol="0" anchor="t"/>
          <a:lstStyle/>
          <a:p>
            <a:pPr algn="l" indent="0" marL="0">
              <a:buNone/>
            </a:pPr>
            <a:r>
              <a:rPr lang="en-US" sz="2000" dirty="0">
                <a:solidFill>
                  <a:schemeClr val="tx1"/>
                </a:solidFill>
              </a:rPr>
              <a:t>Every capture file must be matched to exactly where the robot had put the board. The two capture sets come from one plan, driven straight to each pose and then via a standardized approach, so that the effect of gear backlash can be measured.</a:t>
            </a:r>
            <a:endParaRPr lang="en-US" sz="20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The session at a glance</a:t>
            </a:r>
            <a:endParaRPr lang="en-US" sz="3400" dirty="0"/>
          </a:p>
        </p:txBody>
      </p:sp>
      <p:sp>
        <p:nvSpPr>
          <p:cNvPr id="3" name="Step 1 card"/>
          <p:cNvSpPr/>
          <p:nvPr/>
        </p:nvSpPr>
        <p:spPr>
          <a:xfrm>
            <a:off x="457200" y="1417320"/>
            <a:ext cx="2407844" cy="2125980"/>
          </a:xfrm>
          <a:prstGeom prst="roundRect">
            <a:avLst>
              <a:gd name="adj" fmla="val 5161"/>
            </a:avLst>
          </a:prstGeom>
          <a:solidFill>
            <a:schemeClr val="bg2"/>
          </a:solidFill>
          <a:ln/>
        </p:spPr>
      </p:sp>
      <p:sp>
        <p:nvSpPr>
          <p:cNvPr id="4" name="Step 1 badge"/>
          <p:cNvSpPr txBox="1"/>
          <p:nvPr/>
        </p:nvSpPr>
        <p:spPr>
          <a:xfrm>
            <a:off x="685800"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Step 1 head"/>
          <p:cNvSpPr txBox="1"/>
          <p:nvPr/>
        </p:nvSpPr>
        <p:spPr>
          <a:xfrm>
            <a:off x="685800" y="224028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Prepare</a:t>
            </a:r>
            <a:endParaRPr lang="en-US" sz="1800" dirty="0"/>
          </a:p>
        </p:txBody>
      </p:sp>
      <p:sp>
        <p:nvSpPr>
          <p:cNvPr id="6" name="Step 1 text"/>
          <p:cNvSpPr txBox="1"/>
          <p:nvPr/>
        </p:nvSpPr>
        <p:spPr>
          <a:xfrm>
            <a:off x="685800" y="2560320"/>
            <a:ext cx="1950644" cy="754380"/>
          </a:xfrm>
          <a:prstGeom prst="rect">
            <a:avLst/>
          </a:prstGeom>
          <a:noFill/>
          <a:ln/>
        </p:spPr>
        <p:txBody>
          <a:bodyPr wrap="square" lIns="0" tIns="0" rIns="0" bIns="0" rtlCol="0" anchor="t"/>
          <a:lstStyle/>
          <a:p>
            <a:pPr algn="l" indent="0" marL="0">
              <a:buNone/>
            </a:pPr>
            <a:r>
              <a:rPr lang="en-US" sz="1400" dirty="0">
                <a:solidFill>
                  <a:schemeClr val="tx1"/>
                </a:solidFill>
              </a:rPr>
              <a:t>Warm up the sensor 30 min; fix exposure, gain and SGM parameters</a:t>
            </a:r>
            <a:endParaRPr lang="en-US" sz="1400" dirty="0"/>
          </a:p>
        </p:txBody>
      </p:sp>
      <p:sp>
        <p:nvSpPr>
          <p:cNvPr id="7" name="Arrow 1 to 2"/>
          <p:cNvSpPr/>
          <p:nvPr/>
        </p:nvSpPr>
        <p:spPr>
          <a:xfrm>
            <a:off x="3025064" y="2297430"/>
            <a:ext cx="228600" cy="365760"/>
          </a:xfrm>
          <a:prstGeom prst="chevron">
            <a:avLst/>
          </a:prstGeom>
          <a:solidFill>
            <a:schemeClr val="accent2"/>
          </a:solidFill>
          <a:ln/>
        </p:spPr>
      </p:sp>
      <p:sp>
        <p:nvSpPr>
          <p:cNvPr id="8" name="Step 2 card"/>
          <p:cNvSpPr/>
          <p:nvPr/>
        </p:nvSpPr>
        <p:spPr>
          <a:xfrm>
            <a:off x="3413684" y="1417320"/>
            <a:ext cx="2407844" cy="2125980"/>
          </a:xfrm>
          <a:prstGeom prst="roundRect">
            <a:avLst>
              <a:gd name="adj" fmla="val 5161"/>
            </a:avLst>
          </a:prstGeom>
          <a:solidFill>
            <a:schemeClr val="bg2"/>
          </a:solidFill>
          <a:ln/>
        </p:spPr>
      </p:sp>
      <p:sp>
        <p:nvSpPr>
          <p:cNvPr id="9" name="Step 2 badge"/>
          <p:cNvSpPr txBox="1"/>
          <p:nvPr/>
        </p:nvSpPr>
        <p:spPr>
          <a:xfrm>
            <a:off x="3642284"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Step 2 head"/>
          <p:cNvSpPr txBox="1"/>
          <p:nvPr/>
        </p:nvSpPr>
        <p:spPr>
          <a:xfrm>
            <a:off x="3642284" y="224028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Board frame</a:t>
            </a:r>
            <a:endParaRPr lang="en-US" sz="1800" dirty="0"/>
          </a:p>
        </p:txBody>
      </p:sp>
      <p:sp>
        <p:nvSpPr>
          <p:cNvPr id="11" name="Step 2 text"/>
          <p:cNvSpPr txBox="1"/>
          <p:nvPr/>
        </p:nvSpPr>
        <p:spPr>
          <a:xfrm>
            <a:off x="3642284" y="2560320"/>
            <a:ext cx="1950644" cy="754380"/>
          </a:xfrm>
          <a:prstGeom prst="rect">
            <a:avLst/>
          </a:prstGeom>
          <a:noFill/>
          <a:ln/>
        </p:spPr>
        <p:txBody>
          <a:bodyPr wrap="square" lIns="0" tIns="0" rIns="0" bIns="0" rtlCol="0" anchor="t"/>
          <a:lstStyle/>
          <a:p>
            <a:pPr algn="l" indent="0" marL="0">
              <a:buNone/>
            </a:pPr>
            <a:r>
              <a:rPr lang="en-US" sz="1400" dirty="0">
                <a:solidFill>
                  <a:schemeClr val="tx1"/>
                </a:solidFill>
              </a:rPr>
              <a:t>Mount the board; run-out check; measure D; set TOOL_BOARD</a:t>
            </a:r>
            <a:endParaRPr lang="en-US" sz="1400" dirty="0"/>
          </a:p>
        </p:txBody>
      </p:sp>
      <p:sp>
        <p:nvSpPr>
          <p:cNvPr id="12" name="Arrow 2 to 3"/>
          <p:cNvSpPr/>
          <p:nvPr/>
        </p:nvSpPr>
        <p:spPr>
          <a:xfrm>
            <a:off x="5981548" y="2297430"/>
            <a:ext cx="228600" cy="365760"/>
          </a:xfrm>
          <a:prstGeom prst="chevron">
            <a:avLst/>
          </a:prstGeom>
          <a:solidFill>
            <a:schemeClr val="accent2"/>
          </a:solidFill>
          <a:ln/>
        </p:spPr>
      </p:sp>
      <p:sp>
        <p:nvSpPr>
          <p:cNvPr id="13" name="Step 3 card"/>
          <p:cNvSpPr/>
          <p:nvPr/>
        </p:nvSpPr>
        <p:spPr>
          <a:xfrm>
            <a:off x="6370168" y="1417320"/>
            <a:ext cx="2407844" cy="2125980"/>
          </a:xfrm>
          <a:prstGeom prst="roundRect">
            <a:avLst>
              <a:gd name="adj" fmla="val 5161"/>
            </a:avLst>
          </a:prstGeom>
          <a:solidFill>
            <a:schemeClr val="bg2"/>
          </a:solidFill>
          <a:ln/>
        </p:spPr>
      </p:sp>
      <p:sp>
        <p:nvSpPr>
          <p:cNvPr id="14" name="Step 3 badge"/>
          <p:cNvSpPr txBox="1"/>
          <p:nvPr/>
        </p:nvSpPr>
        <p:spPr>
          <a:xfrm>
            <a:off x="6598768"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Step 3 head"/>
          <p:cNvSpPr txBox="1"/>
          <p:nvPr/>
        </p:nvSpPr>
        <p:spPr>
          <a:xfrm>
            <a:off x="6598768" y="224028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Locate sensor</a:t>
            </a:r>
            <a:endParaRPr lang="en-US" sz="1800" dirty="0"/>
          </a:p>
        </p:txBody>
      </p:sp>
      <p:sp>
        <p:nvSpPr>
          <p:cNvPr id="16" name="Step 3 text"/>
          <p:cNvSpPr txBox="1"/>
          <p:nvPr/>
        </p:nvSpPr>
        <p:spPr>
          <a:xfrm>
            <a:off x="6598768" y="2560320"/>
            <a:ext cx="1950644" cy="754380"/>
          </a:xfrm>
          <a:prstGeom prst="rect">
            <a:avLst/>
          </a:prstGeom>
          <a:noFill/>
          <a:ln/>
        </p:spPr>
        <p:txBody>
          <a:bodyPr wrap="square" lIns="0" tIns="0" rIns="0" bIns="0" rtlCol="0" anchor="t"/>
          <a:lstStyle/>
          <a:p>
            <a:pPr algn="l" indent="0" marL="0">
              <a:buNone/>
            </a:pPr>
            <a:r>
              <a:rPr lang="en-US" sz="1400" dirty="0">
                <a:solidFill>
                  <a:schemeClr val="tx1"/>
                </a:solidFill>
              </a:rPr>
              <a:t>Six hand-jogged captures give a rough sensor position</a:t>
            </a:r>
            <a:endParaRPr lang="en-US" sz="1400" dirty="0"/>
          </a:p>
        </p:txBody>
      </p:sp>
      <p:sp>
        <p:nvSpPr>
          <p:cNvPr id="17" name="Arrow 3 to 4"/>
          <p:cNvSpPr/>
          <p:nvPr/>
        </p:nvSpPr>
        <p:spPr>
          <a:xfrm>
            <a:off x="8938031" y="2297430"/>
            <a:ext cx="228600" cy="365760"/>
          </a:xfrm>
          <a:prstGeom prst="chevron">
            <a:avLst/>
          </a:prstGeom>
          <a:solidFill>
            <a:schemeClr val="accent2"/>
          </a:solidFill>
          <a:ln/>
        </p:spPr>
      </p:sp>
      <p:sp>
        <p:nvSpPr>
          <p:cNvPr id="18" name="Step 4 card"/>
          <p:cNvSpPr/>
          <p:nvPr/>
        </p:nvSpPr>
        <p:spPr>
          <a:xfrm>
            <a:off x="9326651" y="1417320"/>
            <a:ext cx="2407844" cy="2125980"/>
          </a:xfrm>
          <a:prstGeom prst="roundRect">
            <a:avLst>
              <a:gd name="adj" fmla="val 5161"/>
            </a:avLst>
          </a:prstGeom>
          <a:solidFill>
            <a:schemeClr val="bg2"/>
          </a:solidFill>
          <a:ln/>
        </p:spPr>
      </p:sp>
      <p:sp>
        <p:nvSpPr>
          <p:cNvPr id="19" name="Step 4 badge"/>
          <p:cNvSpPr txBox="1"/>
          <p:nvPr/>
        </p:nvSpPr>
        <p:spPr>
          <a:xfrm>
            <a:off x="9555251"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0" name="Step 4 head"/>
          <p:cNvSpPr txBox="1"/>
          <p:nvPr/>
        </p:nvSpPr>
        <p:spPr>
          <a:xfrm>
            <a:off x="9555251" y="224028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Plan poses</a:t>
            </a:r>
            <a:endParaRPr lang="en-US" sz="1800" dirty="0"/>
          </a:p>
        </p:txBody>
      </p:sp>
      <p:sp>
        <p:nvSpPr>
          <p:cNvPr id="21" name="Step 4 text"/>
          <p:cNvSpPr txBox="1"/>
          <p:nvPr/>
        </p:nvSpPr>
        <p:spPr>
          <a:xfrm>
            <a:off x="9555251" y="2560320"/>
            <a:ext cx="1950644" cy="754380"/>
          </a:xfrm>
          <a:prstGeom prst="rect">
            <a:avLst/>
          </a:prstGeom>
          <a:noFill/>
          <a:ln/>
        </p:spPr>
        <p:txBody>
          <a:bodyPr wrap="square" lIns="0" tIns="0" rIns="0" bIns="0" rtlCol="0" anchor="t"/>
          <a:lstStyle/>
          <a:p>
            <a:pPr algn="l" indent="0" marL="0">
              <a:buNone/>
            </a:pPr>
            <a:r>
              <a:rPr lang="en-US" sz="1400" dirty="0">
                <a:solidFill>
                  <a:schemeClr val="tx1"/>
                </a:solidFill>
              </a:rPr>
              <a:t>The plan tool writes poses.csv, a summary and a picture</a:t>
            </a:r>
            <a:endParaRPr lang="en-US" sz="1400" dirty="0"/>
          </a:p>
        </p:txBody>
      </p:sp>
      <p:sp>
        <p:nvSpPr>
          <p:cNvPr id="22" name="Step 5 card"/>
          <p:cNvSpPr/>
          <p:nvPr/>
        </p:nvSpPr>
        <p:spPr>
          <a:xfrm>
            <a:off x="457200" y="4000500"/>
            <a:ext cx="2407844" cy="2125980"/>
          </a:xfrm>
          <a:prstGeom prst="roundRect">
            <a:avLst>
              <a:gd name="adj" fmla="val 5161"/>
            </a:avLst>
          </a:prstGeom>
          <a:solidFill>
            <a:schemeClr val="bg2"/>
          </a:solidFill>
          <a:ln/>
        </p:spPr>
      </p:sp>
      <p:sp>
        <p:nvSpPr>
          <p:cNvPr id="23" name="Step 5 badge"/>
          <p:cNvSpPr txBox="1"/>
          <p:nvPr/>
        </p:nvSpPr>
        <p:spPr>
          <a:xfrm>
            <a:off x="685800" y="422910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4" name="Step 5 head"/>
          <p:cNvSpPr txBox="1"/>
          <p:nvPr/>
        </p:nvSpPr>
        <p:spPr>
          <a:xfrm>
            <a:off x="685800" y="482346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Capture A</a:t>
            </a:r>
            <a:endParaRPr lang="en-US" sz="1800" dirty="0"/>
          </a:p>
        </p:txBody>
      </p:sp>
      <p:sp>
        <p:nvSpPr>
          <p:cNvPr id="25" name="Step 5 text"/>
          <p:cNvSpPr txBox="1"/>
          <p:nvPr/>
        </p:nvSpPr>
        <p:spPr>
          <a:xfrm>
            <a:off x="685800" y="5143500"/>
            <a:ext cx="1950644" cy="754380"/>
          </a:xfrm>
          <a:prstGeom prst="rect">
            <a:avLst/>
          </a:prstGeom>
          <a:noFill/>
          <a:ln/>
        </p:spPr>
        <p:txBody>
          <a:bodyPr wrap="square" lIns="0" tIns="0" rIns="0" bIns="0" rtlCol="0" anchor="t"/>
          <a:lstStyle/>
          <a:p>
            <a:pPr algn="l" indent="0" marL="0">
              <a:buNone/>
            </a:pPr>
            <a:r>
              <a:rPr lang="en-US" sz="1400" dirty="0">
                <a:solidFill>
                  <a:schemeClr val="tx1"/>
                </a:solidFill>
              </a:rPr>
              <a:t>Straight to each pose; manifest and check</a:t>
            </a:r>
            <a:endParaRPr lang="en-US" sz="1400" dirty="0"/>
          </a:p>
        </p:txBody>
      </p:sp>
      <p:sp>
        <p:nvSpPr>
          <p:cNvPr id="26" name="Arrow 5 to 6"/>
          <p:cNvSpPr/>
          <p:nvPr/>
        </p:nvSpPr>
        <p:spPr>
          <a:xfrm>
            <a:off x="3025064" y="4880610"/>
            <a:ext cx="228600" cy="365760"/>
          </a:xfrm>
          <a:prstGeom prst="chevron">
            <a:avLst/>
          </a:prstGeom>
          <a:solidFill>
            <a:schemeClr val="accent2"/>
          </a:solidFill>
          <a:ln/>
        </p:spPr>
      </p:sp>
      <p:sp>
        <p:nvSpPr>
          <p:cNvPr id="27" name="Step 6 card"/>
          <p:cNvSpPr/>
          <p:nvPr/>
        </p:nvSpPr>
        <p:spPr>
          <a:xfrm>
            <a:off x="3413684" y="4000500"/>
            <a:ext cx="2407844" cy="2125980"/>
          </a:xfrm>
          <a:prstGeom prst="roundRect">
            <a:avLst>
              <a:gd name="adj" fmla="val 5161"/>
            </a:avLst>
          </a:prstGeom>
          <a:solidFill>
            <a:schemeClr val="bg2"/>
          </a:solidFill>
          <a:ln/>
        </p:spPr>
      </p:sp>
      <p:sp>
        <p:nvSpPr>
          <p:cNvPr id="28" name="Step 6 badge"/>
          <p:cNvSpPr txBox="1"/>
          <p:nvPr/>
        </p:nvSpPr>
        <p:spPr>
          <a:xfrm>
            <a:off x="3642284" y="422910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9" name="Step 6 head"/>
          <p:cNvSpPr txBox="1"/>
          <p:nvPr/>
        </p:nvSpPr>
        <p:spPr>
          <a:xfrm>
            <a:off x="3642284" y="482346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Capture B</a:t>
            </a:r>
            <a:endParaRPr lang="en-US" sz="1800" dirty="0"/>
          </a:p>
        </p:txBody>
      </p:sp>
      <p:sp>
        <p:nvSpPr>
          <p:cNvPr id="30" name="Step 6 text"/>
          <p:cNvSpPr txBox="1"/>
          <p:nvPr/>
        </p:nvSpPr>
        <p:spPr>
          <a:xfrm>
            <a:off x="3642284" y="5143500"/>
            <a:ext cx="1950644" cy="754380"/>
          </a:xfrm>
          <a:prstGeom prst="rect">
            <a:avLst/>
          </a:prstGeom>
          <a:noFill/>
          <a:ln/>
        </p:spPr>
        <p:txBody>
          <a:bodyPr wrap="square" lIns="0" tIns="0" rIns="0" bIns="0" rtlCol="0" anchor="t"/>
          <a:lstStyle/>
          <a:p>
            <a:pPr algn="l" indent="0" marL="0">
              <a:buNone/>
            </a:pPr>
            <a:r>
              <a:rPr lang="en-US" sz="1400" dirty="0">
                <a:solidFill>
                  <a:schemeClr val="tx1"/>
                </a:solidFill>
              </a:rPr>
              <a:t>Via the approach pose; manifest and check</a:t>
            </a:r>
            <a:endParaRPr lang="en-US" sz="1400" dirty="0"/>
          </a:p>
        </p:txBody>
      </p:sp>
      <p:sp>
        <p:nvSpPr>
          <p:cNvPr id="31" name="Arrow 6 to 7"/>
          <p:cNvSpPr/>
          <p:nvPr/>
        </p:nvSpPr>
        <p:spPr>
          <a:xfrm>
            <a:off x="5981548" y="4880610"/>
            <a:ext cx="228600" cy="365760"/>
          </a:xfrm>
          <a:prstGeom prst="chevron">
            <a:avLst/>
          </a:prstGeom>
          <a:solidFill>
            <a:schemeClr val="accent2"/>
          </a:solidFill>
          <a:ln/>
        </p:spPr>
      </p:sp>
      <p:sp>
        <p:nvSpPr>
          <p:cNvPr id="32" name="Step 7 card"/>
          <p:cNvSpPr/>
          <p:nvPr/>
        </p:nvSpPr>
        <p:spPr>
          <a:xfrm>
            <a:off x="6370168" y="4000500"/>
            <a:ext cx="2407844" cy="2125980"/>
          </a:xfrm>
          <a:prstGeom prst="roundRect">
            <a:avLst>
              <a:gd name="adj" fmla="val 5161"/>
            </a:avLst>
          </a:prstGeom>
          <a:solidFill>
            <a:schemeClr val="bg2"/>
          </a:solidFill>
          <a:ln/>
        </p:spPr>
      </p:sp>
      <p:sp>
        <p:nvSpPr>
          <p:cNvPr id="33" name="Step 7 badge"/>
          <p:cNvSpPr txBox="1"/>
          <p:nvPr/>
        </p:nvSpPr>
        <p:spPr>
          <a:xfrm>
            <a:off x="6598768" y="422910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34" name="Step 7 head"/>
          <p:cNvSpPr txBox="1"/>
          <p:nvPr/>
        </p:nvSpPr>
        <p:spPr>
          <a:xfrm>
            <a:off x="6598768" y="482346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Hand over</a:t>
            </a:r>
            <a:endParaRPr lang="en-US" sz="1800" dirty="0"/>
          </a:p>
        </p:txBody>
      </p:sp>
      <p:sp>
        <p:nvSpPr>
          <p:cNvPr id="35" name="Step 7 text"/>
          <p:cNvSpPr txBox="1"/>
          <p:nvPr/>
        </p:nvSpPr>
        <p:spPr>
          <a:xfrm>
            <a:off x="6598768" y="5143500"/>
            <a:ext cx="1950644" cy="754380"/>
          </a:xfrm>
          <a:prstGeom prst="rect">
            <a:avLst/>
          </a:prstGeom>
          <a:noFill/>
          <a:ln/>
        </p:spPr>
        <p:txBody>
          <a:bodyPr wrap="square" lIns="0" tIns="0" rIns="0" bIns="0" rtlCol="0" anchor="t"/>
          <a:lstStyle/>
          <a:p>
            <a:pPr algn="l" indent="0" marL="0">
              <a:buNone/>
            </a:pPr>
            <a:r>
              <a:rPr lang="en-US" sz="1400" dirty="0">
                <a:solidFill>
                  <a:schemeClr val="tx1"/>
                </a:solidFill>
              </a:rPr>
              <a:t>Folders, pose logs, manifests, checks, notes, photos</a:t>
            </a:r>
            <a:endParaRPr lang="en-US" sz="1400" dirty="0"/>
          </a:p>
        </p:txBody>
      </p:sp>
      <p:sp>
        <p:nvSpPr>
          <p:cNvPr id="36" name="Return connector down"/>
          <p:cNvSpPr/>
          <p:nvPr/>
        </p:nvSpPr>
        <p:spPr>
          <a:xfrm>
            <a:off x="10530573" y="3543300"/>
            <a:ext cx="0" cy="228600"/>
          </a:xfrm>
          <a:prstGeom prst="line">
            <a:avLst/>
          </a:prstGeom>
          <a:noFill/>
          <a:ln w="25400">
            <a:solidFill>
              <a:schemeClr val="accent2"/>
            </a:solidFill>
            <a:prstDash val="solid"/>
          </a:ln>
        </p:spPr>
      </p:sp>
      <p:sp>
        <p:nvSpPr>
          <p:cNvPr id="37" name="Return connector across"/>
          <p:cNvSpPr/>
          <p:nvPr/>
        </p:nvSpPr>
        <p:spPr>
          <a:xfrm>
            <a:off x="1661122" y="3771900"/>
            <a:ext cx="8869451" cy="0"/>
          </a:xfrm>
          <a:prstGeom prst="line">
            <a:avLst/>
          </a:prstGeom>
          <a:noFill/>
          <a:ln w="25400">
            <a:solidFill>
              <a:schemeClr val="accent2"/>
            </a:solidFill>
            <a:prstDash val="solid"/>
          </a:ln>
        </p:spPr>
      </p:sp>
      <p:sp>
        <p:nvSpPr>
          <p:cNvPr id="38" name="Return connector into row 2"/>
          <p:cNvSpPr/>
          <p:nvPr/>
        </p:nvSpPr>
        <p:spPr>
          <a:xfrm>
            <a:off x="1661122" y="3771900"/>
            <a:ext cx="0" cy="45720"/>
          </a:xfrm>
          <a:prstGeom prst="line">
            <a:avLst/>
          </a:prstGeom>
          <a:noFill/>
          <a:ln w="25400">
            <a:solidFill>
              <a:schemeClr val="accent2"/>
            </a:solidFill>
            <a:prstDash val="solid"/>
          </a:ln>
        </p:spPr>
      </p:sp>
      <p:sp>
        <p:nvSpPr>
          <p:cNvPr id="39" name="Return connector arrowhead"/>
          <p:cNvSpPr/>
          <p:nvPr/>
        </p:nvSpPr>
        <p:spPr>
          <a:xfrm flipV="1">
            <a:off x="1523962" y="3817620"/>
            <a:ext cx="274320" cy="182880"/>
          </a:xfrm>
          <a:prstGeom prst="triangle">
            <a:avLst/>
          </a:prstGeom>
          <a:solidFill>
            <a:schemeClr val="accent2"/>
          </a:solidFill>
          <a:ln/>
        </p:spPr>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Preparation before the first session</a:t>
            </a:r>
            <a:endParaRPr lang="en-US" sz="3400" dirty="0"/>
          </a:p>
        </p:txBody>
      </p:sp>
      <p:sp>
        <p:nvSpPr>
          <p:cNvPr id="3" name="Column 1 card"/>
          <p:cNvSpPr/>
          <p:nvPr/>
        </p:nvSpPr>
        <p:spPr>
          <a:xfrm>
            <a:off x="457200" y="1417320"/>
            <a:ext cx="3576218" cy="3703320"/>
          </a:xfrm>
          <a:prstGeom prst="roundRect">
            <a:avLst>
              <a:gd name="adj" fmla="val 3068"/>
            </a:avLst>
          </a:prstGeom>
          <a:solidFill>
            <a:schemeClr val="bg2"/>
          </a:solidFill>
          <a:ln/>
        </p:spPr>
      </p:sp>
      <p:sp>
        <p:nvSpPr>
          <p:cNvPr id="4" name="Column 1 icon circle"/>
          <p:cNvSpPr/>
          <p:nvPr/>
        </p:nvSpPr>
        <p:spPr>
          <a:xfrm>
            <a:off x="685800" y="1645920"/>
            <a:ext cx="640080" cy="640080"/>
          </a:xfrm>
          <a:prstGeom prst="ellipse">
            <a:avLst/>
          </a:prstGeom>
          <a:solidFill>
            <a:schemeClr val="accent2"/>
          </a:solidFill>
          <a:ln/>
        </p:spPr>
      </p:sp>
      <p:pic>
        <p:nvPicPr>
          <p:cNvPr id="5" name="Column 1 icon glyph" descr="robot icon">    </p:cNvPr>
          <p:cNvPicPr>
            <a:picLocks noChangeAspect="1"/>
          </p:cNvPicPr>
          <p:nvPr/>
        </p:nvPicPr>
        <p:blipFill>
          <a:blip r:embed="rId1"/>
          <a:stretch>
            <a:fillRect/>
          </a:stretch>
        </p:blipFill>
        <p:spPr>
          <a:xfrm>
            <a:off x="845820" y="1805940"/>
            <a:ext cx="320040" cy="320040"/>
          </a:xfrm>
          <a:prstGeom prst="rect">
            <a:avLst/>
          </a:prstGeom>
        </p:spPr>
      </p:pic>
      <p:sp>
        <p:nvSpPr>
          <p:cNvPr id="6" name="Column 1 head"/>
          <p:cNvSpPr txBox="1"/>
          <p:nvPr/>
        </p:nvSpPr>
        <p:spPr>
          <a:xfrm>
            <a:off x="1508760" y="1645920"/>
            <a:ext cx="2296058" cy="640080"/>
          </a:xfrm>
          <a:prstGeom prst="rect">
            <a:avLst/>
          </a:prstGeom>
          <a:noFill/>
          <a:ln/>
        </p:spPr>
        <p:txBody>
          <a:bodyPr wrap="square" lIns="0" tIns="0" rIns="0" bIns="0" rtlCol="0" anchor="ctr"/>
          <a:lstStyle/>
          <a:p>
            <a:pPr algn="l" indent="0" marL="0">
              <a:buNone/>
            </a:pPr>
            <a:r>
              <a:rPr lang="en-US" sz="2000" b="1" dirty="0">
                <a:solidFill>
                  <a:schemeClr val="tx2"/>
                </a:solidFill>
                <a:latin typeface="+mj-lt" pitchFamily="34" charset="0"/>
                <a:ea typeface="+mj-lt" pitchFamily="34" charset="-122"/>
                <a:cs typeface="+mj-lt" pitchFamily="34" charset="-120"/>
              </a:rPr>
              <a:t>Robot</a:t>
            </a:r>
            <a:endParaRPr lang="en-US" sz="2000" dirty="0"/>
          </a:p>
        </p:txBody>
      </p:sp>
      <p:sp>
        <p:nvSpPr>
          <p:cNvPr id="7" name="Column 1 points"/>
          <p:cNvSpPr txBox="1"/>
          <p:nvPr/>
        </p:nvSpPr>
        <p:spPr>
          <a:xfrm>
            <a:off x="685800" y="2468880"/>
            <a:ext cx="3119018" cy="2423160"/>
          </a:xfrm>
          <a:prstGeom prst="rect">
            <a:avLst/>
          </a:prstGeom>
          <a:noFill/>
          <a:ln/>
        </p:spPr>
        <p:txBody>
          <a:bodyPr wrap="square" lIns="0" tIns="0" rIns="0" bIns="0" rtlCol="0" anchor="t"/>
          <a:lstStyle/>
          <a:p>
            <a:pPr algn="l" marL="177800" indent="-177800">
              <a:spcAft>
                <a:spcPts val="600"/>
              </a:spcAft>
              <a:buSzPct val="100000"/>
              <a:buChar char="•"/>
            </a:pPr>
            <a:r>
              <a:rPr lang="en-US" sz="1400" dirty="0">
                <a:solidFill>
                  <a:schemeClr val="tx1"/>
                </a:solidFill>
              </a:rPr>
              <a:t>Check the documented absolute accuracy: 0.1 mm or better</a:t>
            </a:r>
            <a:endParaRPr lang="en-US" sz="1400" dirty="0"/>
          </a:p>
          <a:p>
            <a:pPr algn="l" marL="177800" indent="-177800">
              <a:spcAft>
                <a:spcPts val="600"/>
              </a:spcAft>
              <a:buSzPct val="100000"/>
              <a:buChar char="•"/>
            </a:pPr>
            <a:r>
              <a:rPr lang="en-US" sz="1400" dirty="0">
                <a:solidFill>
                  <a:schemeClr val="tx1"/>
                </a:solidFill>
              </a:rPr>
              <a:t>Weigh the board with its adapter; enter its tool load data</a:t>
            </a:r>
            <a:endParaRPr lang="en-US" sz="1400" dirty="0"/>
          </a:p>
          <a:p>
            <a:pPr algn="l" marL="177800" indent="-177800">
              <a:spcAft>
                <a:spcPts val="600"/>
              </a:spcAft>
              <a:buSzPct val="100000"/>
              <a:buChar char="•"/>
            </a:pPr>
            <a:r>
              <a:rPr lang="en-US" sz="1400" dirty="0">
                <a:solidFill>
                  <a:schemeClr val="tx1"/>
                </a:solidFill>
              </a:rPr>
              <a:t>Write the robot program; note where it writes the pose logs</a:t>
            </a:r>
            <a:endParaRPr lang="en-US" sz="1400" dirty="0"/>
          </a:p>
          <a:p>
            <a:pPr algn="l" marL="177800" indent="-177800">
              <a:spcAft>
                <a:spcPts val="600"/>
              </a:spcAft>
              <a:buSzPct val="100000"/>
              <a:buChar char="•"/>
            </a:pPr>
            <a:r>
              <a:rPr lang="en-US" sz="1400" dirty="0">
                <a:solidFill>
                  <a:schemeClr val="tx1"/>
                </a:solidFill>
              </a:rPr>
              <a:t>Dry-run every pose at reduced speed, in both sub-procedures</a:t>
            </a:r>
            <a:endParaRPr lang="en-US" sz="1400" dirty="0"/>
          </a:p>
          <a:p>
            <a:pPr algn="l" marL="177800" indent="-177800">
              <a:spcAft>
                <a:spcPts val="600"/>
              </a:spcAft>
              <a:buSzPct val="100000"/>
              <a:buChar char="•"/>
            </a:pPr>
            <a:r>
              <a:rPr lang="en-US" sz="1400" dirty="0">
                <a:solidFill>
                  <a:schemeClr val="tx1"/>
                </a:solidFill>
              </a:rPr>
              <a:t>Safety review of the new program</a:t>
            </a:r>
            <a:endParaRPr lang="en-US" sz="1400" dirty="0"/>
          </a:p>
        </p:txBody>
      </p:sp>
      <p:sp>
        <p:nvSpPr>
          <p:cNvPr id="8" name="Column 2 card"/>
          <p:cNvSpPr/>
          <p:nvPr/>
        </p:nvSpPr>
        <p:spPr>
          <a:xfrm>
            <a:off x="4307738" y="1417320"/>
            <a:ext cx="3576218" cy="3703320"/>
          </a:xfrm>
          <a:prstGeom prst="roundRect">
            <a:avLst>
              <a:gd name="adj" fmla="val 3068"/>
            </a:avLst>
          </a:prstGeom>
          <a:solidFill>
            <a:schemeClr val="bg2"/>
          </a:solidFill>
          <a:ln/>
        </p:spPr>
      </p:sp>
      <p:sp>
        <p:nvSpPr>
          <p:cNvPr id="9" name="Column 2 icon circle"/>
          <p:cNvSpPr/>
          <p:nvPr/>
        </p:nvSpPr>
        <p:spPr>
          <a:xfrm>
            <a:off x="4536338" y="1645920"/>
            <a:ext cx="640080" cy="640080"/>
          </a:xfrm>
          <a:prstGeom prst="ellipse">
            <a:avLst/>
          </a:prstGeom>
          <a:solidFill>
            <a:schemeClr val="accent2"/>
          </a:solidFill>
          <a:ln/>
        </p:spPr>
      </p:sp>
      <p:pic>
        <p:nvPicPr>
          <p:cNvPr id="10" name="Column 2 icon glyph" descr="camera icon">    </p:cNvPr>
          <p:cNvPicPr>
            <a:picLocks noChangeAspect="1"/>
          </p:cNvPicPr>
          <p:nvPr/>
        </p:nvPicPr>
        <p:blipFill>
          <a:blip r:embed="rId2"/>
          <a:stretch>
            <a:fillRect/>
          </a:stretch>
        </p:blipFill>
        <p:spPr>
          <a:xfrm>
            <a:off x="4696358" y="1805940"/>
            <a:ext cx="320040" cy="320040"/>
          </a:xfrm>
          <a:prstGeom prst="rect">
            <a:avLst/>
          </a:prstGeom>
        </p:spPr>
      </p:pic>
      <p:sp>
        <p:nvSpPr>
          <p:cNvPr id="11" name="Column 2 head"/>
          <p:cNvSpPr txBox="1"/>
          <p:nvPr/>
        </p:nvSpPr>
        <p:spPr>
          <a:xfrm>
            <a:off x="5359298" y="1645920"/>
            <a:ext cx="2296058" cy="640080"/>
          </a:xfrm>
          <a:prstGeom prst="rect">
            <a:avLst/>
          </a:prstGeom>
          <a:noFill/>
          <a:ln/>
        </p:spPr>
        <p:txBody>
          <a:bodyPr wrap="square" lIns="0" tIns="0" rIns="0" bIns="0" rtlCol="0" anchor="ctr"/>
          <a:lstStyle/>
          <a:p>
            <a:pPr algn="l" indent="0" marL="0">
              <a:buNone/>
            </a:pPr>
            <a:r>
              <a:rPr lang="en-US" sz="2000" b="1" dirty="0">
                <a:solidFill>
                  <a:schemeClr val="tx2"/>
                </a:solidFill>
                <a:latin typeface="+mj-lt" pitchFamily="34" charset="0"/>
                <a:ea typeface="+mj-lt" pitchFamily="34" charset="-122"/>
                <a:cs typeface="+mj-lt" pitchFamily="34" charset="-120"/>
              </a:rPr>
              <a:t>Sensor and computers</a:t>
            </a:r>
            <a:endParaRPr lang="en-US" sz="2000" dirty="0"/>
          </a:p>
        </p:txBody>
      </p:sp>
      <p:sp>
        <p:nvSpPr>
          <p:cNvPr id="12" name="Column 2 points"/>
          <p:cNvSpPr txBox="1"/>
          <p:nvPr/>
        </p:nvSpPr>
        <p:spPr>
          <a:xfrm>
            <a:off x="4536338" y="2468880"/>
            <a:ext cx="3119018" cy="2423160"/>
          </a:xfrm>
          <a:prstGeom prst="rect">
            <a:avLst/>
          </a:prstGeom>
          <a:noFill/>
          <a:ln/>
        </p:spPr>
        <p:txBody>
          <a:bodyPr wrap="square" lIns="0" tIns="0" rIns="0" bIns="0" rtlCol="0" anchor="t"/>
          <a:lstStyle/>
          <a:p>
            <a:pPr algn="l" marL="177800" indent="-177800">
              <a:spcAft>
                <a:spcPts val="600"/>
              </a:spcAft>
              <a:buSzPct val="100000"/>
              <a:buChar char="•"/>
            </a:pPr>
            <a:r>
              <a:rPr lang="en-US" sz="1400" dirty="0">
                <a:solidFill>
                  <a:schemeClr val="tx1"/>
                </a:solidFill>
              </a:rPr>
              <a:t>Capture software set for the trigger and the &lt;pose_id&gt;_Index&lt;nn&gt; file names</a:t>
            </a:r>
            <a:endParaRPr lang="en-US" sz="1400" dirty="0"/>
          </a:p>
          <a:p>
            <a:pPr algn="l" marL="177800" indent="-177800">
              <a:spcAft>
                <a:spcPts val="600"/>
              </a:spcAft>
              <a:buSzPct val="100000"/>
              <a:buChar char="•"/>
            </a:pPr>
            <a:r>
              <a:rPr lang="en-US" sz="1400" dirty="0">
                <a:solidFill>
                  <a:schemeClr val="tx1"/>
                </a:solidFill>
              </a:rPr>
              <a:t>Exposure, gain and SGM parameters set and recorded: smoothing filters off, installation patch size</a:t>
            </a:r>
            <a:endParaRPr lang="en-US" sz="1400" dirty="0"/>
          </a:p>
          <a:p>
            <a:pPr algn="l" marL="177800" indent="-177800">
              <a:spcAft>
                <a:spcPts val="600"/>
              </a:spcAft>
              <a:buSzPct val="100000"/>
              <a:buChar char="•"/>
            </a:pPr>
            <a:r>
              <a:rPr lang="en-US" sz="1400" dirty="0">
                <a:solidFill>
                  <a:schemeClr val="tx1"/>
                </a:solidFill>
              </a:rPr>
              <a:t>At least 25 GB free for the default plan</a:t>
            </a:r>
            <a:endParaRPr lang="en-US" sz="1400" dirty="0"/>
          </a:p>
          <a:p>
            <a:pPr algn="l" marL="177800" indent="-177800">
              <a:spcAft>
                <a:spcPts val="600"/>
              </a:spcAft>
              <a:buSzPct val="100000"/>
              <a:buChar char="•"/>
            </a:pPr>
            <a:r>
              <a:rPr lang="en-US" sz="1400" dirty="0">
                <a:solidFill>
                  <a:schemeClr val="tx1"/>
                </a:solidFill>
              </a:rPr>
              <a:t>Both software packages installed and self-tested</a:t>
            </a:r>
            <a:endParaRPr lang="en-US" sz="1400" dirty="0"/>
          </a:p>
        </p:txBody>
      </p:sp>
      <p:sp>
        <p:nvSpPr>
          <p:cNvPr id="13" name="Column 3 card"/>
          <p:cNvSpPr/>
          <p:nvPr/>
        </p:nvSpPr>
        <p:spPr>
          <a:xfrm>
            <a:off x="8158277" y="1417320"/>
            <a:ext cx="3576218" cy="3703320"/>
          </a:xfrm>
          <a:prstGeom prst="roundRect">
            <a:avLst>
              <a:gd name="adj" fmla="val 3068"/>
            </a:avLst>
          </a:prstGeom>
          <a:solidFill>
            <a:schemeClr val="bg2"/>
          </a:solidFill>
          <a:ln/>
        </p:spPr>
      </p:sp>
      <p:sp>
        <p:nvSpPr>
          <p:cNvPr id="14" name="Column 3 icon circle"/>
          <p:cNvSpPr/>
          <p:nvPr/>
        </p:nvSpPr>
        <p:spPr>
          <a:xfrm>
            <a:off x="8386877" y="1645920"/>
            <a:ext cx="640080" cy="640080"/>
          </a:xfrm>
          <a:prstGeom prst="ellipse">
            <a:avLst/>
          </a:prstGeom>
          <a:solidFill>
            <a:schemeClr val="accent2"/>
          </a:solidFill>
          <a:ln/>
        </p:spPr>
      </p:sp>
      <p:pic>
        <p:nvPicPr>
          <p:cNvPr id="15" name="Column 3 icon glyph" descr="layout icon">    </p:cNvPr>
          <p:cNvPicPr>
            <a:picLocks noChangeAspect="1"/>
          </p:cNvPicPr>
          <p:nvPr/>
        </p:nvPicPr>
        <p:blipFill>
          <a:blip r:embed="rId3"/>
          <a:stretch>
            <a:fillRect/>
          </a:stretch>
        </p:blipFill>
        <p:spPr>
          <a:xfrm>
            <a:off x="8546897" y="1805940"/>
            <a:ext cx="320040" cy="320040"/>
          </a:xfrm>
          <a:prstGeom prst="rect">
            <a:avLst/>
          </a:prstGeom>
        </p:spPr>
      </p:pic>
      <p:sp>
        <p:nvSpPr>
          <p:cNvPr id="16" name="Column 3 head"/>
          <p:cNvSpPr txBox="1"/>
          <p:nvPr/>
        </p:nvSpPr>
        <p:spPr>
          <a:xfrm>
            <a:off x="9209837" y="1645920"/>
            <a:ext cx="2296058" cy="640080"/>
          </a:xfrm>
          <a:prstGeom prst="rect">
            <a:avLst/>
          </a:prstGeom>
          <a:noFill/>
          <a:ln/>
        </p:spPr>
        <p:txBody>
          <a:bodyPr wrap="square" lIns="0" tIns="0" rIns="0" bIns="0" rtlCol="0" anchor="ctr"/>
          <a:lstStyle/>
          <a:p>
            <a:pPr algn="l" indent="0" marL="0">
              <a:buNone/>
            </a:pPr>
            <a:r>
              <a:rPr lang="en-US" sz="2000" b="1" dirty="0">
                <a:solidFill>
                  <a:schemeClr val="tx2"/>
                </a:solidFill>
                <a:latin typeface="+mj-lt" pitchFamily="34" charset="0"/>
                <a:ea typeface="+mj-lt" pitchFamily="34" charset="-122"/>
                <a:cs typeface="+mj-lt" pitchFamily="34" charset="-120"/>
              </a:rPr>
              <a:t>Cell</a:t>
            </a:r>
            <a:endParaRPr lang="en-US" sz="2000" dirty="0"/>
          </a:p>
        </p:txBody>
      </p:sp>
      <p:sp>
        <p:nvSpPr>
          <p:cNvPr id="17" name="Column 3 points"/>
          <p:cNvSpPr txBox="1"/>
          <p:nvPr/>
        </p:nvSpPr>
        <p:spPr>
          <a:xfrm>
            <a:off x="8386877" y="2468880"/>
            <a:ext cx="3119018" cy="2423160"/>
          </a:xfrm>
          <a:prstGeom prst="rect">
            <a:avLst/>
          </a:prstGeom>
          <a:noFill/>
          <a:ln/>
        </p:spPr>
        <p:txBody>
          <a:bodyPr wrap="square" lIns="0" tIns="0" rIns="0" bIns="0" rtlCol="0" anchor="t"/>
          <a:lstStyle/>
          <a:p>
            <a:pPr algn="l" marL="177800" indent="-177800">
              <a:spcAft>
                <a:spcPts val="600"/>
              </a:spcAft>
              <a:buSzPct val="100000"/>
              <a:buChar char="•"/>
            </a:pPr>
            <a:r>
              <a:rPr lang="en-US" sz="1400" dirty="0">
                <a:solidFill>
                  <a:schemeClr val="tx1"/>
                </a:solidFill>
              </a:rPr>
              <a:t>Layout study: board centers 550 to 950 mm from the sensor, tilted up to 30 degrees, inside the robot's reach</a:t>
            </a:r>
            <a:endParaRPr lang="en-US" sz="1400" dirty="0"/>
          </a:p>
          <a:p>
            <a:pPr algn="l" marL="177800" indent="-177800">
              <a:spcAft>
                <a:spcPts val="600"/>
              </a:spcAft>
              <a:buSzPct val="100000"/>
              <a:buChar char="•"/>
            </a:pPr>
            <a:r>
              <a:rPr lang="en-US" sz="1400" dirty="0">
                <a:solidFill>
                  <a:schemeClr val="tx1"/>
                </a:solidFill>
              </a:rPr>
              <a:t>Run-out base plate bolted to the table</a:t>
            </a:r>
            <a:endParaRPr lang="en-US" sz="1400" dirty="0"/>
          </a:p>
          <a:p>
            <a:pPr algn="l" marL="177800" indent="-177800">
              <a:spcAft>
                <a:spcPts val="600"/>
              </a:spcAft>
              <a:buSzPct val="100000"/>
              <a:buChar char="•"/>
            </a:pPr>
            <a:r>
              <a:rPr lang="en-US" sz="1400" dirty="0">
                <a:solidFill>
                  <a:schemeClr val="tx1"/>
                </a:solidFill>
              </a:rPr>
              <a:t>Robot base frame identified and recorded</a:t>
            </a:r>
            <a:endParaRPr lang="en-US" sz="1400" dirty="0"/>
          </a:p>
        </p:txBody>
      </p:sp>
      <p:sp>
        <p:nvSpPr>
          <p:cNvPr id="18" name="Message box"/>
          <p:cNvSpPr/>
          <p:nvPr/>
        </p:nvSpPr>
        <p:spPr>
          <a:xfrm>
            <a:off x="457200" y="5394960"/>
            <a:ext cx="11277295" cy="731520"/>
          </a:xfrm>
          <a:prstGeom prst="roundRect">
            <a:avLst>
              <a:gd name="adj" fmla="val 15000"/>
            </a:avLst>
          </a:prstGeom>
          <a:solidFill>
            <a:schemeClr val="bg2"/>
          </a:solidFill>
          <a:ln w="25400">
            <a:solidFill>
              <a:schemeClr val="accent1"/>
            </a:solidFill>
            <a:prstDash val="solid"/>
          </a:ln>
        </p:spPr>
      </p:sp>
      <p:sp>
        <p:nvSpPr>
          <p:cNvPr id="19" name="Message icon circle"/>
          <p:cNvSpPr/>
          <p:nvPr/>
        </p:nvSpPr>
        <p:spPr>
          <a:xfrm>
            <a:off x="685800" y="5440680"/>
            <a:ext cx="640080" cy="640080"/>
          </a:xfrm>
          <a:prstGeom prst="ellipse">
            <a:avLst/>
          </a:prstGeom>
          <a:solidFill>
            <a:schemeClr val="accent1"/>
          </a:solidFill>
          <a:ln/>
        </p:spPr>
      </p:sp>
      <p:pic>
        <p:nvPicPr>
          <p:cNvPr id="20" name="Message icon glyph" descr="tool icon">    </p:cNvPr>
          <p:cNvPicPr>
            <a:picLocks noChangeAspect="1"/>
          </p:cNvPicPr>
          <p:nvPr/>
        </p:nvPicPr>
        <p:blipFill>
          <a:blip r:embed="rId4"/>
          <a:stretch>
            <a:fillRect/>
          </a:stretch>
        </p:blipFill>
        <p:spPr>
          <a:xfrm>
            <a:off x="845820" y="5600700"/>
            <a:ext cx="320040" cy="320040"/>
          </a:xfrm>
          <a:prstGeom prst="rect">
            <a:avLst/>
          </a:prstGeom>
        </p:spPr>
      </p:pic>
      <p:sp>
        <p:nvSpPr>
          <p:cNvPr id="21" name="Key message"/>
          <p:cNvSpPr txBox="1"/>
          <p:nvPr/>
        </p:nvSpPr>
        <p:spPr>
          <a:xfrm>
            <a:off x="1508760" y="5394960"/>
            <a:ext cx="9997135" cy="731520"/>
          </a:xfrm>
          <a:prstGeom prst="rect">
            <a:avLst/>
          </a:prstGeom>
          <a:noFill/>
          <a:ln/>
        </p:spPr>
        <p:txBody>
          <a:bodyPr wrap="square" lIns="0" tIns="0" rIns="0" bIns="0" rtlCol="0" anchor="ctr"/>
          <a:lstStyle/>
          <a:p>
            <a:pPr algn="l" indent="0" marL="0">
              <a:buNone/>
            </a:pPr>
            <a:r>
              <a:rPr lang="en-US" sz="1800" b="1" dirty="0">
                <a:solidFill>
                  <a:schemeClr val="tx2"/>
                </a:solidFill>
              </a:rPr>
              <a:t>The board, the adapter and the tools themselves are in the procurement and build deck, and in section 1 of the procedure.</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The board's tool frame sits on its front face</a:t>
            </a:r>
            <a:endParaRPr lang="en-US" sz="3400" dirty="0"/>
          </a:p>
        </p:txBody>
      </p:sp>
      <p:pic>
        <p:nvPicPr>
          <p:cNvPr id="3" name="Flange, adapter and board in section, with the board's tool frame" descr="Flange, adapter and board in section, with the board's tool frame">    </p:cNvPr>
          <p:cNvPicPr>
            <a:picLocks noChangeAspect="1"/>
          </p:cNvPicPr>
          <p:nvPr/>
        </p:nvPicPr>
        <p:blipFill>
          <a:blip r:embed="rId1"/>
          <a:stretch>
            <a:fillRect/>
          </a:stretch>
        </p:blipFill>
        <p:spPr>
          <a:xfrm>
            <a:off x="457200" y="2556233"/>
            <a:ext cx="6217920" cy="2431334"/>
          </a:xfrm>
          <a:prstGeom prst="rect">
            <a:avLst/>
          </a:prstGeom>
        </p:spPr>
      </p:pic>
      <p:sp>
        <p:nvSpPr>
          <p:cNvPr id="4" name="Flange, adapter and board in section, with the board's tool frame frame"/>
          <p:cNvSpPr/>
          <p:nvPr/>
        </p:nvSpPr>
        <p:spPr>
          <a:xfrm>
            <a:off x="457200" y="2556233"/>
            <a:ext cx="6217920" cy="2431334"/>
          </a:xfrm>
          <a:prstGeom prst="rect">
            <a:avLst/>
          </a:prstGeom>
          <a:ln w="12700">
            <a:solidFill>
              <a:schemeClr val="accent6"/>
            </a:solidFill>
            <a:prstDash val="solid"/>
          </a:ln>
        </p:spPr>
      </p:sp>
      <p:sp>
        <p:nvSpPr>
          <p:cNvPr id="5" name="Board point icon 1 circle"/>
          <p:cNvSpPr/>
          <p:nvPr/>
        </p:nvSpPr>
        <p:spPr>
          <a:xfrm>
            <a:off x="6949440" y="1487170"/>
            <a:ext cx="411480" cy="411480"/>
          </a:xfrm>
          <a:prstGeom prst="ellipse">
            <a:avLst/>
          </a:prstGeom>
          <a:solidFill>
            <a:schemeClr val="accent2"/>
          </a:solidFill>
          <a:ln/>
        </p:spPr>
      </p:sp>
      <p:pic>
        <p:nvPicPr>
          <p:cNvPr id="6" name="Board point icon 1 glyph" descr="check icon">    </p:cNvPr>
          <p:cNvPicPr>
            <a:picLocks noChangeAspect="1"/>
          </p:cNvPicPr>
          <p:nvPr/>
        </p:nvPicPr>
        <p:blipFill>
          <a:blip r:embed="rId2"/>
          <a:stretch>
            <a:fillRect/>
          </a:stretch>
        </p:blipFill>
        <p:spPr>
          <a:xfrm>
            <a:off x="7052310" y="1590040"/>
            <a:ext cx="205740" cy="205740"/>
          </a:xfrm>
          <a:prstGeom prst="rect">
            <a:avLst/>
          </a:prstGeom>
        </p:spPr>
      </p:pic>
      <p:sp>
        <p:nvSpPr>
          <p:cNvPr id="7" name="Board point text 1"/>
          <p:cNvSpPr txBox="1"/>
          <p:nvPr/>
        </p:nvSpPr>
        <p:spPr>
          <a:xfrm>
            <a:off x="7543800" y="1417320"/>
            <a:ext cx="4190695" cy="551180"/>
          </a:xfrm>
          <a:prstGeom prst="rect">
            <a:avLst/>
          </a:prstGeom>
          <a:noFill/>
          <a:ln/>
        </p:spPr>
        <p:txBody>
          <a:bodyPr wrap="square" lIns="0" tIns="0" rIns="0" bIns="0" rtlCol="0" anchor="ctr"/>
          <a:lstStyle/>
          <a:p>
            <a:pPr algn="l" indent="0" marL="0">
              <a:buNone/>
            </a:pPr>
            <a:r>
              <a:rPr lang="en-US" sz="1600" dirty="0">
                <a:solidFill>
                  <a:schemeClr val="tx1"/>
                </a:solidFill>
              </a:rPr>
              <a:t>Run-out: turn joint 6 through 360 degrees; the dial indicator stays within 0.05 mm</a:t>
            </a:r>
            <a:endParaRPr lang="en-US" sz="1600" dirty="0"/>
          </a:p>
        </p:txBody>
      </p:sp>
      <p:sp>
        <p:nvSpPr>
          <p:cNvPr id="8" name="Board point icon 2 circle"/>
          <p:cNvSpPr/>
          <p:nvPr/>
        </p:nvSpPr>
        <p:spPr>
          <a:xfrm>
            <a:off x="6949440" y="2221230"/>
            <a:ext cx="411480" cy="411480"/>
          </a:xfrm>
          <a:prstGeom prst="ellipse">
            <a:avLst/>
          </a:prstGeom>
          <a:solidFill>
            <a:schemeClr val="accent2"/>
          </a:solidFill>
          <a:ln/>
        </p:spPr>
      </p:sp>
      <p:pic>
        <p:nvPicPr>
          <p:cNvPr id="9" name="Board point icon 2 glyph" descr="check icon">    </p:cNvPr>
          <p:cNvPicPr>
            <a:picLocks noChangeAspect="1"/>
          </p:cNvPicPr>
          <p:nvPr/>
        </p:nvPicPr>
        <p:blipFill>
          <a:blip r:embed="rId3"/>
          <a:stretch>
            <a:fillRect/>
          </a:stretch>
        </p:blipFill>
        <p:spPr>
          <a:xfrm>
            <a:off x="7052310" y="2324100"/>
            <a:ext cx="205740" cy="205740"/>
          </a:xfrm>
          <a:prstGeom prst="rect">
            <a:avLst/>
          </a:prstGeom>
        </p:spPr>
      </p:pic>
      <p:sp>
        <p:nvSpPr>
          <p:cNvPr id="10" name="Board point text 2"/>
          <p:cNvSpPr txBox="1"/>
          <p:nvPr/>
        </p:nvSpPr>
        <p:spPr>
          <a:xfrm>
            <a:off x="7543800" y="2151380"/>
            <a:ext cx="4190695" cy="551180"/>
          </a:xfrm>
          <a:prstGeom prst="rect">
            <a:avLst/>
          </a:prstGeom>
          <a:noFill/>
          <a:ln/>
        </p:spPr>
        <p:txBody>
          <a:bodyPr wrap="square" lIns="0" tIns="0" rIns="0" bIns="0" rtlCol="0" anchor="ctr"/>
          <a:lstStyle/>
          <a:p>
            <a:pPr algn="l" indent="0" marL="0">
              <a:buNone/>
            </a:pPr>
            <a:r>
              <a:rPr lang="en-US" sz="1600" dirty="0">
                <a:solidFill>
                  <a:schemeClr val="tx1"/>
                </a:solidFill>
              </a:rPr>
              <a:t>Measure the flange-to-face distance D at four places; they agree within 0.05 mm</a:t>
            </a:r>
            <a:endParaRPr lang="en-US" sz="1600" dirty="0"/>
          </a:p>
        </p:txBody>
      </p:sp>
      <p:sp>
        <p:nvSpPr>
          <p:cNvPr id="11" name="Board point icon 3 circle"/>
          <p:cNvSpPr/>
          <p:nvPr/>
        </p:nvSpPr>
        <p:spPr>
          <a:xfrm>
            <a:off x="6949440" y="3077210"/>
            <a:ext cx="411480" cy="411480"/>
          </a:xfrm>
          <a:prstGeom prst="ellipse">
            <a:avLst/>
          </a:prstGeom>
          <a:solidFill>
            <a:schemeClr val="accent2"/>
          </a:solidFill>
          <a:ln/>
        </p:spPr>
      </p:sp>
      <p:pic>
        <p:nvPicPr>
          <p:cNvPr id="12" name="Board point icon 3 glyph" descr="check icon">    </p:cNvPr>
          <p:cNvPicPr>
            <a:picLocks noChangeAspect="1"/>
          </p:cNvPicPr>
          <p:nvPr/>
        </p:nvPicPr>
        <p:blipFill>
          <a:blip r:embed="rId4"/>
          <a:stretch>
            <a:fillRect/>
          </a:stretch>
        </p:blipFill>
        <p:spPr>
          <a:xfrm>
            <a:off x="7052310" y="3180080"/>
            <a:ext cx="205740" cy="205740"/>
          </a:xfrm>
          <a:prstGeom prst="rect">
            <a:avLst/>
          </a:prstGeom>
        </p:spPr>
      </p:pic>
      <p:sp>
        <p:nvSpPr>
          <p:cNvPr id="13" name="Board point text 3"/>
          <p:cNvSpPr txBox="1"/>
          <p:nvPr/>
        </p:nvSpPr>
        <p:spPr>
          <a:xfrm>
            <a:off x="7543800" y="2885440"/>
            <a:ext cx="4190695" cy="795020"/>
          </a:xfrm>
          <a:prstGeom prst="rect">
            <a:avLst/>
          </a:prstGeom>
          <a:noFill/>
          <a:ln/>
        </p:spPr>
        <p:txBody>
          <a:bodyPr wrap="square" lIns="0" tIns="0" rIns="0" bIns="0" rtlCol="0" anchor="ctr"/>
          <a:lstStyle/>
          <a:p>
            <a:pPr algn="l" indent="0" marL="0">
              <a:buNone/>
            </a:pPr>
            <a:r>
              <a:rPr lang="en-US" sz="1600" dirty="0">
                <a:solidFill>
                  <a:schemeClr val="tx1"/>
                </a:solidFill>
              </a:rPr>
              <a:t>Tool frame: origin at the face center, z out of the face toward the sensor, x along the long edge</a:t>
            </a:r>
            <a:endParaRPr lang="en-US" sz="1600" dirty="0"/>
          </a:p>
        </p:txBody>
      </p:sp>
      <p:sp>
        <p:nvSpPr>
          <p:cNvPr id="14" name="Board point icon 4 circle"/>
          <p:cNvSpPr/>
          <p:nvPr/>
        </p:nvSpPr>
        <p:spPr>
          <a:xfrm>
            <a:off x="6949440" y="3933190"/>
            <a:ext cx="411480" cy="411480"/>
          </a:xfrm>
          <a:prstGeom prst="ellipse">
            <a:avLst/>
          </a:prstGeom>
          <a:solidFill>
            <a:schemeClr val="accent2"/>
          </a:solidFill>
          <a:ln/>
        </p:spPr>
      </p:sp>
      <p:pic>
        <p:nvPicPr>
          <p:cNvPr id="15" name="Board point icon 4 glyph" descr="check icon">    </p:cNvPr>
          <p:cNvPicPr>
            <a:picLocks noChangeAspect="1"/>
          </p:cNvPicPr>
          <p:nvPr/>
        </p:nvPicPr>
        <p:blipFill>
          <a:blip r:embed="rId5"/>
          <a:stretch>
            <a:fillRect/>
          </a:stretch>
        </p:blipFill>
        <p:spPr>
          <a:xfrm>
            <a:off x="7052310" y="4036060"/>
            <a:ext cx="205740" cy="205740"/>
          </a:xfrm>
          <a:prstGeom prst="rect">
            <a:avLst/>
          </a:prstGeom>
        </p:spPr>
      </p:pic>
      <p:sp>
        <p:nvSpPr>
          <p:cNvPr id="16" name="Board point text 4"/>
          <p:cNvSpPr txBox="1"/>
          <p:nvPr/>
        </p:nvSpPr>
        <p:spPr>
          <a:xfrm>
            <a:off x="7543800" y="3863340"/>
            <a:ext cx="4190695" cy="551180"/>
          </a:xfrm>
          <a:prstGeom prst="rect">
            <a:avLst/>
          </a:prstGeom>
          <a:noFill/>
          <a:ln/>
        </p:spPr>
        <p:txBody>
          <a:bodyPr wrap="square" lIns="0" tIns="0" rIns="0" bIns="0" rtlCol="0" anchor="ctr"/>
          <a:lstStyle/>
          <a:p>
            <a:pPr algn="l" indent="0" marL="0">
              <a:buNone/>
            </a:pPr>
            <a:r>
              <a:rPr lang="en-US" sz="1600" dirty="0">
                <a:solidFill>
                  <a:schemeClr val="tx1"/>
                </a:solidFill>
              </a:rPr>
              <a:t>A few degrees of error in x is harmless; an error in z is not</a:t>
            </a:r>
            <a:endParaRPr lang="en-US" sz="1600" dirty="0"/>
          </a:p>
        </p:txBody>
      </p:sp>
      <p:sp>
        <p:nvSpPr>
          <p:cNvPr id="17" name="Board point icon 5 circle"/>
          <p:cNvSpPr/>
          <p:nvPr/>
        </p:nvSpPr>
        <p:spPr>
          <a:xfrm>
            <a:off x="6949440" y="4667250"/>
            <a:ext cx="411480" cy="411480"/>
          </a:xfrm>
          <a:prstGeom prst="ellipse">
            <a:avLst/>
          </a:prstGeom>
          <a:solidFill>
            <a:schemeClr val="accent2"/>
          </a:solidFill>
          <a:ln/>
        </p:spPr>
      </p:sp>
      <p:pic>
        <p:nvPicPr>
          <p:cNvPr id="18" name="Board point icon 5 glyph" descr="check icon">    </p:cNvPr>
          <p:cNvPicPr>
            <a:picLocks noChangeAspect="1"/>
          </p:cNvPicPr>
          <p:nvPr/>
        </p:nvPicPr>
        <p:blipFill>
          <a:blip r:embed="rId6"/>
          <a:stretch>
            <a:fillRect/>
          </a:stretch>
        </p:blipFill>
        <p:spPr>
          <a:xfrm>
            <a:off x="7052310" y="4770120"/>
            <a:ext cx="205740" cy="205740"/>
          </a:xfrm>
          <a:prstGeom prst="rect">
            <a:avLst/>
          </a:prstGeom>
        </p:spPr>
      </p:pic>
      <p:sp>
        <p:nvSpPr>
          <p:cNvPr id="19" name="Board point text 5"/>
          <p:cNvSpPr txBox="1"/>
          <p:nvPr/>
        </p:nvSpPr>
        <p:spPr>
          <a:xfrm>
            <a:off x="7543800" y="4597400"/>
            <a:ext cx="4190695" cy="551180"/>
          </a:xfrm>
          <a:prstGeom prst="rect">
            <a:avLst/>
          </a:prstGeom>
          <a:noFill/>
          <a:ln/>
        </p:spPr>
        <p:txBody>
          <a:bodyPr wrap="square" lIns="0" tIns="0" rIns="0" bIns="0" rtlCol="0" anchor="ctr"/>
          <a:lstStyle/>
          <a:p>
            <a:pPr algn="l" indent="0" marL="0">
              <a:buNone/>
            </a:pPr>
            <a:r>
              <a:rPr lang="en-US" sz="1600" dirty="0">
                <a:solidFill>
                  <a:schemeClr val="tx1"/>
                </a:solidFill>
              </a:rPr>
              <a:t>Save as TOOL_BOARD with its load data; record D, the run-out and the board size</a:t>
            </a:r>
            <a:endParaRPr lang="en-US" sz="1600" dirty="0"/>
          </a:p>
        </p:txBody>
      </p:sp>
      <p:sp>
        <p:nvSpPr>
          <p:cNvPr id="20" name="Board point icon 6 circle"/>
          <p:cNvSpPr/>
          <p:nvPr/>
        </p:nvSpPr>
        <p:spPr>
          <a:xfrm>
            <a:off x="6949440" y="5523230"/>
            <a:ext cx="411480" cy="411480"/>
          </a:xfrm>
          <a:prstGeom prst="ellipse">
            <a:avLst/>
          </a:prstGeom>
          <a:solidFill>
            <a:schemeClr val="accent2"/>
          </a:solidFill>
          <a:ln/>
        </p:spPr>
      </p:sp>
      <p:pic>
        <p:nvPicPr>
          <p:cNvPr id="21" name="Board point icon 6 glyph" descr="check icon">    </p:cNvPr>
          <p:cNvPicPr>
            <a:picLocks noChangeAspect="1"/>
          </p:cNvPicPr>
          <p:nvPr/>
        </p:nvPicPr>
        <p:blipFill>
          <a:blip r:embed="rId7"/>
          <a:stretch>
            <a:fillRect/>
          </a:stretch>
        </p:blipFill>
        <p:spPr>
          <a:xfrm>
            <a:off x="7052310" y="5626100"/>
            <a:ext cx="205740" cy="205740"/>
          </a:xfrm>
          <a:prstGeom prst="rect">
            <a:avLst/>
          </a:prstGeom>
        </p:spPr>
      </p:pic>
      <p:sp>
        <p:nvSpPr>
          <p:cNvPr id="22" name="Board point text 6"/>
          <p:cNvSpPr txBox="1"/>
          <p:nvPr/>
        </p:nvSpPr>
        <p:spPr>
          <a:xfrm>
            <a:off x="7543800" y="5331460"/>
            <a:ext cx="4190695" cy="795020"/>
          </a:xfrm>
          <a:prstGeom prst="rect">
            <a:avLst/>
          </a:prstGeom>
          <a:noFill/>
          <a:ln/>
        </p:spPr>
        <p:txBody>
          <a:bodyPr wrap="square" lIns="0" tIns="0" rIns="0" bIns="0" rtlCol="0" anchor="ctr"/>
          <a:lstStyle/>
          <a:p>
            <a:pPr algn="l" indent="0" marL="0">
              <a:buNone/>
            </a:pPr>
            <a:r>
              <a:rPr lang="en-US" sz="1600" dirty="0">
                <a:solidFill>
                  <a:schemeClr val="tx1"/>
                </a:solidFill>
              </a:rPr>
              <a:t>After any remount: run-out and D again, and the saved reference pose captured again (procedure section 3)</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Six captures locate the sensor roughly</a:t>
            </a:r>
            <a:endParaRPr lang="en-US" sz="3400" dirty="0"/>
          </a:p>
        </p:txBody>
      </p:sp>
      <p:sp>
        <p:nvSpPr>
          <p:cNvPr id="3" name="Sensor body"/>
          <p:cNvSpPr/>
          <p:nvPr/>
        </p:nvSpPr>
        <p:spPr>
          <a:xfrm>
            <a:off x="457200" y="1417320"/>
            <a:ext cx="1097280" cy="2743200"/>
          </a:xfrm>
          <a:prstGeom prst="roundRect">
            <a:avLst>
              <a:gd name="adj" fmla="val 10000"/>
            </a:avLst>
          </a:prstGeom>
          <a:solidFill>
            <a:schemeClr val="tx2"/>
          </a:solidFill>
          <a:ln/>
        </p:spPr>
      </p:sp>
      <p:sp>
        <p:nvSpPr>
          <p:cNvPr id="4" name="Sensor lens"/>
          <p:cNvSpPr/>
          <p:nvPr/>
        </p:nvSpPr>
        <p:spPr>
          <a:xfrm>
            <a:off x="800100" y="1645920"/>
            <a:ext cx="411480" cy="411480"/>
          </a:xfrm>
          <a:prstGeom prst="ellipse">
            <a:avLst/>
          </a:prstGeom>
          <a:solidFill>
            <a:schemeClr val="accent3"/>
          </a:solidFill>
          <a:ln/>
        </p:spPr>
      </p:sp>
      <p:sp>
        <p:nvSpPr>
          <p:cNvPr id="5" name="Sensor label"/>
          <p:cNvSpPr txBox="1"/>
          <p:nvPr/>
        </p:nvSpPr>
        <p:spPr>
          <a:xfrm>
            <a:off x="457200" y="2148840"/>
            <a:ext cx="1097280" cy="2011680"/>
          </a:xfrm>
          <a:prstGeom prst="rect">
            <a:avLst/>
          </a:prstGeom>
          <a:noFill/>
          <a:ln/>
        </p:spPr>
        <p:txBody>
          <a:bodyPr wrap="square" lIns="0" tIns="0" rIns="0" bIns="0" rtlCol="0" anchor="t"/>
          <a:lstStyle/>
          <a:p>
            <a:pPr algn="ctr" indent="0" marL="0">
              <a:buNone/>
            </a:pPr>
            <a:r>
              <a:rPr lang="en-US" sz="1600" b="1" dirty="0">
                <a:solidFill>
                  <a:schemeClr val="bg1"/>
                </a:solidFill>
              </a:rPr>
              <a:t>Sensor</a:t>
            </a:r>
            <a:endParaRPr lang="en-US" sz="1600" dirty="0"/>
          </a:p>
        </p:txBody>
      </p:sp>
      <p:sp>
        <p:nvSpPr>
          <p:cNvPr id="6" name="Sensor view arrow"/>
          <p:cNvSpPr/>
          <p:nvPr/>
        </p:nvSpPr>
        <p:spPr>
          <a:xfrm>
            <a:off x="1714500" y="2606040"/>
            <a:ext cx="228600" cy="365760"/>
          </a:xfrm>
          <a:prstGeom prst="chevron">
            <a:avLst/>
          </a:prstGeom>
          <a:solidFill>
            <a:schemeClr val="accent2"/>
          </a:solidFill>
          <a:ln/>
        </p:spPr>
      </p:sp>
      <p:sp>
        <p:nvSpPr>
          <p:cNvPr id="7" name="Frame boot01"/>
          <p:cNvSpPr/>
          <p:nvPr/>
        </p:nvSpPr>
        <p:spPr>
          <a:xfrm>
            <a:off x="2103120" y="1417320"/>
            <a:ext cx="1188720" cy="1280160"/>
          </a:xfrm>
          <a:prstGeom prst="roundRect">
            <a:avLst>
              <a:gd name="adj" fmla="val 9231"/>
            </a:avLst>
          </a:prstGeom>
          <a:solidFill>
            <a:schemeClr val="bg1"/>
          </a:solidFill>
          <a:ln w="12700">
            <a:solidFill>
              <a:schemeClr val="accent6"/>
            </a:solidFill>
            <a:prstDash val="solid"/>
          </a:ln>
        </p:spPr>
      </p:sp>
      <p:sp>
        <p:nvSpPr>
          <p:cNvPr id="8" name="Frame boot01 crosshair horizontal"/>
          <p:cNvSpPr/>
          <p:nvPr/>
        </p:nvSpPr>
        <p:spPr>
          <a:xfrm>
            <a:off x="2286000" y="2057400"/>
            <a:ext cx="822960" cy="0"/>
          </a:xfrm>
          <a:prstGeom prst="line">
            <a:avLst/>
          </a:prstGeom>
          <a:noFill/>
          <a:ln w="12700">
            <a:solidFill>
              <a:schemeClr val="accent6"/>
            </a:solidFill>
            <a:prstDash val="solid"/>
          </a:ln>
        </p:spPr>
      </p:sp>
      <p:sp>
        <p:nvSpPr>
          <p:cNvPr id="9" name="Frame boot01 crosshair vertical"/>
          <p:cNvSpPr/>
          <p:nvPr/>
        </p:nvSpPr>
        <p:spPr>
          <a:xfrm>
            <a:off x="2697480" y="1600200"/>
            <a:ext cx="0" cy="914400"/>
          </a:xfrm>
          <a:prstGeom prst="line">
            <a:avLst/>
          </a:prstGeom>
          <a:noFill/>
          <a:ln w="12700">
            <a:solidFill>
              <a:schemeClr val="accent6"/>
            </a:solidFill>
            <a:prstDash val="solid"/>
          </a:ln>
        </p:spPr>
      </p:sp>
      <p:sp>
        <p:nvSpPr>
          <p:cNvPr id="10" name="Circle boot01"/>
          <p:cNvSpPr txBox="1"/>
          <p:nvPr/>
        </p:nvSpPr>
        <p:spPr>
          <a:xfrm>
            <a:off x="2263140" y="1623060"/>
            <a:ext cx="868680" cy="868680"/>
          </a:xfrm>
          <a:prstGeom prst="ellipse">
            <a:avLst/>
          </a:prstGeom>
          <a:solidFill>
            <a:schemeClr val="accent1"/>
          </a:solidFill>
          <a:ln/>
        </p:spPr>
        <p:txBody>
          <a:bodyPr wrap="none" lIns="0" tIns="0" rIns="0" bIns="0" rtlCol="0" anchor="ctr"/>
          <a:lstStyle/>
          <a:p>
            <a:pPr algn="ctr" indent="0" marL="0">
              <a:buNone/>
            </a:pPr>
            <a:r>
              <a:rPr lang="en-US" sz="1200" b="1" dirty="0">
                <a:solidFill>
                  <a:schemeClr val="bg1"/>
                </a:solidFill>
              </a:rPr>
              <a:t>boot01</a:t>
            </a:r>
            <a:endParaRPr lang="en-US" sz="1200" dirty="0"/>
          </a:p>
        </p:txBody>
      </p:sp>
      <p:sp>
        <p:nvSpPr>
          <p:cNvPr id="11" name="Text boot01"/>
          <p:cNvSpPr txBox="1"/>
          <p:nvPr/>
        </p:nvSpPr>
        <p:spPr>
          <a:xfrm>
            <a:off x="3474720" y="1417320"/>
            <a:ext cx="1655978" cy="1280160"/>
          </a:xfrm>
          <a:prstGeom prst="rect">
            <a:avLst/>
          </a:prstGeom>
          <a:noFill/>
          <a:ln/>
        </p:spPr>
        <p:txBody>
          <a:bodyPr wrap="square" lIns="0" tIns="0" rIns="0" bIns="0" rtlCol="0" anchor="ctr"/>
          <a:lstStyle/>
          <a:p>
            <a:pPr algn="l" indent="0" marL="0">
              <a:buNone/>
            </a:pPr>
            <a:r>
              <a:rPr lang="en-US" sz="1400" dirty="0">
                <a:solidFill>
                  <a:schemeClr val="tx1"/>
                </a:solidFill>
              </a:rPr>
              <a:t>About 600 mm in front, near the picture center, facing the sensor squarely</a:t>
            </a:r>
            <a:endParaRPr lang="en-US" sz="1400" dirty="0"/>
          </a:p>
        </p:txBody>
      </p:sp>
      <p:sp>
        <p:nvSpPr>
          <p:cNvPr id="12" name="Frame boot02"/>
          <p:cNvSpPr/>
          <p:nvPr/>
        </p:nvSpPr>
        <p:spPr>
          <a:xfrm>
            <a:off x="5405018" y="1417320"/>
            <a:ext cx="1188720" cy="1280160"/>
          </a:xfrm>
          <a:prstGeom prst="roundRect">
            <a:avLst>
              <a:gd name="adj" fmla="val 9231"/>
            </a:avLst>
          </a:prstGeom>
          <a:solidFill>
            <a:schemeClr val="bg1"/>
          </a:solidFill>
          <a:ln w="12700">
            <a:solidFill>
              <a:schemeClr val="accent6"/>
            </a:solidFill>
            <a:prstDash val="solid"/>
          </a:ln>
        </p:spPr>
      </p:sp>
      <p:sp>
        <p:nvSpPr>
          <p:cNvPr id="13" name="Frame boot02 crosshair horizontal"/>
          <p:cNvSpPr/>
          <p:nvPr/>
        </p:nvSpPr>
        <p:spPr>
          <a:xfrm>
            <a:off x="5587898" y="2057400"/>
            <a:ext cx="822960" cy="0"/>
          </a:xfrm>
          <a:prstGeom prst="line">
            <a:avLst/>
          </a:prstGeom>
          <a:noFill/>
          <a:ln w="12700">
            <a:solidFill>
              <a:schemeClr val="accent6"/>
            </a:solidFill>
            <a:prstDash val="solid"/>
          </a:ln>
        </p:spPr>
      </p:sp>
      <p:sp>
        <p:nvSpPr>
          <p:cNvPr id="14" name="Frame boot02 crosshair vertical"/>
          <p:cNvSpPr/>
          <p:nvPr/>
        </p:nvSpPr>
        <p:spPr>
          <a:xfrm>
            <a:off x="5999378" y="1600200"/>
            <a:ext cx="0" cy="914400"/>
          </a:xfrm>
          <a:prstGeom prst="line">
            <a:avLst/>
          </a:prstGeom>
          <a:noFill/>
          <a:ln w="12700">
            <a:solidFill>
              <a:schemeClr val="accent6"/>
            </a:solidFill>
            <a:prstDash val="solid"/>
          </a:ln>
        </p:spPr>
      </p:sp>
      <p:sp>
        <p:nvSpPr>
          <p:cNvPr id="15" name="Circle boot02"/>
          <p:cNvSpPr txBox="1"/>
          <p:nvPr/>
        </p:nvSpPr>
        <p:spPr>
          <a:xfrm>
            <a:off x="5565038" y="1753362"/>
            <a:ext cx="868680" cy="608076"/>
          </a:xfrm>
          <a:prstGeom prst="ellipse">
            <a:avLst/>
          </a:prstGeom>
          <a:solidFill>
            <a:schemeClr val="accent1"/>
          </a:solidFill>
          <a:ln/>
        </p:spPr>
        <p:txBody>
          <a:bodyPr wrap="none" lIns="0" tIns="0" rIns="0" bIns="0" rtlCol="0" anchor="ctr"/>
          <a:lstStyle/>
          <a:p>
            <a:pPr algn="ctr" indent="0" marL="0">
              <a:buNone/>
            </a:pPr>
            <a:r>
              <a:rPr lang="en-US" sz="1200" b="1" dirty="0">
                <a:solidFill>
                  <a:schemeClr val="bg1"/>
                </a:solidFill>
              </a:rPr>
              <a:t>boot02</a:t>
            </a:r>
            <a:endParaRPr lang="en-US" sz="1200" dirty="0"/>
          </a:p>
        </p:txBody>
      </p:sp>
      <p:sp>
        <p:nvSpPr>
          <p:cNvPr id="16" name="Text boot02"/>
          <p:cNvSpPr txBox="1"/>
          <p:nvPr/>
        </p:nvSpPr>
        <p:spPr>
          <a:xfrm>
            <a:off x="6776618" y="1417320"/>
            <a:ext cx="1655978" cy="1280160"/>
          </a:xfrm>
          <a:prstGeom prst="rect">
            <a:avLst/>
          </a:prstGeom>
          <a:noFill/>
          <a:ln/>
        </p:spPr>
        <p:txBody>
          <a:bodyPr wrap="square" lIns="0" tIns="0" rIns="0" bIns="0" rtlCol="0" anchor="ctr"/>
          <a:lstStyle/>
          <a:p>
            <a:pPr algn="l" indent="0" marL="0">
              <a:buNone/>
            </a:pPr>
            <a:r>
              <a:rPr lang="en-US" sz="1400" dirty="0">
                <a:solidFill>
                  <a:schemeClr val="tx1"/>
                </a:solidFill>
              </a:rPr>
              <a:t>Tilted about 20 degrees, top edge toward the sensor</a:t>
            </a:r>
            <a:endParaRPr lang="en-US" sz="1400" dirty="0"/>
          </a:p>
        </p:txBody>
      </p:sp>
      <p:sp>
        <p:nvSpPr>
          <p:cNvPr id="17" name="Frame boot03"/>
          <p:cNvSpPr/>
          <p:nvPr/>
        </p:nvSpPr>
        <p:spPr>
          <a:xfrm>
            <a:off x="8706917" y="1417320"/>
            <a:ext cx="1188720" cy="1280160"/>
          </a:xfrm>
          <a:prstGeom prst="roundRect">
            <a:avLst>
              <a:gd name="adj" fmla="val 9231"/>
            </a:avLst>
          </a:prstGeom>
          <a:solidFill>
            <a:schemeClr val="bg1"/>
          </a:solidFill>
          <a:ln w="12700">
            <a:solidFill>
              <a:schemeClr val="accent6"/>
            </a:solidFill>
            <a:prstDash val="solid"/>
          </a:ln>
        </p:spPr>
      </p:sp>
      <p:sp>
        <p:nvSpPr>
          <p:cNvPr id="18" name="Frame boot03 crosshair horizontal"/>
          <p:cNvSpPr/>
          <p:nvPr/>
        </p:nvSpPr>
        <p:spPr>
          <a:xfrm>
            <a:off x="8889797" y="2057400"/>
            <a:ext cx="822960" cy="0"/>
          </a:xfrm>
          <a:prstGeom prst="line">
            <a:avLst/>
          </a:prstGeom>
          <a:noFill/>
          <a:ln w="12700">
            <a:solidFill>
              <a:schemeClr val="accent6"/>
            </a:solidFill>
            <a:prstDash val="solid"/>
          </a:ln>
        </p:spPr>
      </p:sp>
      <p:sp>
        <p:nvSpPr>
          <p:cNvPr id="19" name="Frame boot03 crosshair vertical"/>
          <p:cNvSpPr/>
          <p:nvPr/>
        </p:nvSpPr>
        <p:spPr>
          <a:xfrm>
            <a:off x="9301277" y="1600200"/>
            <a:ext cx="0" cy="914400"/>
          </a:xfrm>
          <a:prstGeom prst="line">
            <a:avLst/>
          </a:prstGeom>
          <a:noFill/>
          <a:ln w="12700">
            <a:solidFill>
              <a:schemeClr val="accent6"/>
            </a:solidFill>
            <a:prstDash val="solid"/>
          </a:ln>
        </p:spPr>
      </p:sp>
      <p:sp>
        <p:nvSpPr>
          <p:cNvPr id="20" name="Circle boot03"/>
          <p:cNvSpPr txBox="1"/>
          <p:nvPr/>
        </p:nvSpPr>
        <p:spPr>
          <a:xfrm>
            <a:off x="8866937" y="1753362"/>
            <a:ext cx="868680" cy="608076"/>
          </a:xfrm>
          <a:prstGeom prst="ellipse">
            <a:avLst/>
          </a:prstGeom>
          <a:solidFill>
            <a:schemeClr val="accent1"/>
          </a:solidFill>
          <a:ln/>
        </p:spPr>
        <p:txBody>
          <a:bodyPr wrap="none" lIns="0" tIns="0" rIns="0" bIns="0" rtlCol="0" anchor="ctr"/>
          <a:lstStyle/>
          <a:p>
            <a:pPr algn="ctr" indent="0" marL="0">
              <a:buNone/>
            </a:pPr>
            <a:r>
              <a:rPr lang="en-US" sz="1200" b="1" dirty="0">
                <a:solidFill>
                  <a:schemeClr val="bg1"/>
                </a:solidFill>
              </a:rPr>
              <a:t>boot03</a:t>
            </a:r>
            <a:endParaRPr lang="en-US" sz="1200" dirty="0"/>
          </a:p>
        </p:txBody>
      </p:sp>
      <p:sp>
        <p:nvSpPr>
          <p:cNvPr id="21" name="Text boot03"/>
          <p:cNvSpPr txBox="1"/>
          <p:nvPr/>
        </p:nvSpPr>
        <p:spPr>
          <a:xfrm>
            <a:off x="10078517" y="1417320"/>
            <a:ext cx="1655978" cy="1280160"/>
          </a:xfrm>
          <a:prstGeom prst="rect">
            <a:avLst/>
          </a:prstGeom>
          <a:noFill/>
          <a:ln/>
        </p:spPr>
        <p:txBody>
          <a:bodyPr wrap="square" lIns="0" tIns="0" rIns="0" bIns="0" rtlCol="0" anchor="ctr"/>
          <a:lstStyle/>
          <a:p>
            <a:pPr algn="l" indent="0" marL="0">
              <a:buNone/>
            </a:pPr>
            <a:r>
              <a:rPr lang="en-US" sz="1400" dirty="0">
                <a:solidFill>
                  <a:schemeClr val="tx1"/>
                </a:solidFill>
              </a:rPr>
              <a:t>Tilted about 20 degrees, bottom edge toward the sensor</a:t>
            </a:r>
            <a:endParaRPr lang="en-US" sz="1400" dirty="0"/>
          </a:p>
        </p:txBody>
      </p:sp>
      <p:sp>
        <p:nvSpPr>
          <p:cNvPr id="22" name="Frame boot04"/>
          <p:cNvSpPr/>
          <p:nvPr/>
        </p:nvSpPr>
        <p:spPr>
          <a:xfrm>
            <a:off x="2103120" y="2880360"/>
            <a:ext cx="1188720" cy="1280160"/>
          </a:xfrm>
          <a:prstGeom prst="roundRect">
            <a:avLst>
              <a:gd name="adj" fmla="val 9231"/>
            </a:avLst>
          </a:prstGeom>
          <a:solidFill>
            <a:schemeClr val="bg1"/>
          </a:solidFill>
          <a:ln w="12700">
            <a:solidFill>
              <a:schemeClr val="accent6"/>
            </a:solidFill>
            <a:prstDash val="solid"/>
          </a:ln>
        </p:spPr>
      </p:sp>
      <p:sp>
        <p:nvSpPr>
          <p:cNvPr id="23" name="Frame boot04 crosshair horizontal"/>
          <p:cNvSpPr/>
          <p:nvPr/>
        </p:nvSpPr>
        <p:spPr>
          <a:xfrm>
            <a:off x="2286000" y="3520440"/>
            <a:ext cx="822960" cy="0"/>
          </a:xfrm>
          <a:prstGeom prst="line">
            <a:avLst/>
          </a:prstGeom>
          <a:noFill/>
          <a:ln w="12700">
            <a:solidFill>
              <a:schemeClr val="accent6"/>
            </a:solidFill>
            <a:prstDash val="solid"/>
          </a:ln>
        </p:spPr>
      </p:sp>
      <p:sp>
        <p:nvSpPr>
          <p:cNvPr id="24" name="Frame boot04 crosshair vertical"/>
          <p:cNvSpPr/>
          <p:nvPr/>
        </p:nvSpPr>
        <p:spPr>
          <a:xfrm>
            <a:off x="2697480" y="3063240"/>
            <a:ext cx="0" cy="914400"/>
          </a:xfrm>
          <a:prstGeom prst="line">
            <a:avLst/>
          </a:prstGeom>
          <a:noFill/>
          <a:ln w="12700">
            <a:solidFill>
              <a:schemeClr val="accent6"/>
            </a:solidFill>
            <a:prstDash val="solid"/>
          </a:ln>
        </p:spPr>
      </p:sp>
      <p:sp>
        <p:nvSpPr>
          <p:cNvPr id="25" name="Circle boot04"/>
          <p:cNvSpPr txBox="1"/>
          <p:nvPr/>
        </p:nvSpPr>
        <p:spPr>
          <a:xfrm>
            <a:off x="2393442" y="3086100"/>
            <a:ext cx="608076" cy="868680"/>
          </a:xfrm>
          <a:prstGeom prst="ellipse">
            <a:avLst/>
          </a:prstGeom>
          <a:solidFill>
            <a:schemeClr val="accent1"/>
          </a:solidFill>
          <a:ln/>
        </p:spPr>
        <p:txBody>
          <a:bodyPr wrap="none" lIns="0" tIns="0" rIns="0" bIns="0" rtlCol="0" anchor="ctr"/>
          <a:lstStyle/>
          <a:p>
            <a:pPr algn="ctr" indent="0" marL="0">
              <a:buNone/>
            </a:pPr>
            <a:r>
              <a:rPr lang="en-US" sz="1200" b="1" dirty="0">
                <a:solidFill>
                  <a:schemeClr val="bg1"/>
                </a:solidFill>
              </a:rPr>
              <a:t>boot04</a:t>
            </a:r>
            <a:endParaRPr lang="en-US" sz="1200" dirty="0"/>
          </a:p>
        </p:txBody>
      </p:sp>
      <p:sp>
        <p:nvSpPr>
          <p:cNvPr id="26" name="Text boot04"/>
          <p:cNvSpPr txBox="1"/>
          <p:nvPr/>
        </p:nvSpPr>
        <p:spPr>
          <a:xfrm>
            <a:off x="3474720" y="2880360"/>
            <a:ext cx="1655978" cy="1280160"/>
          </a:xfrm>
          <a:prstGeom prst="rect">
            <a:avLst/>
          </a:prstGeom>
          <a:noFill/>
          <a:ln/>
        </p:spPr>
        <p:txBody>
          <a:bodyPr wrap="square" lIns="0" tIns="0" rIns="0" bIns="0" rtlCol="0" anchor="ctr"/>
          <a:lstStyle/>
          <a:p>
            <a:pPr algn="l" indent="0" marL="0">
              <a:buNone/>
            </a:pPr>
            <a:r>
              <a:rPr lang="en-US" sz="1400" dirty="0">
                <a:solidFill>
                  <a:schemeClr val="tx1"/>
                </a:solidFill>
              </a:rPr>
              <a:t>Tilted about 20 degrees, left edge toward the sensor</a:t>
            </a:r>
            <a:endParaRPr lang="en-US" sz="1400" dirty="0"/>
          </a:p>
        </p:txBody>
      </p:sp>
      <p:sp>
        <p:nvSpPr>
          <p:cNvPr id="27" name="Frame boot05"/>
          <p:cNvSpPr/>
          <p:nvPr/>
        </p:nvSpPr>
        <p:spPr>
          <a:xfrm>
            <a:off x="5405018" y="2880360"/>
            <a:ext cx="1188720" cy="1280160"/>
          </a:xfrm>
          <a:prstGeom prst="roundRect">
            <a:avLst>
              <a:gd name="adj" fmla="val 9231"/>
            </a:avLst>
          </a:prstGeom>
          <a:solidFill>
            <a:schemeClr val="bg1"/>
          </a:solidFill>
          <a:ln w="12700">
            <a:solidFill>
              <a:schemeClr val="accent6"/>
            </a:solidFill>
            <a:prstDash val="solid"/>
          </a:ln>
        </p:spPr>
      </p:sp>
      <p:sp>
        <p:nvSpPr>
          <p:cNvPr id="28" name="Frame boot05 crosshair horizontal"/>
          <p:cNvSpPr/>
          <p:nvPr/>
        </p:nvSpPr>
        <p:spPr>
          <a:xfrm>
            <a:off x="5587898" y="3520440"/>
            <a:ext cx="822960" cy="0"/>
          </a:xfrm>
          <a:prstGeom prst="line">
            <a:avLst/>
          </a:prstGeom>
          <a:noFill/>
          <a:ln w="12700">
            <a:solidFill>
              <a:schemeClr val="accent6"/>
            </a:solidFill>
            <a:prstDash val="solid"/>
          </a:ln>
        </p:spPr>
      </p:sp>
      <p:sp>
        <p:nvSpPr>
          <p:cNvPr id="29" name="Frame boot05 crosshair vertical"/>
          <p:cNvSpPr/>
          <p:nvPr/>
        </p:nvSpPr>
        <p:spPr>
          <a:xfrm>
            <a:off x="5999378" y="3063240"/>
            <a:ext cx="0" cy="914400"/>
          </a:xfrm>
          <a:prstGeom prst="line">
            <a:avLst/>
          </a:prstGeom>
          <a:noFill/>
          <a:ln w="12700">
            <a:solidFill>
              <a:schemeClr val="accent6"/>
            </a:solidFill>
            <a:prstDash val="solid"/>
          </a:ln>
        </p:spPr>
      </p:sp>
      <p:sp>
        <p:nvSpPr>
          <p:cNvPr id="30" name="Circle boot05"/>
          <p:cNvSpPr txBox="1"/>
          <p:nvPr/>
        </p:nvSpPr>
        <p:spPr>
          <a:xfrm>
            <a:off x="5695340" y="3086100"/>
            <a:ext cx="608076" cy="868680"/>
          </a:xfrm>
          <a:prstGeom prst="ellipse">
            <a:avLst/>
          </a:prstGeom>
          <a:solidFill>
            <a:schemeClr val="accent1"/>
          </a:solidFill>
          <a:ln/>
        </p:spPr>
        <p:txBody>
          <a:bodyPr wrap="none" lIns="0" tIns="0" rIns="0" bIns="0" rtlCol="0" anchor="ctr"/>
          <a:lstStyle/>
          <a:p>
            <a:pPr algn="ctr" indent="0" marL="0">
              <a:buNone/>
            </a:pPr>
            <a:r>
              <a:rPr lang="en-US" sz="1200" b="1" dirty="0">
                <a:solidFill>
                  <a:schemeClr val="bg1"/>
                </a:solidFill>
              </a:rPr>
              <a:t>boot05</a:t>
            </a:r>
            <a:endParaRPr lang="en-US" sz="1200" dirty="0"/>
          </a:p>
        </p:txBody>
      </p:sp>
      <p:sp>
        <p:nvSpPr>
          <p:cNvPr id="31" name="Text boot05"/>
          <p:cNvSpPr txBox="1"/>
          <p:nvPr/>
        </p:nvSpPr>
        <p:spPr>
          <a:xfrm>
            <a:off x="6776618" y="2880360"/>
            <a:ext cx="1655978" cy="1280160"/>
          </a:xfrm>
          <a:prstGeom prst="rect">
            <a:avLst/>
          </a:prstGeom>
          <a:noFill/>
          <a:ln/>
        </p:spPr>
        <p:txBody>
          <a:bodyPr wrap="square" lIns="0" tIns="0" rIns="0" bIns="0" rtlCol="0" anchor="ctr"/>
          <a:lstStyle/>
          <a:p>
            <a:pPr algn="l" indent="0" marL="0">
              <a:buNone/>
            </a:pPr>
            <a:r>
              <a:rPr lang="en-US" sz="1400" dirty="0">
                <a:solidFill>
                  <a:schemeClr val="tx1"/>
                </a:solidFill>
              </a:rPr>
              <a:t>Tilted about 20 degrees, right edge toward the sensor</a:t>
            </a:r>
            <a:endParaRPr lang="en-US" sz="1400" dirty="0"/>
          </a:p>
        </p:txBody>
      </p:sp>
      <p:sp>
        <p:nvSpPr>
          <p:cNvPr id="32" name="Frame boot06"/>
          <p:cNvSpPr/>
          <p:nvPr/>
        </p:nvSpPr>
        <p:spPr>
          <a:xfrm>
            <a:off x="8706917" y="2880360"/>
            <a:ext cx="1188720" cy="1280160"/>
          </a:xfrm>
          <a:prstGeom prst="roundRect">
            <a:avLst>
              <a:gd name="adj" fmla="val 9231"/>
            </a:avLst>
          </a:prstGeom>
          <a:solidFill>
            <a:schemeClr val="bg1"/>
          </a:solidFill>
          <a:ln w="12700">
            <a:solidFill>
              <a:schemeClr val="accent6"/>
            </a:solidFill>
            <a:prstDash val="solid"/>
          </a:ln>
        </p:spPr>
      </p:sp>
      <p:sp>
        <p:nvSpPr>
          <p:cNvPr id="33" name="Frame boot06 crosshair horizontal"/>
          <p:cNvSpPr/>
          <p:nvPr/>
        </p:nvSpPr>
        <p:spPr>
          <a:xfrm>
            <a:off x="8889797" y="3520440"/>
            <a:ext cx="822960" cy="0"/>
          </a:xfrm>
          <a:prstGeom prst="line">
            <a:avLst/>
          </a:prstGeom>
          <a:noFill/>
          <a:ln w="12700">
            <a:solidFill>
              <a:schemeClr val="accent6"/>
            </a:solidFill>
            <a:prstDash val="solid"/>
          </a:ln>
        </p:spPr>
      </p:sp>
      <p:sp>
        <p:nvSpPr>
          <p:cNvPr id="34" name="Frame boot06 crosshair vertical"/>
          <p:cNvSpPr/>
          <p:nvPr/>
        </p:nvSpPr>
        <p:spPr>
          <a:xfrm>
            <a:off x="9301277" y="3063240"/>
            <a:ext cx="0" cy="914400"/>
          </a:xfrm>
          <a:prstGeom prst="line">
            <a:avLst/>
          </a:prstGeom>
          <a:noFill/>
          <a:ln w="12700">
            <a:solidFill>
              <a:schemeClr val="accent6"/>
            </a:solidFill>
            <a:prstDash val="solid"/>
          </a:ln>
        </p:spPr>
      </p:sp>
      <p:sp>
        <p:nvSpPr>
          <p:cNvPr id="35" name="Circle boot06"/>
          <p:cNvSpPr txBox="1"/>
          <p:nvPr/>
        </p:nvSpPr>
        <p:spPr>
          <a:xfrm>
            <a:off x="8981237" y="3200400"/>
            <a:ext cx="640080" cy="640080"/>
          </a:xfrm>
          <a:prstGeom prst="ellipse">
            <a:avLst/>
          </a:prstGeom>
          <a:solidFill>
            <a:schemeClr val="accent1"/>
          </a:solidFill>
          <a:ln/>
        </p:spPr>
        <p:txBody>
          <a:bodyPr wrap="none" lIns="0" tIns="0" rIns="0" bIns="0" rtlCol="0" anchor="ctr"/>
          <a:lstStyle/>
          <a:p>
            <a:pPr algn="ctr" indent="0" marL="0">
              <a:buNone/>
            </a:pPr>
            <a:r>
              <a:rPr lang="en-US" sz="1200" b="1" dirty="0">
                <a:solidFill>
                  <a:schemeClr val="bg1"/>
                </a:solidFill>
              </a:rPr>
              <a:t>boot06</a:t>
            </a:r>
            <a:endParaRPr lang="en-US" sz="1200" dirty="0"/>
          </a:p>
        </p:txBody>
      </p:sp>
      <p:sp>
        <p:nvSpPr>
          <p:cNvPr id="36" name="Text boot06"/>
          <p:cNvSpPr txBox="1"/>
          <p:nvPr/>
        </p:nvSpPr>
        <p:spPr>
          <a:xfrm>
            <a:off x="10078517" y="2880360"/>
            <a:ext cx="1655978" cy="1280160"/>
          </a:xfrm>
          <a:prstGeom prst="rect">
            <a:avLst/>
          </a:prstGeom>
          <a:noFill/>
          <a:ln/>
        </p:spPr>
        <p:txBody>
          <a:bodyPr wrap="square" lIns="0" tIns="0" rIns="0" bIns="0" rtlCol="0" anchor="ctr"/>
          <a:lstStyle/>
          <a:p>
            <a:pPr algn="l" indent="0" marL="0">
              <a:buNone/>
            </a:pPr>
            <a:r>
              <a:rPr lang="en-US" sz="1400" dirty="0">
                <a:solidFill>
                  <a:schemeClr val="tx1"/>
                </a:solidFill>
              </a:rPr>
              <a:t>About 250 mm farther away, facing squarely</a:t>
            </a:r>
            <a:endParaRPr lang="en-US" sz="1400" dirty="0"/>
          </a:p>
        </p:txBody>
      </p:sp>
      <p:sp>
        <p:nvSpPr>
          <p:cNvPr id="37" name="Points card"/>
          <p:cNvSpPr/>
          <p:nvPr/>
        </p:nvSpPr>
        <p:spPr>
          <a:xfrm>
            <a:off x="457200" y="4434840"/>
            <a:ext cx="11277295" cy="1691640"/>
          </a:xfrm>
          <a:prstGeom prst="roundRect">
            <a:avLst>
              <a:gd name="adj" fmla="val 6486"/>
            </a:avLst>
          </a:prstGeom>
          <a:solidFill>
            <a:schemeClr val="bg2"/>
          </a:solidFill>
          <a:ln/>
        </p:spPr>
      </p:sp>
      <p:sp>
        <p:nvSpPr>
          <p:cNvPr id="38" name="Bootstrap points"/>
          <p:cNvSpPr txBox="1"/>
          <p:nvPr/>
        </p:nvSpPr>
        <p:spPr>
          <a:xfrm>
            <a:off x="685800" y="4617720"/>
            <a:ext cx="10820095" cy="1325880"/>
          </a:xfrm>
          <a:prstGeom prst="rect">
            <a:avLst/>
          </a:prstGeom>
          <a:noFill/>
          <a:ln/>
        </p:spPr>
        <p:txBody>
          <a:bodyPr wrap="square" lIns="0" tIns="0" rIns="0" bIns="0" rtlCol="0" anchor="ctr"/>
          <a:lstStyle/>
          <a:p>
            <a:pPr algn="l" marL="177800" indent="-177800">
              <a:spcAft>
                <a:spcPts val="600"/>
              </a:spcAft>
              <a:buSzPct val="100000"/>
              <a:buChar char="•"/>
            </a:pPr>
            <a:r>
              <a:rPr lang="en-US" sz="1600" dirty="0">
                <a:solidFill>
                  <a:schemeClr val="tx1"/>
                </a:solidFill>
              </a:rPr>
              <a:t>Log the robot's reported tool pose for each; one capture per pose</a:t>
            </a:r>
            <a:endParaRPr lang="en-US" sz="1600" dirty="0"/>
          </a:p>
          <a:p>
            <a:pPr algn="l" marL="177800" indent="-177800">
              <a:spcAft>
                <a:spcPts val="600"/>
              </a:spcAft>
              <a:buSzPct val="100000"/>
              <a:buChar char="•"/>
            </a:pPr>
            <a:r>
              <a:rPr lang="en-US" sz="1600" dirty="0">
                <a:solidFill>
                  <a:schemeClr val="tx1"/>
                </a:solidFill>
              </a:rPr>
              <a:t>The bootstrap tool finds the board in each capture and registers the six poses</a:t>
            </a:r>
            <a:endParaRPr lang="en-US" sz="1600" dirty="0"/>
          </a:p>
          <a:p>
            <a:pPr algn="l" marL="177800" indent="-177800">
              <a:spcAft>
                <a:spcPts val="600"/>
              </a:spcAft>
              <a:buSzPct val="100000"/>
              <a:buChar char="•"/>
            </a:pPr>
            <a:r>
              <a:rPr lang="en-US" sz="1600" dirty="0">
                <a:solidFill>
                  <a:schemeClr val="tx1"/>
                </a:solidFill>
              </a:rPr>
              <a:t>Residuals of a fraction of a degree and a millimeter or two are fine; several degrees or tens of millimeters mean a copying error or a wrong tool frame</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235 poses spread through the volume</a:t>
            </a:r>
            <a:endParaRPr lang="en-US" sz="3400" dirty="0"/>
          </a:p>
        </p:txBody>
      </p:sp>
      <p:pic>
        <p:nvPicPr>
          <p:cNvPr id="3" name="Planned poses: side view and front view" descr="Planned poses: side view and front view">    </p:cNvPr>
          <p:cNvPicPr>
            <a:picLocks noChangeAspect="1"/>
          </p:cNvPicPr>
          <p:nvPr/>
        </p:nvPicPr>
        <p:blipFill>
          <a:blip r:embed="rId1"/>
          <a:stretch>
            <a:fillRect/>
          </a:stretch>
        </p:blipFill>
        <p:spPr>
          <a:xfrm>
            <a:off x="457200" y="1485900"/>
            <a:ext cx="7863840" cy="3931920"/>
          </a:xfrm>
          <a:prstGeom prst="rect">
            <a:avLst/>
          </a:prstGeom>
        </p:spPr>
      </p:pic>
      <p:sp>
        <p:nvSpPr>
          <p:cNvPr id="4" name="Planned poses: side view and front view frame"/>
          <p:cNvSpPr/>
          <p:nvPr/>
        </p:nvSpPr>
        <p:spPr>
          <a:xfrm>
            <a:off x="457200" y="1485900"/>
            <a:ext cx="7863840" cy="3931920"/>
          </a:xfrm>
          <a:prstGeom prst="rect">
            <a:avLst/>
          </a:prstGeom>
          <a:ln w="12700">
            <a:solidFill>
              <a:schemeClr val="accent6"/>
            </a:solidFill>
            <a:prstDash val="solid"/>
          </a:ln>
        </p:spPr>
      </p:sp>
      <p:sp>
        <p:nvSpPr>
          <p:cNvPr id="5" name="Figure caption"/>
          <p:cNvSpPr txBox="1"/>
          <p:nvPr/>
        </p:nvSpPr>
        <p:spPr>
          <a:xfrm>
            <a:off x="457200" y="5600700"/>
            <a:ext cx="7863840" cy="457200"/>
          </a:xfrm>
          <a:prstGeom prst="rect">
            <a:avLst/>
          </a:prstGeom>
          <a:noFill/>
          <a:ln/>
        </p:spPr>
        <p:txBody>
          <a:bodyPr wrap="square" lIns="0" tIns="0" rIns="0" bIns="0" rtlCol="0" anchor="t"/>
          <a:lstStyle/>
          <a:p>
            <a:pPr algn="l" indent="0" marL="0">
              <a:buNone/>
            </a:pPr>
            <a:r>
              <a:rPr lang="en-US" sz="1200" dirty="0">
                <a:solidFill>
                  <a:schemeClr val="accent5"/>
                </a:solidFill>
              </a:rPr>
              <a:t>About 20 percent of poses are held out to test the fit; they are captured like all the others. Tilted boards that would leave the field are dropped automatically.</a:t>
            </a:r>
            <a:endParaRPr lang="en-US" sz="1200" dirty="0"/>
          </a:p>
        </p:txBody>
      </p:sp>
      <p:sp>
        <p:nvSpPr>
          <p:cNvPr id="6" name="Stat 1 card"/>
          <p:cNvSpPr/>
          <p:nvPr/>
        </p:nvSpPr>
        <p:spPr>
          <a:xfrm>
            <a:off x="8595360" y="1417320"/>
            <a:ext cx="3139135" cy="1386840"/>
          </a:xfrm>
          <a:prstGeom prst="roundRect">
            <a:avLst>
              <a:gd name="adj" fmla="val 7912"/>
            </a:avLst>
          </a:prstGeom>
          <a:solidFill>
            <a:schemeClr val="bg2"/>
          </a:solidFill>
          <a:ln/>
        </p:spPr>
      </p:sp>
      <p:sp>
        <p:nvSpPr>
          <p:cNvPr id="7" name="Stat 1 value"/>
          <p:cNvSpPr txBox="1"/>
          <p:nvPr/>
        </p:nvSpPr>
        <p:spPr>
          <a:xfrm>
            <a:off x="8778240" y="1702308"/>
            <a:ext cx="2773375" cy="548640"/>
          </a:xfrm>
          <a:prstGeom prst="rect">
            <a:avLst/>
          </a:prstGeom>
          <a:noFill/>
          <a:ln/>
        </p:spPr>
        <p:txBody>
          <a:bodyPr wrap="square" lIns="0" tIns="0" rIns="0" bIns="0" rtlCol="0" anchor="ctr"/>
          <a:lstStyle/>
          <a:p>
            <a:pPr algn="l" indent="0" marL="0">
              <a:buNone/>
            </a:pPr>
            <a:r>
              <a:rPr lang="en-US" sz="3600" b="1" dirty="0">
                <a:solidFill>
                  <a:schemeClr val="accent1"/>
                </a:solidFill>
                <a:latin typeface="+mj-lt" pitchFamily="34" charset="0"/>
                <a:ea typeface="+mj-lt" pitchFamily="34" charset="-122"/>
                <a:cs typeface="+mj-lt" pitchFamily="34" charset="-120"/>
              </a:rPr>
              <a:t>3</a:t>
            </a:r>
            <a:endParaRPr lang="en-US" sz="3600" dirty="0"/>
          </a:p>
        </p:txBody>
      </p:sp>
      <p:sp>
        <p:nvSpPr>
          <p:cNvPr id="8" name="Stat 1 label"/>
          <p:cNvSpPr txBox="1"/>
          <p:nvPr/>
        </p:nvSpPr>
        <p:spPr>
          <a:xfrm>
            <a:off x="8778240" y="2250948"/>
            <a:ext cx="2773375" cy="268224"/>
          </a:xfrm>
          <a:prstGeom prst="rect">
            <a:avLst/>
          </a:prstGeom>
          <a:noFill/>
          <a:ln/>
        </p:spPr>
        <p:txBody>
          <a:bodyPr wrap="square" lIns="0" tIns="0" rIns="0" bIns="0" rtlCol="0" anchor="t"/>
          <a:lstStyle/>
          <a:p>
            <a:pPr algn="l" indent="0" marL="0">
              <a:buNone/>
            </a:pPr>
            <a:r>
              <a:rPr lang="en-US" sz="1400" dirty="0">
                <a:solidFill>
                  <a:schemeClr val="tx1"/>
                </a:solidFill>
              </a:rPr>
              <a:t>standoffs: 550, 750 and 950 mm</a:t>
            </a:r>
            <a:endParaRPr lang="en-US" sz="1400" dirty="0"/>
          </a:p>
        </p:txBody>
      </p:sp>
      <p:sp>
        <p:nvSpPr>
          <p:cNvPr id="9" name="Stat 2 card"/>
          <p:cNvSpPr/>
          <p:nvPr/>
        </p:nvSpPr>
        <p:spPr>
          <a:xfrm>
            <a:off x="8595360" y="3078480"/>
            <a:ext cx="3139135" cy="1386840"/>
          </a:xfrm>
          <a:prstGeom prst="roundRect">
            <a:avLst>
              <a:gd name="adj" fmla="val 7912"/>
            </a:avLst>
          </a:prstGeom>
          <a:solidFill>
            <a:schemeClr val="bg2"/>
          </a:solidFill>
          <a:ln/>
        </p:spPr>
      </p:sp>
      <p:sp>
        <p:nvSpPr>
          <p:cNvPr id="10" name="Stat 2 value"/>
          <p:cNvSpPr txBox="1"/>
          <p:nvPr/>
        </p:nvSpPr>
        <p:spPr>
          <a:xfrm>
            <a:off x="8778240" y="3150108"/>
            <a:ext cx="2773375" cy="548640"/>
          </a:xfrm>
          <a:prstGeom prst="rect">
            <a:avLst/>
          </a:prstGeom>
          <a:noFill/>
          <a:ln/>
        </p:spPr>
        <p:txBody>
          <a:bodyPr wrap="square" lIns="0" tIns="0" rIns="0" bIns="0" rtlCol="0" anchor="ctr"/>
          <a:lstStyle/>
          <a:p>
            <a:pPr algn="l" indent="0" marL="0">
              <a:buNone/>
            </a:pPr>
            <a:r>
              <a:rPr lang="en-US" sz="3600" b="1" dirty="0">
                <a:solidFill>
                  <a:schemeClr val="accent1"/>
                </a:solidFill>
                <a:latin typeface="+mj-lt" pitchFamily="34" charset="0"/>
                <a:ea typeface="+mj-lt" pitchFamily="34" charset="-122"/>
                <a:cs typeface="+mj-lt" pitchFamily="34" charset="-120"/>
              </a:rPr>
              <a:t>9</a:t>
            </a:r>
            <a:endParaRPr lang="en-US" sz="3600" dirty="0"/>
          </a:p>
        </p:txBody>
      </p:sp>
      <p:sp>
        <p:nvSpPr>
          <p:cNvPr id="11" name="Stat 2 label"/>
          <p:cNvSpPr txBox="1"/>
          <p:nvPr/>
        </p:nvSpPr>
        <p:spPr>
          <a:xfrm>
            <a:off x="8778240" y="3698748"/>
            <a:ext cx="2773375" cy="694944"/>
          </a:xfrm>
          <a:prstGeom prst="rect">
            <a:avLst/>
          </a:prstGeom>
          <a:noFill/>
          <a:ln/>
        </p:spPr>
        <p:txBody>
          <a:bodyPr wrap="square" lIns="0" tIns="0" rIns="0" bIns="0" rtlCol="0" anchor="t"/>
          <a:lstStyle/>
          <a:p>
            <a:pPr algn="l" indent="0" marL="0">
              <a:buNone/>
            </a:pPr>
            <a:r>
              <a:rPr lang="en-US" sz="1400" dirty="0">
                <a:solidFill>
                  <a:schemeClr val="tx1"/>
                </a:solidFill>
              </a:rPr>
              <a:t>orientations per position: facing, and tilted 15 and 30 degrees toward four edges</a:t>
            </a:r>
            <a:endParaRPr lang="en-US" sz="1400" dirty="0"/>
          </a:p>
        </p:txBody>
      </p:sp>
      <p:sp>
        <p:nvSpPr>
          <p:cNvPr id="12" name="Stat 3 card"/>
          <p:cNvSpPr/>
          <p:nvPr/>
        </p:nvSpPr>
        <p:spPr>
          <a:xfrm>
            <a:off x="8595360" y="4739640"/>
            <a:ext cx="3139135" cy="1386840"/>
          </a:xfrm>
          <a:prstGeom prst="roundRect">
            <a:avLst>
              <a:gd name="adj" fmla="val 7912"/>
            </a:avLst>
          </a:prstGeom>
          <a:solidFill>
            <a:schemeClr val="bg2"/>
          </a:solidFill>
          <a:ln/>
        </p:spPr>
      </p:sp>
      <p:sp>
        <p:nvSpPr>
          <p:cNvPr id="13" name="Stat 3 value"/>
          <p:cNvSpPr txBox="1"/>
          <p:nvPr/>
        </p:nvSpPr>
        <p:spPr>
          <a:xfrm>
            <a:off x="8778240" y="4917948"/>
            <a:ext cx="2773375" cy="548640"/>
          </a:xfrm>
          <a:prstGeom prst="rect">
            <a:avLst/>
          </a:prstGeom>
          <a:noFill/>
          <a:ln/>
        </p:spPr>
        <p:txBody>
          <a:bodyPr wrap="square" lIns="0" tIns="0" rIns="0" bIns="0" rtlCol="0" anchor="ctr"/>
          <a:lstStyle/>
          <a:p>
            <a:pPr algn="l" indent="0" marL="0">
              <a:buNone/>
            </a:pPr>
            <a:r>
              <a:rPr lang="en-US" sz="3600" b="1" dirty="0">
                <a:solidFill>
                  <a:schemeClr val="accent1"/>
                </a:solidFill>
                <a:latin typeface="+mj-lt" pitchFamily="34" charset="0"/>
                <a:ea typeface="+mj-lt" pitchFamily="34" charset="-122"/>
                <a:cs typeface="+mj-lt" pitchFamily="34" charset="-120"/>
              </a:rPr>
              <a:t>3 x 3</a:t>
            </a:r>
            <a:endParaRPr lang="en-US" sz="3600" dirty="0"/>
          </a:p>
        </p:txBody>
      </p:sp>
      <p:sp>
        <p:nvSpPr>
          <p:cNvPr id="14" name="Stat 3 label"/>
          <p:cNvSpPr txBox="1"/>
          <p:nvPr/>
        </p:nvSpPr>
        <p:spPr>
          <a:xfrm>
            <a:off x="8778240" y="5466588"/>
            <a:ext cx="2773375" cy="481584"/>
          </a:xfrm>
          <a:prstGeom prst="rect">
            <a:avLst/>
          </a:prstGeom>
          <a:noFill/>
          <a:ln/>
        </p:spPr>
        <p:txBody>
          <a:bodyPr wrap="square" lIns="0" tIns="0" rIns="0" bIns="0" rtlCol="0" anchor="t"/>
          <a:lstStyle/>
          <a:p>
            <a:pPr algn="l" indent="0" marL="0">
              <a:buNone/>
            </a:pPr>
            <a:r>
              <a:rPr lang="en-US" sz="1400" dirty="0">
                <a:solidFill>
                  <a:schemeClr val="tx1"/>
                </a:solidFill>
              </a:rPr>
              <a:t>grid of positions over half the field at each standoff</a:t>
            </a:r>
            <a:endParaRPr lang="en-US" sz="1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What the robot program must do</a:t>
            </a:r>
            <a:endParaRPr lang="en-US" sz="3400" dirty="0"/>
          </a:p>
        </p:txBody>
      </p:sp>
      <p:sp>
        <p:nvSpPr>
          <p:cNvPr id="3" name="Column 1 card"/>
          <p:cNvSpPr/>
          <p:nvPr/>
        </p:nvSpPr>
        <p:spPr>
          <a:xfrm>
            <a:off x="457200" y="1417320"/>
            <a:ext cx="3576218" cy="3703320"/>
          </a:xfrm>
          <a:prstGeom prst="roundRect">
            <a:avLst>
              <a:gd name="adj" fmla="val 3068"/>
            </a:avLst>
          </a:prstGeom>
          <a:solidFill>
            <a:schemeClr val="bg2"/>
          </a:solidFill>
          <a:ln/>
        </p:spPr>
      </p:sp>
      <p:sp>
        <p:nvSpPr>
          <p:cNvPr id="4" name="Column 1 icon circle"/>
          <p:cNvSpPr/>
          <p:nvPr/>
        </p:nvSpPr>
        <p:spPr>
          <a:xfrm>
            <a:off x="685800" y="1645920"/>
            <a:ext cx="640080" cy="640080"/>
          </a:xfrm>
          <a:prstGeom prst="ellipse">
            <a:avLst/>
          </a:prstGeom>
          <a:solidFill>
            <a:schemeClr val="accent2"/>
          </a:solidFill>
          <a:ln/>
        </p:spPr>
      </p:sp>
      <p:pic>
        <p:nvPicPr>
          <p:cNvPr id="5" name="Column 1 icon glyph" descr="input icon">    </p:cNvPr>
          <p:cNvPicPr>
            <a:picLocks noChangeAspect="1"/>
          </p:cNvPicPr>
          <p:nvPr/>
        </p:nvPicPr>
        <p:blipFill>
          <a:blip r:embed="rId1"/>
          <a:stretch>
            <a:fillRect/>
          </a:stretch>
        </p:blipFill>
        <p:spPr>
          <a:xfrm>
            <a:off x="845820" y="1805940"/>
            <a:ext cx="320040" cy="320040"/>
          </a:xfrm>
          <a:prstGeom prst="rect">
            <a:avLst/>
          </a:prstGeom>
        </p:spPr>
      </p:pic>
      <p:sp>
        <p:nvSpPr>
          <p:cNvPr id="6" name="Column 1 head"/>
          <p:cNvSpPr txBox="1"/>
          <p:nvPr/>
        </p:nvSpPr>
        <p:spPr>
          <a:xfrm>
            <a:off x="1508760" y="1645920"/>
            <a:ext cx="2296058" cy="640080"/>
          </a:xfrm>
          <a:prstGeom prst="rect">
            <a:avLst/>
          </a:prstGeom>
          <a:noFill/>
          <a:ln/>
        </p:spPr>
        <p:txBody>
          <a:bodyPr wrap="square" lIns="0" tIns="0" rIns="0" bIns="0" rtlCol="0" anchor="ctr"/>
          <a:lstStyle/>
          <a:p>
            <a:pPr algn="l" indent="0" marL="0">
              <a:buNone/>
            </a:pPr>
            <a:r>
              <a:rPr lang="en-US" sz="2000" b="1" dirty="0">
                <a:solidFill>
                  <a:schemeClr val="tx2"/>
                </a:solidFill>
                <a:latin typeface="+mj-lt" pitchFamily="34" charset="0"/>
                <a:ea typeface="+mj-lt" pitchFamily="34" charset="-122"/>
                <a:cs typeface="+mj-lt" pitchFamily="34" charset="-120"/>
              </a:rPr>
              <a:t>Inputs</a:t>
            </a:r>
            <a:endParaRPr lang="en-US" sz="2000" dirty="0"/>
          </a:p>
        </p:txBody>
      </p:sp>
      <p:sp>
        <p:nvSpPr>
          <p:cNvPr id="7" name="Column 1 points"/>
          <p:cNvSpPr txBox="1"/>
          <p:nvPr/>
        </p:nvSpPr>
        <p:spPr>
          <a:xfrm>
            <a:off x="685800" y="2468880"/>
            <a:ext cx="3119018" cy="2423160"/>
          </a:xfrm>
          <a:prstGeom prst="rect">
            <a:avLst/>
          </a:prstGeom>
          <a:noFill/>
          <a:ln/>
        </p:spPr>
        <p:txBody>
          <a:bodyPr wrap="square" lIns="0" tIns="0" rIns="0" bIns="0" rtlCol="0" anchor="t"/>
          <a:lstStyle/>
          <a:p>
            <a:pPr algn="l" marL="177800" indent="-177800">
              <a:spcAft>
                <a:spcPts val="600"/>
              </a:spcAft>
              <a:buSzPct val="100000"/>
              <a:buChar char="•"/>
            </a:pPr>
            <a:r>
              <a:rPr lang="en-US" sz="1400" dirty="0">
                <a:solidFill>
                  <a:schemeClr val="tx1"/>
                </a:solidFill>
              </a:rPr>
              <a:t>poses.csv from the plan tool: base-frame position and orientation of every target pose, as a matrix, a quaternion and a rotation vector, plus the approach pose in the same forms</a:t>
            </a:r>
            <a:endParaRPr lang="en-US" sz="1400" dirty="0"/>
          </a:p>
          <a:p>
            <a:pPr algn="l" marL="177800" indent="-177800">
              <a:spcAft>
                <a:spcPts val="600"/>
              </a:spcAft>
              <a:buSzPct val="100000"/>
              <a:buChar char="•"/>
            </a:pPr>
            <a:r>
              <a:rPr lang="en-US" sz="1400" dirty="0">
                <a:solidFill>
                  <a:schemeClr val="tx1"/>
                </a:solidFill>
              </a:rPr>
              <a:t>The tool frame TOOL_BOARD</a:t>
            </a:r>
            <a:endParaRPr lang="en-US" sz="1400" dirty="0"/>
          </a:p>
        </p:txBody>
      </p:sp>
      <p:sp>
        <p:nvSpPr>
          <p:cNvPr id="8" name="Column 2 card"/>
          <p:cNvSpPr/>
          <p:nvPr/>
        </p:nvSpPr>
        <p:spPr>
          <a:xfrm>
            <a:off x="4307738" y="1417320"/>
            <a:ext cx="3576218" cy="3703320"/>
          </a:xfrm>
          <a:prstGeom prst="roundRect">
            <a:avLst>
              <a:gd name="adj" fmla="val 3068"/>
            </a:avLst>
          </a:prstGeom>
          <a:solidFill>
            <a:schemeClr val="bg2"/>
          </a:solidFill>
          <a:ln/>
        </p:spPr>
      </p:sp>
      <p:sp>
        <p:nvSpPr>
          <p:cNvPr id="9" name="Column 2 icon circle"/>
          <p:cNvSpPr/>
          <p:nvPr/>
        </p:nvSpPr>
        <p:spPr>
          <a:xfrm>
            <a:off x="4536338" y="1645920"/>
            <a:ext cx="640080" cy="640080"/>
          </a:xfrm>
          <a:prstGeom prst="ellipse">
            <a:avLst/>
          </a:prstGeom>
          <a:solidFill>
            <a:schemeClr val="accent2"/>
          </a:solidFill>
          <a:ln/>
        </p:spPr>
      </p:sp>
      <p:pic>
        <p:nvPicPr>
          <p:cNvPr id="10" name="Column 2 icon glyph" descr="cogs icon">    </p:cNvPr>
          <p:cNvPicPr>
            <a:picLocks noChangeAspect="1"/>
          </p:cNvPicPr>
          <p:nvPr/>
        </p:nvPicPr>
        <p:blipFill>
          <a:blip r:embed="rId2"/>
          <a:stretch>
            <a:fillRect/>
          </a:stretch>
        </p:blipFill>
        <p:spPr>
          <a:xfrm>
            <a:off x="4696358" y="1805940"/>
            <a:ext cx="320040" cy="320040"/>
          </a:xfrm>
          <a:prstGeom prst="rect">
            <a:avLst/>
          </a:prstGeom>
        </p:spPr>
      </p:pic>
      <p:sp>
        <p:nvSpPr>
          <p:cNvPr id="11" name="Column 2 head"/>
          <p:cNvSpPr txBox="1"/>
          <p:nvPr/>
        </p:nvSpPr>
        <p:spPr>
          <a:xfrm>
            <a:off x="5359298" y="1645920"/>
            <a:ext cx="2296058" cy="640080"/>
          </a:xfrm>
          <a:prstGeom prst="rect">
            <a:avLst/>
          </a:prstGeom>
          <a:noFill/>
          <a:ln/>
        </p:spPr>
        <p:txBody>
          <a:bodyPr wrap="square" lIns="0" tIns="0" rIns="0" bIns="0" rtlCol="0" anchor="ctr"/>
          <a:lstStyle/>
          <a:p>
            <a:pPr algn="l" indent="0" marL="0">
              <a:buNone/>
            </a:pPr>
            <a:r>
              <a:rPr lang="en-US" sz="2000" b="1" dirty="0">
                <a:solidFill>
                  <a:schemeClr val="tx2"/>
                </a:solidFill>
                <a:latin typeface="+mj-lt" pitchFamily="34" charset="0"/>
                <a:ea typeface="+mj-lt" pitchFamily="34" charset="-122"/>
                <a:cs typeface="+mj-lt" pitchFamily="34" charset="-120"/>
              </a:rPr>
              <a:t>Behavior</a:t>
            </a:r>
            <a:endParaRPr lang="en-US" sz="2000" dirty="0"/>
          </a:p>
        </p:txBody>
      </p:sp>
      <p:sp>
        <p:nvSpPr>
          <p:cNvPr id="12" name="Column 2 points"/>
          <p:cNvSpPr txBox="1"/>
          <p:nvPr/>
        </p:nvSpPr>
        <p:spPr>
          <a:xfrm>
            <a:off x="4536338" y="2468880"/>
            <a:ext cx="3119018" cy="2423160"/>
          </a:xfrm>
          <a:prstGeom prst="rect">
            <a:avLst/>
          </a:prstGeom>
          <a:noFill/>
          <a:ln/>
        </p:spPr>
        <p:txBody>
          <a:bodyPr wrap="square" lIns="0" tIns="0" rIns="0" bIns="0" rtlCol="0" anchor="t"/>
          <a:lstStyle/>
          <a:p>
            <a:pPr algn="l" marL="177800" indent="-177800">
              <a:spcAft>
                <a:spcPts val="600"/>
              </a:spcAft>
              <a:buSzPct val="100000"/>
              <a:buChar char="•"/>
            </a:pPr>
            <a:r>
              <a:rPr lang="en-US" sz="1400" dirty="0">
                <a:solidFill>
                  <a:schemeClr val="tx1"/>
                </a:solidFill>
              </a:rPr>
              <a:t>Sub-procedure A: one joint move straight to the target</a:t>
            </a:r>
            <a:endParaRPr lang="en-US" sz="1400" dirty="0"/>
          </a:p>
          <a:p>
            <a:pPr algn="l" marL="177800" indent="-177800">
              <a:spcAft>
                <a:spcPts val="600"/>
              </a:spcAft>
              <a:buSzPct val="100000"/>
              <a:buChar char="•"/>
            </a:pPr>
            <a:r>
              <a:rPr lang="en-US" sz="1400" dirty="0">
                <a:solidFill>
                  <a:schemeClr val="tx1"/>
                </a:solidFill>
              </a:rPr>
              <a:t>Sub-procedure B: joint move to the approach pose, then the same linear final move onto every target</a:t>
            </a:r>
            <a:endParaRPr lang="en-US" sz="1400" dirty="0"/>
          </a:p>
          <a:p>
            <a:pPr algn="l" marL="177800" indent="-177800">
              <a:spcAft>
                <a:spcPts val="600"/>
              </a:spcAft>
              <a:buSzPct val="100000"/>
              <a:buChar char="•"/>
            </a:pPr>
            <a:r>
              <a:rPr lang="en-US" sz="1400" dirty="0">
                <a:solidFill>
                  <a:schemeClr val="tx1"/>
                </a:solidFill>
              </a:rPr>
              <a:t>Settle 1.5 seconds; same speed settings in both; never change the base frame</a:t>
            </a:r>
            <a:endParaRPr lang="en-US" sz="1400" dirty="0"/>
          </a:p>
        </p:txBody>
      </p:sp>
      <p:sp>
        <p:nvSpPr>
          <p:cNvPr id="13" name="Column 3 card"/>
          <p:cNvSpPr/>
          <p:nvPr/>
        </p:nvSpPr>
        <p:spPr>
          <a:xfrm>
            <a:off x="8158277" y="1417320"/>
            <a:ext cx="3576218" cy="3703320"/>
          </a:xfrm>
          <a:prstGeom prst="roundRect">
            <a:avLst>
              <a:gd name="adj" fmla="val 3068"/>
            </a:avLst>
          </a:prstGeom>
          <a:solidFill>
            <a:schemeClr val="bg2"/>
          </a:solidFill>
          <a:ln/>
        </p:spPr>
      </p:sp>
      <p:sp>
        <p:nvSpPr>
          <p:cNvPr id="14" name="Column 3 icon circle"/>
          <p:cNvSpPr/>
          <p:nvPr/>
        </p:nvSpPr>
        <p:spPr>
          <a:xfrm>
            <a:off x="8386877" y="1645920"/>
            <a:ext cx="640080" cy="640080"/>
          </a:xfrm>
          <a:prstGeom prst="ellipse">
            <a:avLst/>
          </a:prstGeom>
          <a:solidFill>
            <a:schemeClr val="accent2"/>
          </a:solidFill>
          <a:ln/>
        </p:spPr>
      </p:sp>
      <p:pic>
        <p:nvPicPr>
          <p:cNvPr id="15" name="Column 3 icon glyph" descr="output icon">    </p:cNvPr>
          <p:cNvPicPr>
            <a:picLocks noChangeAspect="1"/>
          </p:cNvPicPr>
          <p:nvPr/>
        </p:nvPicPr>
        <p:blipFill>
          <a:blip r:embed="rId3"/>
          <a:stretch>
            <a:fillRect/>
          </a:stretch>
        </p:blipFill>
        <p:spPr>
          <a:xfrm>
            <a:off x="8546897" y="1805940"/>
            <a:ext cx="320040" cy="320040"/>
          </a:xfrm>
          <a:prstGeom prst="rect">
            <a:avLst/>
          </a:prstGeom>
        </p:spPr>
      </p:pic>
      <p:sp>
        <p:nvSpPr>
          <p:cNvPr id="16" name="Column 3 head"/>
          <p:cNvSpPr txBox="1"/>
          <p:nvPr/>
        </p:nvSpPr>
        <p:spPr>
          <a:xfrm>
            <a:off x="9209837" y="1645920"/>
            <a:ext cx="2296058" cy="640080"/>
          </a:xfrm>
          <a:prstGeom prst="rect">
            <a:avLst/>
          </a:prstGeom>
          <a:noFill/>
          <a:ln/>
        </p:spPr>
        <p:txBody>
          <a:bodyPr wrap="square" lIns="0" tIns="0" rIns="0" bIns="0" rtlCol="0" anchor="ctr"/>
          <a:lstStyle/>
          <a:p>
            <a:pPr algn="l" indent="0" marL="0">
              <a:buNone/>
            </a:pPr>
            <a:r>
              <a:rPr lang="en-US" sz="2000" b="1" dirty="0">
                <a:solidFill>
                  <a:schemeClr val="tx2"/>
                </a:solidFill>
                <a:latin typeface="+mj-lt" pitchFamily="34" charset="0"/>
                <a:ea typeface="+mj-lt" pitchFamily="34" charset="-122"/>
                <a:cs typeface="+mj-lt" pitchFamily="34" charset="-120"/>
              </a:rPr>
              <a:t>Outputs</a:t>
            </a:r>
            <a:endParaRPr lang="en-US" sz="2000" dirty="0"/>
          </a:p>
        </p:txBody>
      </p:sp>
      <p:sp>
        <p:nvSpPr>
          <p:cNvPr id="17" name="Column 3 points"/>
          <p:cNvSpPr txBox="1"/>
          <p:nvPr/>
        </p:nvSpPr>
        <p:spPr>
          <a:xfrm>
            <a:off x="8386877" y="2468880"/>
            <a:ext cx="3119018" cy="2423160"/>
          </a:xfrm>
          <a:prstGeom prst="rect">
            <a:avLst/>
          </a:prstGeom>
          <a:noFill/>
          <a:ln/>
        </p:spPr>
        <p:txBody>
          <a:bodyPr wrap="square" lIns="0" tIns="0" rIns="0" bIns="0" rtlCol="0" anchor="t"/>
          <a:lstStyle/>
          <a:p>
            <a:pPr algn="l" marL="177800" indent="-177800">
              <a:spcAft>
                <a:spcPts val="600"/>
              </a:spcAft>
              <a:buSzPct val="100000"/>
              <a:buChar char="•"/>
            </a:pPr>
            <a:r>
              <a:rPr lang="en-US" sz="1400" dirty="0">
                <a:solidFill>
                  <a:schemeClr val="tx1"/>
                </a:solidFill>
              </a:rPr>
              <a:t>Trigger five frames per pose through the communication software, named &lt;pose_id&gt;_Index00 to _Index04</a:t>
            </a:r>
            <a:endParaRPr lang="en-US" sz="1400" dirty="0"/>
          </a:p>
          <a:p>
            <a:pPr algn="l" marL="177800" indent="-177800">
              <a:spcAft>
                <a:spcPts val="600"/>
              </a:spcAft>
              <a:buSzPct val="100000"/>
              <a:buChar char="•"/>
            </a:pPr>
            <a:r>
              <a:rPr lang="en-US" sz="1400" dirty="0">
                <a:solidFill>
                  <a:schemeClr val="tx1"/>
                </a:solidFill>
              </a:rPr>
              <a:t>Append the REPORTED tool pose and, if available, the joint angles to pose_log_A.csv or pose_log_B.csv; note where the files are written</a:t>
            </a:r>
            <a:endParaRPr lang="en-US" sz="1400" dirty="0"/>
          </a:p>
        </p:txBody>
      </p:sp>
      <p:sp>
        <p:nvSpPr>
          <p:cNvPr id="18" name="Message box"/>
          <p:cNvSpPr/>
          <p:nvPr/>
        </p:nvSpPr>
        <p:spPr>
          <a:xfrm>
            <a:off x="457200" y="5394960"/>
            <a:ext cx="11277295" cy="731520"/>
          </a:xfrm>
          <a:prstGeom prst="roundRect">
            <a:avLst>
              <a:gd name="adj" fmla="val 15000"/>
            </a:avLst>
          </a:prstGeom>
          <a:solidFill>
            <a:schemeClr val="bg2"/>
          </a:solidFill>
          <a:ln w="25400">
            <a:solidFill>
              <a:schemeClr val="accent1"/>
            </a:solidFill>
            <a:prstDash val="solid"/>
          </a:ln>
        </p:spPr>
      </p:sp>
      <p:sp>
        <p:nvSpPr>
          <p:cNvPr id="19" name="Message icon circle"/>
          <p:cNvSpPr/>
          <p:nvPr/>
        </p:nvSpPr>
        <p:spPr>
          <a:xfrm>
            <a:off x="685800" y="5440680"/>
            <a:ext cx="640080" cy="640080"/>
          </a:xfrm>
          <a:prstGeom prst="ellipse">
            <a:avLst/>
          </a:prstGeom>
          <a:solidFill>
            <a:schemeClr val="accent1"/>
          </a:solidFill>
          <a:ln/>
        </p:spPr>
      </p:sp>
      <p:pic>
        <p:nvPicPr>
          <p:cNvPr id="20" name="Message icon glyph" descr="robot icon">    </p:cNvPr>
          <p:cNvPicPr>
            <a:picLocks noChangeAspect="1"/>
          </p:cNvPicPr>
          <p:nvPr/>
        </p:nvPicPr>
        <p:blipFill>
          <a:blip r:embed="rId4"/>
          <a:stretch>
            <a:fillRect/>
          </a:stretch>
        </p:blipFill>
        <p:spPr>
          <a:xfrm>
            <a:off x="845820" y="5600700"/>
            <a:ext cx="320040" cy="320040"/>
          </a:xfrm>
          <a:prstGeom prst="rect">
            <a:avLst/>
          </a:prstGeom>
        </p:spPr>
      </p:pic>
      <p:sp>
        <p:nvSpPr>
          <p:cNvPr id="21" name="Key message"/>
          <p:cNvSpPr txBox="1"/>
          <p:nvPr/>
        </p:nvSpPr>
        <p:spPr>
          <a:xfrm>
            <a:off x="1508760" y="5394960"/>
            <a:ext cx="9997135" cy="731520"/>
          </a:xfrm>
          <a:prstGeom prst="rect">
            <a:avLst/>
          </a:prstGeom>
          <a:noFill/>
          <a:ln/>
        </p:spPr>
        <p:txBody>
          <a:bodyPr wrap="square" lIns="0" tIns="0" rIns="0" bIns="0" rtlCol="0" anchor="ctr"/>
          <a:lstStyle/>
          <a:p>
            <a:pPr algn="l" indent="0" marL="0">
              <a:buNone/>
            </a:pPr>
            <a:r>
              <a:rPr lang="en-US" sz="1800" b="1" dirty="0">
                <a:solidFill>
                  <a:schemeClr val="tx2"/>
                </a:solidFill>
              </a:rPr>
              <a:t>Once the robot model and controller are settled, the robot program can be written with Claude Code.</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Sub-procedure A: straight to every pose</a:t>
            </a:r>
            <a:endParaRPr lang="en-US" sz="3400" dirty="0"/>
          </a:p>
        </p:txBody>
      </p:sp>
      <p:sp>
        <p:nvSpPr>
          <p:cNvPr id="3" name="Step 1 card"/>
          <p:cNvSpPr/>
          <p:nvPr/>
        </p:nvSpPr>
        <p:spPr>
          <a:xfrm>
            <a:off x="457200" y="1417320"/>
            <a:ext cx="2407844" cy="2926080"/>
          </a:xfrm>
          <a:prstGeom prst="roundRect">
            <a:avLst>
              <a:gd name="adj" fmla="val 4557"/>
            </a:avLst>
          </a:prstGeom>
          <a:solidFill>
            <a:schemeClr val="bg2"/>
          </a:solidFill>
          <a:ln/>
        </p:spPr>
      </p:sp>
      <p:sp>
        <p:nvSpPr>
          <p:cNvPr id="4" name="Step 1 badge"/>
          <p:cNvSpPr txBox="1"/>
          <p:nvPr/>
        </p:nvSpPr>
        <p:spPr>
          <a:xfrm>
            <a:off x="685800"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Step 1 head"/>
          <p:cNvSpPr txBox="1"/>
          <p:nvPr/>
        </p:nvSpPr>
        <p:spPr>
          <a:xfrm>
            <a:off x="685800" y="224028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Move</a:t>
            </a:r>
            <a:endParaRPr lang="en-US" sz="1800" dirty="0"/>
          </a:p>
        </p:txBody>
      </p:sp>
      <p:sp>
        <p:nvSpPr>
          <p:cNvPr id="6" name="Step 1 text"/>
          <p:cNvSpPr txBox="1"/>
          <p:nvPr/>
        </p:nvSpPr>
        <p:spPr>
          <a:xfrm>
            <a:off x="685800" y="2560320"/>
            <a:ext cx="1950644" cy="1554480"/>
          </a:xfrm>
          <a:prstGeom prst="rect">
            <a:avLst/>
          </a:prstGeom>
          <a:noFill/>
          <a:ln/>
        </p:spPr>
        <p:txBody>
          <a:bodyPr wrap="square" lIns="0" tIns="0" rIns="0" bIns="0" rtlCol="0" anchor="t"/>
          <a:lstStyle/>
          <a:p>
            <a:pPr algn="l" indent="0" marL="0">
              <a:buNone/>
            </a:pPr>
            <a:r>
              <a:rPr lang="en-US" sz="1400" dirty="0">
                <a:solidFill>
                  <a:schemeClr val="tx1"/>
                </a:solidFill>
              </a:rPr>
              <a:t>One joint move to the target pose, from wherever the robot is</a:t>
            </a:r>
            <a:endParaRPr lang="en-US" sz="1400" dirty="0"/>
          </a:p>
        </p:txBody>
      </p:sp>
      <p:sp>
        <p:nvSpPr>
          <p:cNvPr id="7" name="Arrow 1 to 2"/>
          <p:cNvSpPr/>
          <p:nvPr/>
        </p:nvSpPr>
        <p:spPr>
          <a:xfrm>
            <a:off x="3025064" y="2697480"/>
            <a:ext cx="228600" cy="365760"/>
          </a:xfrm>
          <a:prstGeom prst="chevron">
            <a:avLst/>
          </a:prstGeom>
          <a:solidFill>
            <a:schemeClr val="accent2"/>
          </a:solidFill>
          <a:ln/>
        </p:spPr>
      </p:sp>
      <p:sp>
        <p:nvSpPr>
          <p:cNvPr id="8" name="Step 2 card"/>
          <p:cNvSpPr/>
          <p:nvPr/>
        </p:nvSpPr>
        <p:spPr>
          <a:xfrm>
            <a:off x="3413684" y="1417320"/>
            <a:ext cx="2407844" cy="2926080"/>
          </a:xfrm>
          <a:prstGeom prst="roundRect">
            <a:avLst>
              <a:gd name="adj" fmla="val 4557"/>
            </a:avLst>
          </a:prstGeom>
          <a:solidFill>
            <a:schemeClr val="bg2"/>
          </a:solidFill>
          <a:ln/>
        </p:spPr>
      </p:sp>
      <p:sp>
        <p:nvSpPr>
          <p:cNvPr id="9" name="Step 2 badge"/>
          <p:cNvSpPr txBox="1"/>
          <p:nvPr/>
        </p:nvSpPr>
        <p:spPr>
          <a:xfrm>
            <a:off x="3642284"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Step 2 head"/>
          <p:cNvSpPr txBox="1"/>
          <p:nvPr/>
        </p:nvSpPr>
        <p:spPr>
          <a:xfrm>
            <a:off x="3642284" y="224028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Settle</a:t>
            </a:r>
            <a:endParaRPr lang="en-US" sz="1800" dirty="0"/>
          </a:p>
        </p:txBody>
      </p:sp>
      <p:sp>
        <p:nvSpPr>
          <p:cNvPr id="11" name="Step 2 text"/>
          <p:cNvSpPr txBox="1"/>
          <p:nvPr/>
        </p:nvSpPr>
        <p:spPr>
          <a:xfrm>
            <a:off x="3642284" y="2560320"/>
            <a:ext cx="1950644" cy="1554480"/>
          </a:xfrm>
          <a:prstGeom prst="rect">
            <a:avLst/>
          </a:prstGeom>
          <a:noFill/>
          <a:ln/>
        </p:spPr>
        <p:txBody>
          <a:bodyPr wrap="square" lIns="0" tIns="0" rIns="0" bIns="0" rtlCol="0" anchor="t"/>
          <a:lstStyle/>
          <a:p>
            <a:pPr algn="l" indent="0" marL="0">
              <a:buNone/>
            </a:pPr>
            <a:r>
              <a:rPr lang="en-US" sz="1400" dirty="0">
                <a:solidFill>
                  <a:schemeClr val="tx1"/>
                </a:solidFill>
              </a:rPr>
              <a:t>Wait 1.5 seconds for vibration to die out</a:t>
            </a:r>
            <a:endParaRPr lang="en-US" sz="1400" dirty="0"/>
          </a:p>
        </p:txBody>
      </p:sp>
      <p:sp>
        <p:nvSpPr>
          <p:cNvPr id="12" name="Arrow 2 to 3"/>
          <p:cNvSpPr/>
          <p:nvPr/>
        </p:nvSpPr>
        <p:spPr>
          <a:xfrm>
            <a:off x="5981548" y="2697480"/>
            <a:ext cx="228600" cy="365760"/>
          </a:xfrm>
          <a:prstGeom prst="chevron">
            <a:avLst/>
          </a:prstGeom>
          <a:solidFill>
            <a:schemeClr val="accent2"/>
          </a:solidFill>
          <a:ln/>
        </p:spPr>
      </p:sp>
      <p:sp>
        <p:nvSpPr>
          <p:cNvPr id="13" name="Step 3 card"/>
          <p:cNvSpPr/>
          <p:nvPr/>
        </p:nvSpPr>
        <p:spPr>
          <a:xfrm>
            <a:off x="6370168" y="1417320"/>
            <a:ext cx="2407844" cy="2926080"/>
          </a:xfrm>
          <a:prstGeom prst="roundRect">
            <a:avLst>
              <a:gd name="adj" fmla="val 4557"/>
            </a:avLst>
          </a:prstGeom>
          <a:solidFill>
            <a:schemeClr val="bg2"/>
          </a:solidFill>
          <a:ln/>
        </p:spPr>
      </p:sp>
      <p:sp>
        <p:nvSpPr>
          <p:cNvPr id="14" name="Step 3 badge"/>
          <p:cNvSpPr txBox="1"/>
          <p:nvPr/>
        </p:nvSpPr>
        <p:spPr>
          <a:xfrm>
            <a:off x="6598768"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Step 3 head"/>
          <p:cNvSpPr txBox="1"/>
          <p:nvPr/>
        </p:nvSpPr>
        <p:spPr>
          <a:xfrm>
            <a:off x="6598768" y="224028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Capture</a:t>
            </a:r>
            <a:endParaRPr lang="en-US" sz="1800" dirty="0"/>
          </a:p>
        </p:txBody>
      </p:sp>
      <p:sp>
        <p:nvSpPr>
          <p:cNvPr id="16" name="Step 3 text"/>
          <p:cNvSpPr txBox="1"/>
          <p:nvPr/>
        </p:nvSpPr>
        <p:spPr>
          <a:xfrm>
            <a:off x="6598768" y="2560320"/>
            <a:ext cx="1950644" cy="1554480"/>
          </a:xfrm>
          <a:prstGeom prst="rect">
            <a:avLst/>
          </a:prstGeom>
          <a:noFill/>
          <a:ln/>
        </p:spPr>
        <p:txBody>
          <a:bodyPr wrap="square" lIns="0" tIns="0" rIns="0" bIns="0" rtlCol="0" anchor="t"/>
          <a:lstStyle/>
          <a:p>
            <a:pPr algn="l" indent="0" marL="0">
              <a:buNone/>
            </a:pPr>
            <a:r>
              <a:rPr lang="en-US" sz="1400" dirty="0">
                <a:solidFill>
                  <a:schemeClr val="tx1"/>
                </a:solidFill>
              </a:rPr>
              <a:t>Five frames through the communication software: &lt;pose_id&gt;_Index00 to _Index04, into captures_A/</a:t>
            </a:r>
            <a:endParaRPr lang="en-US" sz="1400" dirty="0"/>
          </a:p>
        </p:txBody>
      </p:sp>
      <p:sp>
        <p:nvSpPr>
          <p:cNvPr id="17" name="Arrow 3 to 4"/>
          <p:cNvSpPr/>
          <p:nvPr/>
        </p:nvSpPr>
        <p:spPr>
          <a:xfrm>
            <a:off x="8938031" y="2697480"/>
            <a:ext cx="228600" cy="365760"/>
          </a:xfrm>
          <a:prstGeom prst="chevron">
            <a:avLst/>
          </a:prstGeom>
          <a:solidFill>
            <a:schemeClr val="accent2"/>
          </a:solidFill>
          <a:ln/>
        </p:spPr>
      </p:sp>
      <p:sp>
        <p:nvSpPr>
          <p:cNvPr id="18" name="Step 4 card"/>
          <p:cNvSpPr/>
          <p:nvPr/>
        </p:nvSpPr>
        <p:spPr>
          <a:xfrm>
            <a:off x="9326651" y="1417320"/>
            <a:ext cx="2407844" cy="2926080"/>
          </a:xfrm>
          <a:prstGeom prst="roundRect">
            <a:avLst>
              <a:gd name="adj" fmla="val 4557"/>
            </a:avLst>
          </a:prstGeom>
          <a:solidFill>
            <a:schemeClr val="bg2"/>
          </a:solidFill>
          <a:ln/>
        </p:spPr>
      </p:sp>
      <p:sp>
        <p:nvSpPr>
          <p:cNvPr id="19" name="Step 4 badge"/>
          <p:cNvSpPr txBox="1"/>
          <p:nvPr/>
        </p:nvSpPr>
        <p:spPr>
          <a:xfrm>
            <a:off x="9555251"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0" name="Step 4 head"/>
          <p:cNvSpPr txBox="1"/>
          <p:nvPr/>
        </p:nvSpPr>
        <p:spPr>
          <a:xfrm>
            <a:off x="9555251" y="224028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Log</a:t>
            </a:r>
            <a:endParaRPr lang="en-US" sz="1800" dirty="0"/>
          </a:p>
        </p:txBody>
      </p:sp>
      <p:sp>
        <p:nvSpPr>
          <p:cNvPr id="21" name="Step 4 text"/>
          <p:cNvSpPr txBox="1"/>
          <p:nvPr/>
        </p:nvSpPr>
        <p:spPr>
          <a:xfrm>
            <a:off x="9555251" y="2560320"/>
            <a:ext cx="1950644" cy="1554480"/>
          </a:xfrm>
          <a:prstGeom prst="rect">
            <a:avLst/>
          </a:prstGeom>
          <a:noFill/>
          <a:ln/>
        </p:spPr>
        <p:txBody>
          <a:bodyPr wrap="square" lIns="0" tIns="0" rIns="0" bIns="0" rtlCol="0" anchor="t"/>
          <a:lstStyle/>
          <a:p>
            <a:pPr algn="l" indent="0" marL="0">
              <a:buNone/>
            </a:pPr>
            <a:r>
              <a:rPr lang="en-US" sz="1400" dirty="0">
                <a:solidFill>
                  <a:schemeClr val="tx1"/>
                </a:solidFill>
              </a:rPr>
              <a:t>Read the REPORTED tool pose and the joint angles; append them to pose_log_A.csv</a:t>
            </a:r>
            <a:endParaRPr lang="en-US" sz="1400" dirty="0"/>
          </a:p>
        </p:txBody>
      </p:sp>
      <p:sp>
        <p:nvSpPr>
          <p:cNvPr id="22" name="Stat 1 card"/>
          <p:cNvSpPr/>
          <p:nvPr/>
        </p:nvSpPr>
        <p:spPr>
          <a:xfrm>
            <a:off x="457200" y="4617720"/>
            <a:ext cx="2407844" cy="1508760"/>
          </a:xfrm>
          <a:prstGeom prst="roundRect">
            <a:avLst>
              <a:gd name="adj" fmla="val 7273"/>
            </a:avLst>
          </a:prstGeom>
          <a:solidFill>
            <a:schemeClr val="bg2"/>
          </a:solidFill>
          <a:ln/>
        </p:spPr>
      </p:sp>
      <p:sp>
        <p:nvSpPr>
          <p:cNvPr id="23" name="Stat 1 value"/>
          <p:cNvSpPr txBox="1"/>
          <p:nvPr/>
        </p:nvSpPr>
        <p:spPr>
          <a:xfrm>
            <a:off x="685800" y="4823460"/>
            <a:ext cx="1950644" cy="548640"/>
          </a:xfrm>
          <a:prstGeom prst="rect">
            <a:avLst/>
          </a:prstGeom>
          <a:noFill/>
          <a:ln/>
        </p:spPr>
        <p:txBody>
          <a:bodyPr wrap="square" lIns="0" tIns="0" rIns="0" bIns="0" rtlCol="0" anchor="ctr"/>
          <a:lstStyle/>
          <a:p>
            <a:pPr algn="l" indent="0" marL="0">
              <a:buNone/>
            </a:pPr>
            <a:r>
              <a:rPr lang="en-US" sz="3200" b="1" dirty="0">
                <a:solidFill>
                  <a:schemeClr val="accent1"/>
                </a:solidFill>
                <a:latin typeface="+mj-lt" pitchFamily="34" charset="0"/>
                <a:ea typeface="+mj-lt" pitchFamily="34" charset="-122"/>
                <a:cs typeface="+mj-lt" pitchFamily="34" charset="-120"/>
              </a:rPr>
              <a:t>~8 s</a:t>
            </a:r>
            <a:endParaRPr lang="en-US" sz="3200" dirty="0"/>
          </a:p>
        </p:txBody>
      </p:sp>
      <p:sp>
        <p:nvSpPr>
          <p:cNvPr id="24" name="Stat 1 label"/>
          <p:cNvSpPr txBox="1"/>
          <p:nvPr/>
        </p:nvSpPr>
        <p:spPr>
          <a:xfrm>
            <a:off x="685800" y="5372100"/>
            <a:ext cx="1950644" cy="548640"/>
          </a:xfrm>
          <a:prstGeom prst="rect">
            <a:avLst/>
          </a:prstGeom>
          <a:noFill/>
          <a:ln/>
        </p:spPr>
        <p:txBody>
          <a:bodyPr wrap="square" lIns="0" tIns="0" rIns="0" bIns="0" rtlCol="0" anchor="t"/>
          <a:lstStyle/>
          <a:p>
            <a:pPr algn="l" indent="0" marL="0">
              <a:buNone/>
            </a:pPr>
            <a:r>
              <a:rPr lang="en-US" sz="1400" dirty="0">
                <a:solidFill>
                  <a:schemeClr val="tx1"/>
                </a:solidFill>
              </a:rPr>
              <a:t>per pose</a:t>
            </a:r>
            <a:endParaRPr lang="en-US" sz="1400" dirty="0"/>
          </a:p>
        </p:txBody>
      </p:sp>
      <p:sp>
        <p:nvSpPr>
          <p:cNvPr id="25" name="Stat 2 card"/>
          <p:cNvSpPr/>
          <p:nvPr/>
        </p:nvSpPr>
        <p:spPr>
          <a:xfrm>
            <a:off x="3139364" y="4617720"/>
            <a:ext cx="2407844" cy="1508760"/>
          </a:xfrm>
          <a:prstGeom prst="roundRect">
            <a:avLst>
              <a:gd name="adj" fmla="val 7273"/>
            </a:avLst>
          </a:prstGeom>
          <a:solidFill>
            <a:schemeClr val="bg2"/>
          </a:solidFill>
          <a:ln/>
        </p:spPr>
      </p:sp>
      <p:sp>
        <p:nvSpPr>
          <p:cNvPr id="26" name="Stat 2 value"/>
          <p:cNvSpPr txBox="1"/>
          <p:nvPr/>
        </p:nvSpPr>
        <p:spPr>
          <a:xfrm>
            <a:off x="3367964" y="4823460"/>
            <a:ext cx="1950644" cy="548640"/>
          </a:xfrm>
          <a:prstGeom prst="rect">
            <a:avLst/>
          </a:prstGeom>
          <a:noFill/>
          <a:ln/>
        </p:spPr>
        <p:txBody>
          <a:bodyPr wrap="square" lIns="0" tIns="0" rIns="0" bIns="0" rtlCol="0" anchor="ctr"/>
          <a:lstStyle/>
          <a:p>
            <a:pPr algn="l" indent="0" marL="0">
              <a:buNone/>
            </a:pPr>
            <a:r>
              <a:rPr lang="en-US" sz="3200" b="1" dirty="0">
                <a:solidFill>
                  <a:schemeClr val="accent1"/>
                </a:solidFill>
                <a:latin typeface="+mj-lt" pitchFamily="34" charset="0"/>
                <a:ea typeface="+mj-lt" pitchFamily="34" charset="-122"/>
                <a:cs typeface="+mj-lt" pitchFamily="34" charset="-120"/>
              </a:rPr>
              <a:t>~30 min</a:t>
            </a:r>
            <a:endParaRPr lang="en-US" sz="3200" dirty="0"/>
          </a:p>
        </p:txBody>
      </p:sp>
      <p:sp>
        <p:nvSpPr>
          <p:cNvPr id="27" name="Stat 2 label"/>
          <p:cNvSpPr txBox="1"/>
          <p:nvPr/>
        </p:nvSpPr>
        <p:spPr>
          <a:xfrm>
            <a:off x="3367964" y="5372100"/>
            <a:ext cx="1950644" cy="548640"/>
          </a:xfrm>
          <a:prstGeom prst="rect">
            <a:avLst/>
          </a:prstGeom>
          <a:noFill/>
          <a:ln/>
        </p:spPr>
        <p:txBody>
          <a:bodyPr wrap="square" lIns="0" tIns="0" rIns="0" bIns="0" rtlCol="0" anchor="t"/>
          <a:lstStyle/>
          <a:p>
            <a:pPr algn="l" indent="0" marL="0">
              <a:buNone/>
            </a:pPr>
            <a:r>
              <a:rPr lang="en-US" sz="1400" dirty="0">
                <a:solidFill>
                  <a:schemeClr val="tx1"/>
                </a:solidFill>
              </a:rPr>
              <a:t>robot time for 235 poses</a:t>
            </a:r>
            <a:endParaRPr lang="en-US" sz="1400" dirty="0"/>
          </a:p>
        </p:txBody>
      </p:sp>
      <p:sp>
        <p:nvSpPr>
          <p:cNvPr id="28" name="Message box"/>
          <p:cNvSpPr/>
          <p:nvPr/>
        </p:nvSpPr>
        <p:spPr>
          <a:xfrm>
            <a:off x="5821528" y="4617720"/>
            <a:ext cx="5912968" cy="1508760"/>
          </a:xfrm>
          <a:prstGeom prst="roundRect">
            <a:avLst>
              <a:gd name="adj" fmla="val 7273"/>
            </a:avLst>
          </a:prstGeom>
          <a:solidFill>
            <a:schemeClr val="bg2"/>
          </a:solidFill>
          <a:ln w="25400">
            <a:solidFill>
              <a:schemeClr val="accent1"/>
            </a:solidFill>
            <a:prstDash val="solid"/>
          </a:ln>
        </p:spPr>
      </p:sp>
      <p:sp>
        <p:nvSpPr>
          <p:cNvPr id="29" name="Message icon circle"/>
          <p:cNvSpPr/>
          <p:nvPr/>
        </p:nvSpPr>
        <p:spPr>
          <a:xfrm>
            <a:off x="6050128" y="5052060"/>
            <a:ext cx="640080" cy="640080"/>
          </a:xfrm>
          <a:prstGeom prst="ellipse">
            <a:avLst/>
          </a:prstGeom>
          <a:solidFill>
            <a:schemeClr val="accent1"/>
          </a:solidFill>
          <a:ln/>
        </p:spPr>
      </p:sp>
      <p:pic>
        <p:nvPicPr>
          <p:cNvPr id="30" name="Message icon glyph" descr="list icon">    </p:cNvPr>
          <p:cNvPicPr>
            <a:picLocks noChangeAspect="1"/>
          </p:cNvPicPr>
          <p:nvPr/>
        </p:nvPicPr>
        <p:blipFill>
          <a:blip r:embed="rId1"/>
          <a:stretch>
            <a:fillRect/>
          </a:stretch>
        </p:blipFill>
        <p:spPr>
          <a:xfrm>
            <a:off x="6210148" y="5212080"/>
            <a:ext cx="320040" cy="320040"/>
          </a:xfrm>
          <a:prstGeom prst="rect">
            <a:avLst/>
          </a:prstGeom>
        </p:spPr>
      </p:pic>
      <p:sp>
        <p:nvSpPr>
          <p:cNvPr id="31" name="Key message"/>
          <p:cNvSpPr txBox="1"/>
          <p:nvPr/>
        </p:nvSpPr>
        <p:spPr>
          <a:xfrm>
            <a:off x="6873088" y="4617720"/>
            <a:ext cx="4632808" cy="1508760"/>
          </a:xfrm>
          <a:prstGeom prst="rect">
            <a:avLst/>
          </a:prstGeom>
          <a:noFill/>
          <a:ln/>
        </p:spPr>
        <p:txBody>
          <a:bodyPr wrap="square" lIns="0" tIns="0" rIns="0" bIns="0" rtlCol="0" anchor="ctr"/>
          <a:lstStyle/>
          <a:p>
            <a:pPr algn="l" indent="0" marL="0">
              <a:buNone/>
            </a:pPr>
            <a:r>
              <a:rPr lang="en-US" sz="1800" b="1" dirty="0">
                <a:solidFill>
                  <a:schemeClr val="tx2"/>
                </a:solidFill>
              </a:rPr>
              <a:t>Then build the manifest and run the check before starting B. Do all of A, then all of B; never move the sensor or remount the board between them.</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Sub-procedure B: the same final move</a:t>
            </a:r>
            <a:endParaRPr lang="en-US" sz="3400" dirty="0"/>
          </a:p>
        </p:txBody>
      </p:sp>
      <p:pic>
        <p:nvPicPr>
          <p:cNvPr id="3" name="Sub-procedure B: joint move to the approach pose, then the same final move onto the target" descr="Sub-procedure B: joint move to the approach pose, then the same final move onto the target">    </p:cNvPr>
          <p:cNvPicPr>
            <a:picLocks noChangeAspect="1"/>
          </p:cNvPicPr>
          <p:nvPr/>
        </p:nvPicPr>
        <p:blipFill>
          <a:blip r:embed="rId1"/>
          <a:stretch>
            <a:fillRect/>
          </a:stretch>
        </p:blipFill>
        <p:spPr>
          <a:xfrm>
            <a:off x="457200" y="1417320"/>
            <a:ext cx="5267874" cy="4709160"/>
          </a:xfrm>
          <a:prstGeom prst="rect">
            <a:avLst/>
          </a:prstGeom>
        </p:spPr>
      </p:pic>
      <p:sp>
        <p:nvSpPr>
          <p:cNvPr id="4" name="Sub-procedure B: joint move to the approach pose, then the same final move onto the target frame"/>
          <p:cNvSpPr/>
          <p:nvPr/>
        </p:nvSpPr>
        <p:spPr>
          <a:xfrm>
            <a:off x="457200" y="1417320"/>
            <a:ext cx="5267874" cy="4709160"/>
          </a:xfrm>
          <a:prstGeom prst="rect">
            <a:avLst/>
          </a:prstGeom>
          <a:ln w="12700">
            <a:solidFill>
              <a:schemeClr val="accent6"/>
            </a:solidFill>
            <a:prstDash val="solid"/>
          </a:ln>
        </p:spPr>
      </p:sp>
      <p:sp>
        <p:nvSpPr>
          <p:cNvPr id="5" name="Step 1 card"/>
          <p:cNvSpPr/>
          <p:nvPr/>
        </p:nvSpPr>
        <p:spPr>
          <a:xfrm>
            <a:off x="5999394" y="1417320"/>
            <a:ext cx="5735101" cy="910742"/>
          </a:xfrm>
          <a:prstGeom prst="roundRect">
            <a:avLst>
              <a:gd name="adj" fmla="val 12048"/>
            </a:avLst>
          </a:prstGeom>
          <a:solidFill>
            <a:schemeClr val="bg2"/>
          </a:solidFill>
          <a:ln/>
        </p:spPr>
      </p:sp>
      <p:sp>
        <p:nvSpPr>
          <p:cNvPr id="6" name="Step 1 badge"/>
          <p:cNvSpPr txBox="1"/>
          <p:nvPr/>
        </p:nvSpPr>
        <p:spPr>
          <a:xfrm>
            <a:off x="6113694" y="1621231"/>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Step 1 text"/>
          <p:cNvSpPr txBox="1"/>
          <p:nvPr/>
        </p:nvSpPr>
        <p:spPr>
          <a:xfrm>
            <a:off x="6799494" y="1417320"/>
            <a:ext cx="4820701" cy="910742"/>
          </a:xfrm>
          <a:prstGeom prst="rect">
            <a:avLst/>
          </a:prstGeom>
          <a:noFill/>
          <a:ln/>
        </p:spPr>
        <p:txBody>
          <a:bodyPr wrap="square" lIns="0" tIns="0" rIns="0" bIns="0" rtlCol="0" anchor="ctr"/>
          <a:lstStyle/>
          <a:p>
            <a:pPr algn="l" indent="0" marL="0">
              <a:buNone/>
            </a:pPr>
            <a:r>
              <a:rPr lang="en-US" sz="1400" dirty="0">
                <a:solidFill>
                  <a:schemeClr val="tx1"/>
                </a:solidFill>
              </a:rPr>
              <a:t>Joint move to the approach pose: the target moved back 40 mm along the board normal and turned 3 degrees about its long edge</a:t>
            </a:r>
            <a:endParaRPr lang="en-US" sz="1400" dirty="0"/>
          </a:p>
        </p:txBody>
      </p:sp>
      <p:sp>
        <p:nvSpPr>
          <p:cNvPr id="8" name="Step 2 card"/>
          <p:cNvSpPr/>
          <p:nvPr/>
        </p:nvSpPr>
        <p:spPr>
          <a:xfrm>
            <a:off x="5999394" y="2510942"/>
            <a:ext cx="5735101" cy="718718"/>
          </a:xfrm>
          <a:prstGeom prst="roundRect">
            <a:avLst>
              <a:gd name="adj" fmla="val 15267"/>
            </a:avLst>
          </a:prstGeom>
          <a:solidFill>
            <a:schemeClr val="bg2"/>
          </a:solidFill>
          <a:ln/>
        </p:spPr>
      </p:sp>
      <p:sp>
        <p:nvSpPr>
          <p:cNvPr id="9" name="Step 2 badge"/>
          <p:cNvSpPr txBox="1"/>
          <p:nvPr/>
        </p:nvSpPr>
        <p:spPr>
          <a:xfrm>
            <a:off x="6113694" y="2618842"/>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Step 2 text"/>
          <p:cNvSpPr txBox="1"/>
          <p:nvPr/>
        </p:nvSpPr>
        <p:spPr>
          <a:xfrm>
            <a:off x="6799494" y="2510942"/>
            <a:ext cx="4820701" cy="718718"/>
          </a:xfrm>
          <a:prstGeom prst="rect">
            <a:avLst/>
          </a:prstGeom>
          <a:noFill/>
          <a:ln/>
        </p:spPr>
        <p:txBody>
          <a:bodyPr wrap="square" lIns="0" tIns="0" rIns="0" bIns="0" rtlCol="0" anchor="ctr"/>
          <a:lstStyle/>
          <a:p>
            <a:pPr algn="l" indent="0" marL="0">
              <a:buNone/>
            </a:pPr>
            <a:r>
              <a:rPr lang="en-US" sz="1400" dirty="0">
                <a:solidFill>
                  <a:schemeClr val="tx1"/>
                </a:solidFill>
              </a:rPr>
              <a:t>Wait 0.5 seconds</a:t>
            </a:r>
            <a:endParaRPr lang="en-US" sz="1400" dirty="0"/>
          </a:p>
        </p:txBody>
      </p:sp>
      <p:sp>
        <p:nvSpPr>
          <p:cNvPr id="11" name="Step 3 card"/>
          <p:cNvSpPr/>
          <p:nvPr/>
        </p:nvSpPr>
        <p:spPr>
          <a:xfrm>
            <a:off x="5999394" y="3412541"/>
            <a:ext cx="5735101" cy="910742"/>
          </a:xfrm>
          <a:prstGeom prst="roundRect">
            <a:avLst>
              <a:gd name="adj" fmla="val 12048"/>
            </a:avLst>
          </a:prstGeom>
          <a:solidFill>
            <a:schemeClr val="bg2"/>
          </a:solidFill>
          <a:ln/>
        </p:spPr>
      </p:sp>
      <p:sp>
        <p:nvSpPr>
          <p:cNvPr id="12" name="Step 3 badge"/>
          <p:cNvSpPr txBox="1"/>
          <p:nvPr/>
        </p:nvSpPr>
        <p:spPr>
          <a:xfrm>
            <a:off x="6113694" y="3616452"/>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Step 3 text"/>
          <p:cNvSpPr txBox="1"/>
          <p:nvPr/>
        </p:nvSpPr>
        <p:spPr>
          <a:xfrm>
            <a:off x="6799494" y="3412541"/>
            <a:ext cx="4820701" cy="910742"/>
          </a:xfrm>
          <a:prstGeom prst="rect">
            <a:avLst/>
          </a:prstGeom>
          <a:noFill/>
          <a:ln/>
        </p:spPr>
        <p:txBody>
          <a:bodyPr wrap="square" lIns="0" tIns="0" rIns="0" bIns="0" rtlCol="0" anchor="ctr"/>
          <a:lstStyle/>
          <a:p>
            <a:pPr algn="l" indent="0" marL="0">
              <a:buNone/>
            </a:pPr>
            <a:r>
              <a:rPr lang="en-US" sz="1400" dirty="0">
                <a:solidFill>
                  <a:schemeClr val="tx1"/>
                </a:solidFill>
              </a:rPr>
              <a:t>Linear move onto the target at the same speed every time, without stopping or reversing; use the exact-stop mode if the controller has one</a:t>
            </a:r>
            <a:endParaRPr lang="en-US" sz="1400" dirty="0"/>
          </a:p>
        </p:txBody>
      </p:sp>
      <p:sp>
        <p:nvSpPr>
          <p:cNvPr id="14" name="Step 4 card"/>
          <p:cNvSpPr/>
          <p:nvPr/>
        </p:nvSpPr>
        <p:spPr>
          <a:xfrm>
            <a:off x="5999394" y="4506163"/>
            <a:ext cx="5735101" cy="718718"/>
          </a:xfrm>
          <a:prstGeom prst="roundRect">
            <a:avLst>
              <a:gd name="adj" fmla="val 15267"/>
            </a:avLst>
          </a:prstGeom>
          <a:solidFill>
            <a:schemeClr val="bg2"/>
          </a:solidFill>
          <a:ln/>
        </p:spPr>
      </p:sp>
      <p:sp>
        <p:nvSpPr>
          <p:cNvPr id="15" name="Step 4 badge"/>
          <p:cNvSpPr txBox="1"/>
          <p:nvPr/>
        </p:nvSpPr>
        <p:spPr>
          <a:xfrm>
            <a:off x="6113694" y="4614062"/>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6" name="Step 4 text"/>
          <p:cNvSpPr txBox="1"/>
          <p:nvPr/>
        </p:nvSpPr>
        <p:spPr>
          <a:xfrm>
            <a:off x="6799494" y="4506163"/>
            <a:ext cx="4820701" cy="718718"/>
          </a:xfrm>
          <a:prstGeom prst="rect">
            <a:avLst/>
          </a:prstGeom>
          <a:noFill/>
          <a:ln/>
        </p:spPr>
        <p:txBody>
          <a:bodyPr wrap="square" lIns="0" tIns="0" rIns="0" bIns="0" rtlCol="0" anchor="ctr"/>
          <a:lstStyle/>
          <a:p>
            <a:pPr algn="l" indent="0" marL="0">
              <a:buNone/>
            </a:pPr>
            <a:r>
              <a:rPr lang="en-US" sz="1400" dirty="0">
                <a:solidFill>
                  <a:schemeClr val="tx1"/>
                </a:solidFill>
              </a:rPr>
              <a:t>Settle 1.5 seconds; capture five frames into captures_B/</a:t>
            </a:r>
            <a:endParaRPr lang="en-US" sz="1400" dirty="0"/>
          </a:p>
        </p:txBody>
      </p:sp>
      <p:sp>
        <p:nvSpPr>
          <p:cNvPr id="17" name="Step 5 card"/>
          <p:cNvSpPr/>
          <p:nvPr/>
        </p:nvSpPr>
        <p:spPr>
          <a:xfrm>
            <a:off x="5999394" y="5407762"/>
            <a:ext cx="5735101" cy="718718"/>
          </a:xfrm>
          <a:prstGeom prst="roundRect">
            <a:avLst>
              <a:gd name="adj" fmla="val 15267"/>
            </a:avLst>
          </a:prstGeom>
          <a:solidFill>
            <a:schemeClr val="bg2"/>
          </a:solidFill>
          <a:ln/>
        </p:spPr>
      </p:sp>
      <p:sp>
        <p:nvSpPr>
          <p:cNvPr id="18" name="Step 5 badge"/>
          <p:cNvSpPr txBox="1"/>
          <p:nvPr/>
        </p:nvSpPr>
        <p:spPr>
          <a:xfrm>
            <a:off x="6113694" y="5515661"/>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9" name="Step 5 text"/>
          <p:cNvSpPr txBox="1"/>
          <p:nvPr/>
        </p:nvSpPr>
        <p:spPr>
          <a:xfrm>
            <a:off x="6799494" y="5407762"/>
            <a:ext cx="4820701" cy="718718"/>
          </a:xfrm>
          <a:prstGeom prst="rect">
            <a:avLst/>
          </a:prstGeom>
          <a:noFill/>
          <a:ln/>
        </p:spPr>
        <p:txBody>
          <a:bodyPr wrap="square" lIns="0" tIns="0" rIns="0" bIns="0" rtlCol="0" anchor="ctr"/>
          <a:lstStyle/>
          <a:p>
            <a:pPr algn="l" indent="0" marL="0">
              <a:buNone/>
            </a:pPr>
            <a:r>
              <a:rPr lang="en-US" sz="1400" dirty="0">
                <a:solidFill>
                  <a:schemeClr val="tx1"/>
                </a:solidFill>
              </a:rPr>
              <a:t>Log the REPORTED tool pose and the joint angles at the target and, if available, at the approach pose</a:t>
            </a:r>
            <a:endParaRPr lang="en-US" sz="1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Poses are recorded in a pose log</a:t>
            </a:r>
            <a:endParaRPr lang="en-US" sz="3400" dirty="0"/>
          </a:p>
        </p:txBody>
      </p:sp>
      <p:sp>
        <p:nvSpPr>
          <p:cNvPr id="3" name="Option 1 card"/>
          <p:cNvSpPr/>
          <p:nvPr/>
        </p:nvSpPr>
        <p:spPr>
          <a:xfrm>
            <a:off x="457200" y="1417320"/>
            <a:ext cx="5501488" cy="3703320"/>
          </a:xfrm>
          <a:prstGeom prst="roundRect">
            <a:avLst>
              <a:gd name="adj" fmla="val 2963"/>
            </a:avLst>
          </a:prstGeom>
          <a:solidFill>
            <a:schemeClr val="bg2"/>
          </a:solidFill>
          <a:ln/>
        </p:spPr>
      </p:sp>
      <p:sp>
        <p:nvSpPr>
          <p:cNvPr id="4" name="Option 1 header block"/>
          <p:cNvSpPr/>
          <p:nvPr/>
        </p:nvSpPr>
        <p:spPr>
          <a:xfrm>
            <a:off x="548640" y="1508760"/>
            <a:ext cx="5318608" cy="640080"/>
          </a:xfrm>
          <a:prstGeom prst="roundRect">
            <a:avLst>
              <a:gd name="adj" fmla="val 17143"/>
            </a:avLst>
          </a:prstGeom>
          <a:solidFill>
            <a:schemeClr val="tx2"/>
          </a:solidFill>
          <a:ln/>
        </p:spPr>
      </p:sp>
      <p:sp>
        <p:nvSpPr>
          <p:cNvPr id="5" name="Option 1 icon circle"/>
          <p:cNvSpPr/>
          <p:nvPr/>
        </p:nvSpPr>
        <p:spPr>
          <a:xfrm>
            <a:off x="640080" y="1623060"/>
            <a:ext cx="411480" cy="411480"/>
          </a:xfrm>
          <a:prstGeom prst="ellipse">
            <a:avLst/>
          </a:prstGeom>
          <a:solidFill>
            <a:schemeClr val="accent1"/>
          </a:solidFill>
          <a:ln/>
        </p:spPr>
      </p:sp>
      <p:pic>
        <p:nvPicPr>
          <p:cNvPr id="6" name="Option 1 icon glyph" descr="fileCode icon">    </p:cNvPr>
          <p:cNvPicPr>
            <a:picLocks noChangeAspect="1"/>
          </p:cNvPicPr>
          <p:nvPr/>
        </p:nvPicPr>
        <p:blipFill>
          <a:blip r:embed="rId1"/>
          <a:stretch>
            <a:fillRect/>
          </a:stretch>
        </p:blipFill>
        <p:spPr>
          <a:xfrm>
            <a:off x="742950" y="1725930"/>
            <a:ext cx="205740" cy="205740"/>
          </a:xfrm>
          <a:prstGeom prst="rect">
            <a:avLst/>
          </a:prstGeom>
        </p:spPr>
      </p:pic>
      <p:sp>
        <p:nvSpPr>
          <p:cNvPr id="7" name="Option 1 head"/>
          <p:cNvSpPr txBox="1"/>
          <p:nvPr/>
        </p:nvSpPr>
        <p:spPr>
          <a:xfrm>
            <a:off x="1143000" y="1508760"/>
            <a:ext cx="4632808" cy="640080"/>
          </a:xfrm>
          <a:prstGeom prst="rect">
            <a:avLst/>
          </a:prstGeom>
          <a:noFill/>
          <a:ln/>
        </p:spPr>
        <p:txBody>
          <a:bodyPr wrap="square" lIns="0" tIns="0" rIns="0" bIns="0" rtlCol="0" anchor="ctr"/>
          <a:lstStyle/>
          <a:p>
            <a:pPr algn="l" indent="0" marL="0">
              <a:buNone/>
            </a:pPr>
            <a:r>
              <a:rPr lang="en-US" sz="1800" b="1" dirty="0">
                <a:solidFill>
                  <a:schemeClr val="bg1"/>
                </a:solidFill>
                <a:latin typeface="+mj-lt" pitchFamily="34" charset="0"/>
                <a:ea typeface="+mj-lt" pitchFamily="34" charset="-122"/>
                <a:cs typeface="+mj-lt" pitchFamily="34" charset="-120"/>
              </a:rPr>
              <a:t>What the log holds</a:t>
            </a:r>
            <a:endParaRPr lang="en-US" sz="1800" dirty="0"/>
          </a:p>
        </p:txBody>
      </p:sp>
      <p:sp>
        <p:nvSpPr>
          <p:cNvPr id="8" name="Option 1 points"/>
          <p:cNvSpPr txBox="1"/>
          <p:nvPr/>
        </p:nvSpPr>
        <p:spPr>
          <a:xfrm>
            <a:off x="685800" y="2331720"/>
            <a:ext cx="5044288" cy="2560320"/>
          </a:xfrm>
          <a:prstGeom prst="rect">
            <a:avLst/>
          </a:prstGeom>
          <a:noFill/>
          <a:ln/>
        </p:spPr>
        <p:txBody>
          <a:bodyPr wrap="square" lIns="0" tIns="0" rIns="0" bIns="0" rtlCol="0" anchor="t"/>
          <a:lstStyle/>
          <a:p>
            <a:pPr algn="l" marL="177800" indent="-177800">
              <a:spcAft>
                <a:spcPts val="600"/>
              </a:spcAft>
              <a:buSzPct val="100000"/>
              <a:buChar char="•"/>
            </a:pPr>
            <a:r>
              <a:rPr lang="en-US" sz="1600" dirty="0">
                <a:solidFill>
                  <a:schemeClr val="tx1"/>
                </a:solidFill>
              </a:rPr>
              <a:t>The pose id from poses.csv, which also starts the file names</a:t>
            </a:r>
            <a:endParaRPr lang="en-US" sz="1600" dirty="0"/>
          </a:p>
          <a:p>
            <a:pPr algn="l" marL="177800" indent="-177800">
              <a:spcAft>
                <a:spcPts val="600"/>
              </a:spcAft>
              <a:buSzPct val="100000"/>
              <a:buChar char="•"/>
            </a:pPr>
            <a:r>
              <a:rPr lang="en-US" sz="1600" dirty="0">
                <a:solidFill>
                  <a:schemeClr val="tx1"/>
                </a:solidFill>
              </a:rPr>
              <a:t>The board half-sizes</a:t>
            </a:r>
            <a:endParaRPr lang="en-US" sz="1600" dirty="0"/>
          </a:p>
          <a:p>
            <a:pPr algn="l" marL="177800" indent="-177800">
              <a:spcAft>
                <a:spcPts val="600"/>
              </a:spcAft>
              <a:buSzPct val="100000"/>
              <a:buChar char="•"/>
            </a:pPr>
            <a:r>
              <a:rPr lang="en-US" sz="1600" dirty="0">
                <a:solidFill>
                  <a:schemeClr val="tx1"/>
                </a:solidFill>
              </a:rPr>
              <a:t>The REPORTED tool position in the base frame</a:t>
            </a:r>
            <a:endParaRPr lang="en-US" sz="1600" dirty="0"/>
          </a:p>
          <a:p>
            <a:pPr algn="l" marL="177800" indent="-177800">
              <a:spcAft>
                <a:spcPts val="600"/>
              </a:spcAft>
              <a:buSzPct val="100000"/>
              <a:buChar char="•"/>
            </a:pPr>
            <a:r>
              <a:rPr lang="en-US" sz="1600" dirty="0">
                <a:solidFill>
                  <a:schemeClr val="tx1"/>
                </a:solidFill>
              </a:rPr>
              <a:t>The orientation in the controller's own form, named by its rotation type</a:t>
            </a:r>
            <a:endParaRPr lang="en-US" sz="1600" dirty="0"/>
          </a:p>
          <a:p>
            <a:pPr algn="l" marL="177800" indent="-177800">
              <a:spcAft>
                <a:spcPts val="600"/>
              </a:spcAft>
              <a:buSzPct val="100000"/>
              <a:buChar char="•"/>
            </a:pPr>
            <a:r>
              <a:rPr lang="en-US" sz="1600" dirty="0">
                <a:solidFill>
                  <a:schemeClr val="tx1"/>
                </a:solidFill>
              </a:rPr>
              <a:t>The joint angles at the target and, in B, at the approach pose</a:t>
            </a:r>
            <a:endParaRPr lang="en-US" sz="1600" dirty="0"/>
          </a:p>
        </p:txBody>
      </p:sp>
      <p:sp>
        <p:nvSpPr>
          <p:cNvPr id="9" name="Option 2 card"/>
          <p:cNvSpPr/>
          <p:nvPr/>
        </p:nvSpPr>
        <p:spPr>
          <a:xfrm>
            <a:off x="6233008" y="1417320"/>
            <a:ext cx="5501488" cy="3703320"/>
          </a:xfrm>
          <a:prstGeom prst="roundRect">
            <a:avLst>
              <a:gd name="adj" fmla="val 2963"/>
            </a:avLst>
          </a:prstGeom>
          <a:solidFill>
            <a:schemeClr val="bg2"/>
          </a:solidFill>
          <a:ln/>
        </p:spPr>
      </p:sp>
      <p:sp>
        <p:nvSpPr>
          <p:cNvPr id="10" name="Option 2 header block"/>
          <p:cNvSpPr/>
          <p:nvPr/>
        </p:nvSpPr>
        <p:spPr>
          <a:xfrm>
            <a:off x="6324448" y="1508760"/>
            <a:ext cx="5318608" cy="640080"/>
          </a:xfrm>
          <a:prstGeom prst="roundRect">
            <a:avLst>
              <a:gd name="adj" fmla="val 17143"/>
            </a:avLst>
          </a:prstGeom>
          <a:solidFill>
            <a:schemeClr val="tx2"/>
          </a:solidFill>
          <a:ln/>
        </p:spPr>
      </p:sp>
      <p:sp>
        <p:nvSpPr>
          <p:cNvPr id="11" name="Option 2 icon circle"/>
          <p:cNvSpPr/>
          <p:nvPr/>
        </p:nvSpPr>
        <p:spPr>
          <a:xfrm>
            <a:off x="6415888" y="1623060"/>
            <a:ext cx="411480" cy="411480"/>
          </a:xfrm>
          <a:prstGeom prst="ellipse">
            <a:avLst/>
          </a:prstGeom>
          <a:solidFill>
            <a:schemeClr val="accent1"/>
          </a:solidFill>
          <a:ln/>
        </p:spPr>
      </p:sp>
      <p:pic>
        <p:nvPicPr>
          <p:cNvPr id="12" name="Option 2 icon glyph" descr="fileList icon">    </p:cNvPr>
          <p:cNvPicPr>
            <a:picLocks noChangeAspect="1"/>
          </p:cNvPicPr>
          <p:nvPr/>
        </p:nvPicPr>
        <p:blipFill>
          <a:blip r:embed="rId2"/>
          <a:stretch>
            <a:fillRect/>
          </a:stretch>
        </p:blipFill>
        <p:spPr>
          <a:xfrm>
            <a:off x="6518758" y="1725930"/>
            <a:ext cx="205740" cy="205740"/>
          </a:xfrm>
          <a:prstGeom prst="rect">
            <a:avLst/>
          </a:prstGeom>
        </p:spPr>
      </p:pic>
      <p:sp>
        <p:nvSpPr>
          <p:cNvPr id="13" name="Option 2 head"/>
          <p:cNvSpPr txBox="1"/>
          <p:nvPr/>
        </p:nvSpPr>
        <p:spPr>
          <a:xfrm>
            <a:off x="6918808" y="1508760"/>
            <a:ext cx="4632808" cy="640080"/>
          </a:xfrm>
          <a:prstGeom prst="rect">
            <a:avLst/>
          </a:prstGeom>
          <a:noFill/>
          <a:ln/>
        </p:spPr>
        <p:txBody>
          <a:bodyPr wrap="square" lIns="0" tIns="0" rIns="0" bIns="0" rtlCol="0" anchor="ctr"/>
          <a:lstStyle/>
          <a:p>
            <a:pPr algn="l" indent="0" marL="0">
              <a:buNone/>
            </a:pPr>
            <a:r>
              <a:rPr lang="en-US" sz="1800" b="1" dirty="0">
                <a:solidFill>
                  <a:schemeClr val="bg1"/>
                </a:solidFill>
                <a:latin typeface="+mj-lt" pitchFamily="34" charset="0"/>
                <a:ea typeface="+mj-lt" pitchFamily="34" charset="-122"/>
                <a:cs typeface="+mj-lt" pitchFamily="34" charset="-120"/>
              </a:rPr>
              <a:t>Rotation forms the tools accept</a:t>
            </a:r>
            <a:endParaRPr lang="en-US" sz="1800" dirty="0"/>
          </a:p>
        </p:txBody>
      </p:sp>
      <p:sp>
        <p:nvSpPr>
          <p:cNvPr id="14" name="Option 2 points"/>
          <p:cNvSpPr txBox="1"/>
          <p:nvPr/>
        </p:nvSpPr>
        <p:spPr>
          <a:xfrm>
            <a:off x="6461608" y="2331720"/>
            <a:ext cx="5044288" cy="2560320"/>
          </a:xfrm>
          <a:prstGeom prst="rect">
            <a:avLst/>
          </a:prstGeom>
          <a:noFill/>
          <a:ln/>
        </p:spPr>
        <p:txBody>
          <a:bodyPr wrap="square" lIns="0" tIns="0" rIns="0" bIns="0" rtlCol="0" anchor="t"/>
          <a:lstStyle/>
          <a:p>
            <a:pPr algn="l" marL="177800" indent="-177800">
              <a:spcAft>
                <a:spcPts val="600"/>
              </a:spcAft>
              <a:buSzPct val="100000"/>
              <a:buChar char="•"/>
            </a:pPr>
            <a:r>
              <a:rPr lang="en-US" sz="1600" dirty="0">
                <a:solidFill>
                  <a:schemeClr val="tx1"/>
                </a:solidFill>
              </a:rPr>
              <a:t>quaternion_wxyz (ABB) or quaternion_xyzw</a:t>
            </a:r>
            <a:endParaRPr lang="en-US" sz="1600" dirty="0"/>
          </a:p>
          <a:p>
            <a:pPr algn="l" marL="177800" indent="-177800">
              <a:spcAft>
                <a:spcPts val="600"/>
              </a:spcAft>
              <a:buSzPct val="100000"/>
              <a:buChar char="•"/>
            </a:pPr>
            <a:r>
              <a:rPr lang="en-US" sz="1600" dirty="0">
                <a:solidFill>
                  <a:schemeClr val="tx1"/>
                </a:solidFill>
              </a:rPr>
              <a:t>euler_zyx_deg: KUKA A, B, C</a:t>
            </a:r>
            <a:endParaRPr lang="en-US" sz="1600" dirty="0"/>
          </a:p>
          <a:p>
            <a:pPr algn="l" marL="177800" indent="-177800">
              <a:spcAft>
                <a:spcPts val="600"/>
              </a:spcAft>
              <a:buSzPct val="100000"/>
              <a:buChar char="•"/>
            </a:pPr>
            <a:r>
              <a:rPr lang="en-US" sz="1600" dirty="0">
                <a:solidFill>
                  <a:schemeClr val="tx1"/>
                </a:solidFill>
              </a:rPr>
              <a:t>fixed_xyz_deg: FANUC W, P, R</a:t>
            </a:r>
            <a:endParaRPr lang="en-US" sz="1600" dirty="0"/>
          </a:p>
          <a:p>
            <a:pPr algn="l" marL="177800" indent="-177800">
              <a:spcAft>
                <a:spcPts val="600"/>
              </a:spcAft>
              <a:buSzPct val="100000"/>
              <a:buChar char="•"/>
            </a:pPr>
            <a:r>
              <a:rPr lang="en-US" sz="1600" dirty="0">
                <a:solidFill>
                  <a:schemeClr val="tx1"/>
                </a:solidFill>
              </a:rPr>
              <a:t>rotvec_deg: Universal Robots, converted from radians to degrees</a:t>
            </a:r>
            <a:endParaRPr lang="en-US" sz="1600" dirty="0"/>
          </a:p>
          <a:p>
            <a:pPr algn="l" marL="177800" indent="-177800">
              <a:spcAft>
                <a:spcPts val="600"/>
              </a:spcAft>
              <a:buSzPct val="100000"/>
              <a:buChar char="•"/>
            </a:pPr>
            <a:r>
              <a:rPr lang="en-US" sz="1600" dirty="0">
                <a:solidFill>
                  <a:schemeClr val="tx1"/>
                </a:solidFill>
              </a:rPr>
              <a:t>matrix: nine numbers, row by row</a:t>
            </a:r>
            <a:endParaRPr lang="en-US" sz="1600" dirty="0"/>
          </a:p>
          <a:p>
            <a:pPr algn="l" marL="177800" indent="-177800">
              <a:spcAft>
                <a:spcPts val="600"/>
              </a:spcAft>
              <a:buSzPct val="100000"/>
              <a:buChar char="•"/>
            </a:pPr>
            <a:r>
              <a:rPr lang="en-US" sz="1600" dirty="0">
                <a:solidFill>
                  <a:schemeClr val="tx1"/>
                </a:solidFill>
              </a:rPr>
              <a:t>make_manifest converts them all and names every file or pose that does not match</a:t>
            </a:r>
            <a:endParaRPr lang="en-US" sz="1600" dirty="0"/>
          </a:p>
        </p:txBody>
      </p:sp>
      <p:sp>
        <p:nvSpPr>
          <p:cNvPr id="15" name="Example box"/>
          <p:cNvSpPr/>
          <p:nvPr/>
        </p:nvSpPr>
        <p:spPr>
          <a:xfrm>
            <a:off x="457200" y="5394960"/>
            <a:ext cx="11277295" cy="731520"/>
          </a:xfrm>
          <a:prstGeom prst="roundRect">
            <a:avLst>
              <a:gd name="adj" fmla="val 15000"/>
            </a:avLst>
          </a:prstGeom>
          <a:solidFill>
            <a:schemeClr val="bg2"/>
          </a:solidFill>
          <a:ln w="12700">
            <a:solidFill>
              <a:schemeClr val="accent6"/>
            </a:solidFill>
            <a:prstDash val="solid"/>
          </a:ln>
        </p:spPr>
      </p:sp>
      <p:sp>
        <p:nvSpPr>
          <p:cNvPr id="16" name="Example icon circle"/>
          <p:cNvSpPr/>
          <p:nvPr/>
        </p:nvSpPr>
        <p:spPr>
          <a:xfrm>
            <a:off x="640080" y="5509260"/>
            <a:ext cx="502920" cy="502920"/>
          </a:xfrm>
          <a:prstGeom prst="ellipse">
            <a:avLst/>
          </a:prstGeom>
          <a:solidFill>
            <a:schemeClr val="accent2"/>
          </a:solidFill>
          <a:ln/>
        </p:spPr>
      </p:sp>
      <p:pic>
        <p:nvPicPr>
          <p:cNvPr id="17" name="Example icon glyph" descr="fileAlt icon">    </p:cNvPr>
          <p:cNvPicPr>
            <a:picLocks noChangeAspect="1"/>
          </p:cNvPicPr>
          <p:nvPr/>
        </p:nvPicPr>
        <p:blipFill>
          <a:blip r:embed="rId3"/>
          <a:stretch>
            <a:fillRect/>
          </a:stretch>
        </p:blipFill>
        <p:spPr>
          <a:xfrm>
            <a:off x="765810" y="5634990"/>
            <a:ext cx="251460" cy="251460"/>
          </a:xfrm>
          <a:prstGeom prst="rect">
            <a:avLst/>
          </a:prstGeom>
        </p:spPr>
      </p:pic>
      <p:sp>
        <p:nvSpPr>
          <p:cNvPr id="18" name="Pose-log example line"/>
          <p:cNvSpPr txBox="1"/>
          <p:nvPr/>
        </p:nvSpPr>
        <p:spPr>
          <a:xfrm>
            <a:off x="1325880" y="5394960"/>
            <a:ext cx="10225735" cy="731520"/>
          </a:xfrm>
          <a:prstGeom prst="rect">
            <a:avLst/>
          </a:prstGeom>
          <a:noFill/>
          <a:ln/>
        </p:spPr>
        <p:txBody>
          <a:bodyPr wrap="square" lIns="0" tIns="0" rIns="0" bIns="0" rtlCol="0" anchor="ctr"/>
          <a:lstStyle/>
          <a:p>
            <a:pPr algn="l" indent="0" marL="0">
              <a:buNone/>
            </a:pPr>
            <a:r>
              <a:rPr lang="en-US" sz="1400" dirty="0">
                <a:solidFill>
                  <a:schemeClr val="tx1"/>
                </a:solidFill>
                <a:latin typeface="Courier New" pitchFamily="34" charset="0"/>
                <a:ea typeface="Courier New" pitchFamily="34" charset="-122"/>
                <a:cs typeface="Courier New" pitchFamily="34" charset="-120"/>
              </a:rPr>
              <a:t>b_z0650_t24_a090_05,board,,100.0,75.0,850.11,-12.70,470.55,euler_zyx_deg,-91.3,19.8,0.4,,</a:t>
            </a:r>
            <a:endParaRPr lang="en-US" sz="1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Two numbers are reported for every pose</a:t>
            </a:r>
            <a:endParaRPr lang="en-US" sz="3400" dirty="0"/>
          </a:p>
        </p:txBody>
      </p:sp>
      <p:pic>
        <p:nvPicPr>
          <p:cNvPr id="3" name="The normal residual and the offset residual between the predicted and the measured plane" descr="The normal residual and the offset residual between the predicted and the measured plane">    </p:cNvPr>
          <p:cNvPicPr>
            <a:picLocks noChangeAspect="1"/>
          </p:cNvPicPr>
          <p:nvPr/>
        </p:nvPicPr>
        <p:blipFill>
          <a:blip r:embed="rId1"/>
          <a:stretch>
            <a:fillRect/>
          </a:stretch>
        </p:blipFill>
        <p:spPr>
          <a:xfrm>
            <a:off x="457200" y="1417320"/>
            <a:ext cx="5810123" cy="4709160"/>
          </a:xfrm>
          <a:prstGeom prst="rect">
            <a:avLst/>
          </a:prstGeom>
        </p:spPr>
      </p:pic>
      <p:sp>
        <p:nvSpPr>
          <p:cNvPr id="4" name="The normal residual and the offset residual between the predicted and the measured plane frame"/>
          <p:cNvSpPr/>
          <p:nvPr/>
        </p:nvSpPr>
        <p:spPr>
          <a:xfrm>
            <a:off x="457200" y="1417320"/>
            <a:ext cx="5810123" cy="4709160"/>
          </a:xfrm>
          <a:prstGeom prst="rect">
            <a:avLst/>
          </a:prstGeom>
          <a:ln w="12700">
            <a:solidFill>
              <a:schemeClr val="accent6"/>
            </a:solidFill>
            <a:prstDash val="solid"/>
          </a:ln>
        </p:spPr>
      </p:sp>
      <p:sp>
        <p:nvSpPr>
          <p:cNvPr id="5" name="Residual point icon 1 circle"/>
          <p:cNvSpPr/>
          <p:nvPr/>
        </p:nvSpPr>
        <p:spPr>
          <a:xfrm>
            <a:off x="6541643" y="1658112"/>
            <a:ext cx="411480" cy="411480"/>
          </a:xfrm>
          <a:prstGeom prst="ellipse">
            <a:avLst/>
          </a:prstGeom>
          <a:solidFill>
            <a:schemeClr val="accent2"/>
          </a:solidFill>
          <a:ln/>
        </p:spPr>
      </p:sp>
      <p:pic>
        <p:nvPicPr>
          <p:cNvPr id="6" name="Residual point icon 1 glyph" descr="check icon">    </p:cNvPr>
          <p:cNvPicPr>
            <a:picLocks noChangeAspect="1"/>
          </p:cNvPicPr>
          <p:nvPr/>
        </p:nvPicPr>
        <p:blipFill>
          <a:blip r:embed="rId2"/>
          <a:stretch>
            <a:fillRect/>
          </a:stretch>
        </p:blipFill>
        <p:spPr>
          <a:xfrm>
            <a:off x="6644513" y="1760982"/>
            <a:ext cx="205740" cy="205740"/>
          </a:xfrm>
          <a:prstGeom prst="rect">
            <a:avLst/>
          </a:prstGeom>
        </p:spPr>
      </p:pic>
      <p:sp>
        <p:nvSpPr>
          <p:cNvPr id="7" name="Residual point text 1"/>
          <p:cNvSpPr txBox="1"/>
          <p:nvPr/>
        </p:nvSpPr>
        <p:spPr>
          <a:xfrm>
            <a:off x="7136003" y="1417320"/>
            <a:ext cx="4598492" cy="893064"/>
          </a:xfrm>
          <a:prstGeom prst="rect">
            <a:avLst/>
          </a:prstGeom>
          <a:noFill/>
          <a:ln/>
        </p:spPr>
        <p:txBody>
          <a:bodyPr wrap="square" lIns="0" tIns="0" rIns="0" bIns="0" rtlCol="0" anchor="ctr"/>
          <a:lstStyle/>
          <a:p>
            <a:pPr algn="l" indent="0" marL="0">
              <a:buNone/>
            </a:pPr>
            <a:r>
              <a:rPr lang="en-US" sz="1600" dirty="0">
                <a:solidFill>
                  <a:schemeClr val="tx1"/>
                </a:solidFill>
              </a:rPr>
              <a:t>The software finds the board in each capture and fits a plane to it: the plane residual says how flat the board read</a:t>
            </a:r>
            <a:endParaRPr lang="en-US" sz="1600" dirty="0"/>
          </a:p>
        </p:txBody>
      </p:sp>
      <p:sp>
        <p:nvSpPr>
          <p:cNvPr id="8" name="Residual point icon 2 circle"/>
          <p:cNvSpPr/>
          <p:nvPr/>
        </p:nvSpPr>
        <p:spPr>
          <a:xfrm>
            <a:off x="6541643" y="2734056"/>
            <a:ext cx="411480" cy="411480"/>
          </a:xfrm>
          <a:prstGeom prst="ellipse">
            <a:avLst/>
          </a:prstGeom>
          <a:solidFill>
            <a:schemeClr val="accent2"/>
          </a:solidFill>
          <a:ln/>
        </p:spPr>
      </p:sp>
      <p:pic>
        <p:nvPicPr>
          <p:cNvPr id="9" name="Residual point icon 2 glyph" descr="check icon">    </p:cNvPr>
          <p:cNvPicPr>
            <a:picLocks noChangeAspect="1"/>
          </p:cNvPicPr>
          <p:nvPr/>
        </p:nvPicPr>
        <p:blipFill>
          <a:blip r:embed="rId3"/>
          <a:stretch>
            <a:fillRect/>
          </a:stretch>
        </p:blipFill>
        <p:spPr>
          <a:xfrm>
            <a:off x="6644513" y="2836926"/>
            <a:ext cx="205740" cy="205740"/>
          </a:xfrm>
          <a:prstGeom prst="rect">
            <a:avLst/>
          </a:prstGeom>
        </p:spPr>
      </p:pic>
      <p:sp>
        <p:nvSpPr>
          <p:cNvPr id="10" name="Residual point text 2"/>
          <p:cNvSpPr txBox="1"/>
          <p:nvPr/>
        </p:nvSpPr>
        <p:spPr>
          <a:xfrm>
            <a:off x="7136003" y="2493264"/>
            <a:ext cx="4598492" cy="893064"/>
          </a:xfrm>
          <a:prstGeom prst="rect">
            <a:avLst/>
          </a:prstGeom>
          <a:noFill/>
          <a:ln/>
        </p:spPr>
        <p:txBody>
          <a:bodyPr wrap="square" lIns="0" tIns="0" rIns="0" bIns="0" rtlCol="0" anchor="ctr"/>
          <a:lstStyle/>
          <a:p>
            <a:pPr algn="l" indent="0" marL="0">
              <a:buNone/>
            </a:pPr>
            <a:r>
              <a:rPr lang="en-US" sz="1600" dirty="0">
                <a:solidFill>
                  <a:schemeClr val="tx1"/>
                </a:solidFill>
              </a:rPr>
              <a:t>From the logged robot pose and the sensor's position it predicts where the board plane should be</a:t>
            </a:r>
            <a:endParaRPr lang="en-US" sz="1600" dirty="0"/>
          </a:p>
        </p:txBody>
      </p:sp>
      <p:sp>
        <p:nvSpPr>
          <p:cNvPr id="11" name="Residual point icon 3 circle"/>
          <p:cNvSpPr/>
          <p:nvPr/>
        </p:nvSpPr>
        <p:spPr>
          <a:xfrm>
            <a:off x="6541643" y="3688080"/>
            <a:ext cx="411480" cy="411480"/>
          </a:xfrm>
          <a:prstGeom prst="ellipse">
            <a:avLst/>
          </a:prstGeom>
          <a:solidFill>
            <a:schemeClr val="accent2"/>
          </a:solidFill>
          <a:ln/>
        </p:spPr>
      </p:sp>
      <p:pic>
        <p:nvPicPr>
          <p:cNvPr id="12" name="Residual point icon 3 glyph" descr="check icon">    </p:cNvPr>
          <p:cNvPicPr>
            <a:picLocks noChangeAspect="1"/>
          </p:cNvPicPr>
          <p:nvPr/>
        </p:nvPicPr>
        <p:blipFill>
          <a:blip r:embed="rId4"/>
          <a:stretch>
            <a:fillRect/>
          </a:stretch>
        </p:blipFill>
        <p:spPr>
          <a:xfrm>
            <a:off x="6644513" y="3790950"/>
            <a:ext cx="205740" cy="205740"/>
          </a:xfrm>
          <a:prstGeom prst="rect">
            <a:avLst/>
          </a:prstGeom>
        </p:spPr>
      </p:pic>
      <p:sp>
        <p:nvSpPr>
          <p:cNvPr id="13" name="Residual point text 3"/>
          <p:cNvSpPr txBox="1"/>
          <p:nvPr/>
        </p:nvSpPr>
        <p:spPr>
          <a:xfrm>
            <a:off x="7136003" y="3569208"/>
            <a:ext cx="4598492" cy="649224"/>
          </a:xfrm>
          <a:prstGeom prst="rect">
            <a:avLst/>
          </a:prstGeom>
          <a:noFill/>
          <a:ln/>
        </p:spPr>
        <p:txBody>
          <a:bodyPr wrap="square" lIns="0" tIns="0" rIns="0" bIns="0" rtlCol="0" anchor="ctr"/>
          <a:lstStyle/>
          <a:p>
            <a:pPr algn="l" indent="0" marL="0">
              <a:buNone/>
            </a:pPr>
            <a:r>
              <a:rPr lang="en-US" sz="1600" dirty="0">
                <a:solidFill>
                  <a:schemeClr val="tx1"/>
                </a:solidFill>
              </a:rPr>
              <a:t>Normal residual: the angle between predicted and measured plane, in degrees</a:t>
            </a:r>
            <a:endParaRPr lang="en-US" sz="1600" dirty="0"/>
          </a:p>
        </p:txBody>
      </p:sp>
      <p:sp>
        <p:nvSpPr>
          <p:cNvPr id="14" name="Residual point icon 4 circle"/>
          <p:cNvSpPr/>
          <p:nvPr/>
        </p:nvSpPr>
        <p:spPr>
          <a:xfrm>
            <a:off x="6541643" y="4520184"/>
            <a:ext cx="411480" cy="411480"/>
          </a:xfrm>
          <a:prstGeom prst="ellipse">
            <a:avLst/>
          </a:prstGeom>
          <a:solidFill>
            <a:schemeClr val="accent2"/>
          </a:solidFill>
          <a:ln/>
        </p:spPr>
      </p:sp>
      <p:pic>
        <p:nvPicPr>
          <p:cNvPr id="15" name="Residual point icon 4 glyph" descr="check icon">    </p:cNvPr>
          <p:cNvPicPr>
            <a:picLocks noChangeAspect="1"/>
          </p:cNvPicPr>
          <p:nvPr/>
        </p:nvPicPr>
        <p:blipFill>
          <a:blip r:embed="rId5"/>
          <a:stretch>
            <a:fillRect/>
          </a:stretch>
        </p:blipFill>
        <p:spPr>
          <a:xfrm>
            <a:off x="6644513" y="4623054"/>
            <a:ext cx="205740" cy="205740"/>
          </a:xfrm>
          <a:prstGeom prst="rect">
            <a:avLst/>
          </a:prstGeom>
        </p:spPr>
      </p:pic>
      <p:sp>
        <p:nvSpPr>
          <p:cNvPr id="16" name="Residual point text 4"/>
          <p:cNvSpPr txBox="1"/>
          <p:nvPr/>
        </p:nvSpPr>
        <p:spPr>
          <a:xfrm>
            <a:off x="7136003" y="4401312"/>
            <a:ext cx="4598492" cy="649224"/>
          </a:xfrm>
          <a:prstGeom prst="rect">
            <a:avLst/>
          </a:prstGeom>
          <a:noFill/>
          <a:ln/>
        </p:spPr>
        <p:txBody>
          <a:bodyPr wrap="square" lIns="0" tIns="0" rIns="0" bIns="0" rtlCol="0" anchor="ctr"/>
          <a:lstStyle/>
          <a:p>
            <a:pPr algn="l" indent="0" marL="0">
              <a:buNone/>
            </a:pPr>
            <a:r>
              <a:rPr lang="en-US" sz="1600" dirty="0">
                <a:solidFill>
                  <a:schemeClr val="tx1"/>
                </a:solidFill>
              </a:rPr>
              <a:t>Offset residual: the distance between them at the board's center, in millimeters</a:t>
            </a:r>
            <a:endParaRPr lang="en-US" sz="1600" dirty="0"/>
          </a:p>
        </p:txBody>
      </p:sp>
      <p:sp>
        <p:nvSpPr>
          <p:cNvPr id="17" name="Residual point icon 5 circle"/>
          <p:cNvSpPr/>
          <p:nvPr/>
        </p:nvSpPr>
        <p:spPr>
          <a:xfrm>
            <a:off x="6541643" y="5474208"/>
            <a:ext cx="411480" cy="411480"/>
          </a:xfrm>
          <a:prstGeom prst="ellipse">
            <a:avLst/>
          </a:prstGeom>
          <a:solidFill>
            <a:schemeClr val="accent2"/>
          </a:solidFill>
          <a:ln/>
        </p:spPr>
      </p:sp>
      <p:pic>
        <p:nvPicPr>
          <p:cNvPr id="18" name="Residual point icon 5 glyph" descr="check icon">    </p:cNvPr>
          <p:cNvPicPr>
            <a:picLocks noChangeAspect="1"/>
          </p:cNvPicPr>
          <p:nvPr/>
        </p:nvPicPr>
        <p:blipFill>
          <a:blip r:embed="rId6"/>
          <a:stretch>
            <a:fillRect/>
          </a:stretch>
        </p:blipFill>
        <p:spPr>
          <a:xfrm>
            <a:off x="6644513" y="5577078"/>
            <a:ext cx="205740" cy="205740"/>
          </a:xfrm>
          <a:prstGeom prst="rect">
            <a:avLst/>
          </a:prstGeom>
        </p:spPr>
      </p:pic>
      <p:sp>
        <p:nvSpPr>
          <p:cNvPr id="19" name="Residual point text 5"/>
          <p:cNvSpPr txBox="1"/>
          <p:nvPr/>
        </p:nvSpPr>
        <p:spPr>
          <a:xfrm>
            <a:off x="7136003" y="5233416"/>
            <a:ext cx="4598492" cy="893064"/>
          </a:xfrm>
          <a:prstGeom prst="rect">
            <a:avLst/>
          </a:prstGeom>
          <a:noFill/>
          <a:ln/>
        </p:spPr>
        <p:txBody>
          <a:bodyPr wrap="square" lIns="0" tIns="0" rIns="0" bIns="0" rtlCol="0" anchor="ctr"/>
          <a:lstStyle/>
          <a:p>
            <a:pPr algn="l" indent="0" marL="0">
              <a:buNone/>
            </a:pPr>
            <a:r>
              <a:rPr lang="en-US" sz="1600" dirty="0">
                <a:solidFill>
                  <a:schemeClr val="tx1"/>
                </a:solidFill>
              </a:rPr>
              <a:t>A pose logged wrongly stands out by a large residual; one tilt direction off means the tool frame's z axis is wrong</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Check each capture set before the next run</a:t>
            </a:r>
            <a:endParaRPr lang="en-US" sz="3400" dirty="0"/>
          </a:p>
        </p:txBody>
      </p:sp>
      <p:sp>
        <p:nvSpPr>
          <p:cNvPr id="3" name="Check 1 card"/>
          <p:cNvSpPr/>
          <p:nvPr/>
        </p:nvSpPr>
        <p:spPr>
          <a:xfrm>
            <a:off x="457200" y="1417320"/>
            <a:ext cx="5501488" cy="1943100"/>
          </a:xfrm>
          <a:prstGeom prst="roundRect">
            <a:avLst>
              <a:gd name="adj" fmla="val 5647"/>
            </a:avLst>
          </a:prstGeom>
          <a:solidFill>
            <a:schemeClr val="bg1"/>
          </a:solidFill>
          <a:ln w="12700">
            <a:solidFill>
              <a:schemeClr val="accent6"/>
            </a:solidFill>
            <a:prstDash val="solid"/>
          </a:ln>
        </p:spPr>
      </p:sp>
      <p:sp>
        <p:nvSpPr>
          <p:cNvPr id="4" name="Check 1 icon circle"/>
          <p:cNvSpPr/>
          <p:nvPr/>
        </p:nvSpPr>
        <p:spPr>
          <a:xfrm>
            <a:off x="640080" y="1600200"/>
            <a:ext cx="640080" cy="640080"/>
          </a:xfrm>
          <a:prstGeom prst="ellipse">
            <a:avLst/>
          </a:prstGeom>
          <a:solidFill>
            <a:schemeClr val="accent4"/>
          </a:solidFill>
          <a:ln/>
        </p:spPr>
      </p:sp>
      <p:pic>
        <p:nvPicPr>
          <p:cNvPr id="5" name="Check 1 icon glyph" descr="warning icon">    </p:cNvPr>
          <p:cNvPicPr>
            <a:picLocks noChangeAspect="1"/>
          </p:cNvPicPr>
          <p:nvPr/>
        </p:nvPicPr>
        <p:blipFill>
          <a:blip r:embed="rId1"/>
          <a:stretch>
            <a:fillRect/>
          </a:stretch>
        </p:blipFill>
        <p:spPr>
          <a:xfrm>
            <a:off x="800100" y="1760220"/>
            <a:ext cx="320040" cy="320040"/>
          </a:xfrm>
          <a:prstGeom prst="rect">
            <a:avLst/>
          </a:prstGeom>
        </p:spPr>
      </p:pic>
      <p:sp>
        <p:nvSpPr>
          <p:cNvPr id="6" name="Check 1 text"/>
          <p:cNvSpPr txBox="1"/>
          <p:nvPr/>
        </p:nvSpPr>
        <p:spPr>
          <a:xfrm>
            <a:off x="1463040" y="1600200"/>
            <a:ext cx="4312768" cy="1577340"/>
          </a:xfrm>
          <a:prstGeom prst="rect">
            <a:avLst/>
          </a:prstGeom>
          <a:noFill/>
          <a:ln/>
        </p:spPr>
        <p:txBody>
          <a:bodyPr wrap="square" lIns="0" tIns="0" rIns="0" bIns="0" rtlCol="0" anchor="t"/>
          <a:lstStyle/>
          <a:p>
            <a:pPr algn="l" indent="0" marL="0">
              <a:spcAft>
                <a:spcPts val="300"/>
              </a:spcAft>
              <a:buNone/>
            </a:pPr>
            <a:r>
              <a:rPr lang="en-US" sz="1800" b="1" dirty="0">
                <a:solidFill>
                  <a:schemeClr val="tx2"/>
                </a:solidFill>
              </a:rPr>
              <a:t>Board not found or too small</a:t>
            </a:r>
            <a:endParaRPr lang="en-US" sz="1600" dirty="0"/>
          </a:p>
          <a:p>
            <a:pPr algn="l" indent="0" marL="0">
              <a:spcAft>
                <a:spcPts val="300"/>
              </a:spcAft>
              <a:buNone/>
            </a:pPr>
            <a:r>
              <a:rPr lang="en-US" sz="1600" b="1" dirty="0">
                <a:solidFill>
                  <a:schemeClr val="accent1"/>
                </a:solidFill>
              </a:rPr>
              <a:t>not found; valid fraction below 50 percent; at the border; under 1,000 pixels</a:t>
            </a:r>
            <a:endParaRPr lang="en-US" sz="1600" dirty="0"/>
          </a:p>
          <a:p>
            <a:pPr algn="l" indent="0" marL="0">
              <a:buNone/>
            </a:pPr>
            <a:r>
              <a:rPr lang="en-US" sz="1400" dirty="0">
                <a:solidFill>
                  <a:schemeClr val="tx1"/>
                </a:solidFill>
              </a:rPr>
              <a:t>Copied wrongly, something flat closer than the board, out of the field, or exposure. Too small: drop the pose</a:t>
            </a:r>
            <a:endParaRPr lang="en-US" sz="1600" dirty="0"/>
          </a:p>
        </p:txBody>
      </p:sp>
      <p:sp>
        <p:nvSpPr>
          <p:cNvPr id="7" name="Check 2 card"/>
          <p:cNvSpPr/>
          <p:nvPr/>
        </p:nvSpPr>
        <p:spPr>
          <a:xfrm>
            <a:off x="6233008" y="1417320"/>
            <a:ext cx="5501488" cy="1943100"/>
          </a:xfrm>
          <a:prstGeom prst="roundRect">
            <a:avLst>
              <a:gd name="adj" fmla="val 5647"/>
            </a:avLst>
          </a:prstGeom>
          <a:solidFill>
            <a:schemeClr val="bg1"/>
          </a:solidFill>
          <a:ln w="12700">
            <a:solidFill>
              <a:schemeClr val="accent6"/>
            </a:solidFill>
            <a:prstDash val="solid"/>
          </a:ln>
        </p:spPr>
      </p:sp>
      <p:sp>
        <p:nvSpPr>
          <p:cNvPr id="8" name="Check 2 icon circle"/>
          <p:cNvSpPr/>
          <p:nvPr/>
        </p:nvSpPr>
        <p:spPr>
          <a:xfrm>
            <a:off x="6415888" y="1600200"/>
            <a:ext cx="640080" cy="640080"/>
          </a:xfrm>
          <a:prstGeom prst="ellipse">
            <a:avLst/>
          </a:prstGeom>
          <a:solidFill>
            <a:schemeClr val="accent4"/>
          </a:solidFill>
          <a:ln/>
        </p:spPr>
      </p:sp>
      <p:pic>
        <p:nvPicPr>
          <p:cNvPr id="9" name="Check 2 icon glyph" descr="warning icon">    </p:cNvPr>
          <p:cNvPicPr>
            <a:picLocks noChangeAspect="1"/>
          </p:cNvPicPr>
          <p:nvPr/>
        </p:nvPicPr>
        <p:blipFill>
          <a:blip r:embed="rId2"/>
          <a:stretch>
            <a:fillRect/>
          </a:stretch>
        </p:blipFill>
        <p:spPr>
          <a:xfrm>
            <a:off x="6575908" y="1760220"/>
            <a:ext cx="320040" cy="320040"/>
          </a:xfrm>
          <a:prstGeom prst="rect">
            <a:avLst/>
          </a:prstGeom>
        </p:spPr>
      </p:pic>
      <p:sp>
        <p:nvSpPr>
          <p:cNvPr id="10" name="Check 2 text"/>
          <p:cNvSpPr txBox="1"/>
          <p:nvPr/>
        </p:nvSpPr>
        <p:spPr>
          <a:xfrm>
            <a:off x="7238848" y="1600200"/>
            <a:ext cx="4312768" cy="1577340"/>
          </a:xfrm>
          <a:prstGeom prst="rect">
            <a:avLst/>
          </a:prstGeom>
          <a:noFill/>
          <a:ln/>
        </p:spPr>
        <p:txBody>
          <a:bodyPr wrap="square" lIns="0" tIns="0" rIns="0" bIns="0" rtlCol="0" anchor="t"/>
          <a:lstStyle/>
          <a:p>
            <a:pPr algn="l" indent="0" marL="0">
              <a:spcAft>
                <a:spcPts val="300"/>
              </a:spcAft>
              <a:buNone/>
            </a:pPr>
            <a:r>
              <a:rPr lang="en-US" sz="1800" b="1" dirty="0">
                <a:solidFill>
                  <a:schemeClr val="tx2"/>
                </a:solidFill>
              </a:rPr>
              <a:t>Plane residual</a:t>
            </a:r>
            <a:endParaRPr lang="en-US" sz="1600" dirty="0"/>
          </a:p>
          <a:p>
            <a:pPr algn="l" indent="0" marL="0">
              <a:spcAft>
                <a:spcPts val="300"/>
              </a:spcAft>
              <a:buNone/>
            </a:pPr>
            <a:r>
              <a:rPr lang="en-US" sz="1600" b="1" dirty="0">
                <a:solidFill>
                  <a:schemeClr val="accent1"/>
                </a:solidFill>
              </a:rPr>
              <a:t>above 1 mm</a:t>
            </a:r>
            <a:endParaRPr lang="en-US" sz="1600" dirty="0"/>
          </a:p>
          <a:p>
            <a:pPr algn="l" indent="0" marL="0">
              <a:buNone/>
            </a:pPr>
            <a:r>
              <a:rPr lang="en-US" sz="1400" dirty="0">
                <a:solidFill>
                  <a:schemeClr val="tx1"/>
                </a:solidFill>
              </a:rPr>
              <a:t>The board did not read flat: a shiny spot, a dirty board, or an exposure problem</a:t>
            </a:r>
            <a:endParaRPr lang="en-US" sz="1600" dirty="0"/>
          </a:p>
        </p:txBody>
      </p:sp>
      <p:sp>
        <p:nvSpPr>
          <p:cNvPr id="11" name="Check 3 card"/>
          <p:cNvSpPr/>
          <p:nvPr/>
        </p:nvSpPr>
        <p:spPr>
          <a:xfrm>
            <a:off x="457200" y="3634740"/>
            <a:ext cx="5501488" cy="1943100"/>
          </a:xfrm>
          <a:prstGeom prst="roundRect">
            <a:avLst>
              <a:gd name="adj" fmla="val 5647"/>
            </a:avLst>
          </a:prstGeom>
          <a:solidFill>
            <a:schemeClr val="bg1"/>
          </a:solidFill>
          <a:ln w="12700">
            <a:solidFill>
              <a:schemeClr val="accent6"/>
            </a:solidFill>
            <a:prstDash val="solid"/>
          </a:ln>
        </p:spPr>
      </p:sp>
      <p:sp>
        <p:nvSpPr>
          <p:cNvPr id="12" name="Check 3 icon circle"/>
          <p:cNvSpPr/>
          <p:nvPr/>
        </p:nvSpPr>
        <p:spPr>
          <a:xfrm>
            <a:off x="640080" y="3817620"/>
            <a:ext cx="640080" cy="640080"/>
          </a:xfrm>
          <a:prstGeom prst="ellipse">
            <a:avLst/>
          </a:prstGeom>
          <a:solidFill>
            <a:schemeClr val="accent4"/>
          </a:solidFill>
          <a:ln/>
        </p:spPr>
      </p:sp>
      <p:pic>
        <p:nvPicPr>
          <p:cNvPr id="13" name="Check 3 icon glyph" descr="warning icon">    </p:cNvPr>
          <p:cNvPicPr>
            <a:picLocks noChangeAspect="1"/>
          </p:cNvPicPr>
          <p:nvPr/>
        </p:nvPicPr>
        <p:blipFill>
          <a:blip r:embed="rId3"/>
          <a:stretch>
            <a:fillRect/>
          </a:stretch>
        </p:blipFill>
        <p:spPr>
          <a:xfrm>
            <a:off x="800100" y="3977640"/>
            <a:ext cx="320040" cy="320040"/>
          </a:xfrm>
          <a:prstGeom prst="rect">
            <a:avLst/>
          </a:prstGeom>
        </p:spPr>
      </p:pic>
      <p:sp>
        <p:nvSpPr>
          <p:cNvPr id="14" name="Check 3 text"/>
          <p:cNvSpPr txBox="1"/>
          <p:nvPr/>
        </p:nvSpPr>
        <p:spPr>
          <a:xfrm>
            <a:off x="1463040" y="3817620"/>
            <a:ext cx="4312768" cy="1577340"/>
          </a:xfrm>
          <a:prstGeom prst="rect">
            <a:avLst/>
          </a:prstGeom>
          <a:noFill/>
          <a:ln/>
        </p:spPr>
        <p:txBody>
          <a:bodyPr wrap="square" lIns="0" tIns="0" rIns="0" bIns="0" rtlCol="0" anchor="t"/>
          <a:lstStyle/>
          <a:p>
            <a:pPr algn="l" indent="0" marL="0">
              <a:spcAft>
                <a:spcPts val="300"/>
              </a:spcAft>
              <a:buNone/>
            </a:pPr>
            <a:r>
              <a:rPr lang="en-US" sz="1800" b="1" dirty="0">
                <a:solidFill>
                  <a:schemeClr val="tx2"/>
                </a:solidFill>
              </a:rPr>
              <a:t>Normal or offset residual</a:t>
            </a:r>
            <a:endParaRPr lang="en-US" sz="1600" dirty="0"/>
          </a:p>
          <a:p>
            <a:pPr algn="l" indent="0" marL="0">
              <a:spcAft>
                <a:spcPts val="300"/>
              </a:spcAft>
              <a:buNone/>
            </a:pPr>
            <a:r>
              <a:rPr lang="en-US" sz="1600" b="1" dirty="0">
                <a:solidFill>
                  <a:schemeClr val="accent1"/>
                </a:solidFill>
              </a:rPr>
              <a:t>above 1 degree or 1 mm</a:t>
            </a:r>
            <a:endParaRPr lang="en-US" sz="1600" dirty="0"/>
          </a:p>
          <a:p>
            <a:pPr algn="l" indent="0" marL="0">
              <a:buNone/>
            </a:pPr>
            <a:r>
              <a:rPr lang="en-US" sz="1400" dirty="0">
                <a:solidFill>
                  <a:schemeClr val="tx1"/>
                </a:solidFill>
              </a:rPr>
              <a:t>One pose: copied wrongly. Every pose of one tilt direction: tool frame z axis or a misnamed rotation type. Growing across the volume: base frame or robot accuracy</a:t>
            </a:r>
            <a:endParaRPr lang="en-US" sz="1600" dirty="0"/>
          </a:p>
        </p:txBody>
      </p:sp>
      <p:sp>
        <p:nvSpPr>
          <p:cNvPr id="15" name="Check 4 card"/>
          <p:cNvSpPr/>
          <p:nvPr/>
        </p:nvSpPr>
        <p:spPr>
          <a:xfrm>
            <a:off x="6233008" y="3634740"/>
            <a:ext cx="5501488" cy="1943100"/>
          </a:xfrm>
          <a:prstGeom prst="roundRect">
            <a:avLst>
              <a:gd name="adj" fmla="val 5647"/>
            </a:avLst>
          </a:prstGeom>
          <a:solidFill>
            <a:schemeClr val="bg1"/>
          </a:solidFill>
          <a:ln w="12700">
            <a:solidFill>
              <a:schemeClr val="accent6"/>
            </a:solidFill>
            <a:prstDash val="solid"/>
          </a:ln>
        </p:spPr>
      </p:sp>
      <p:sp>
        <p:nvSpPr>
          <p:cNvPr id="16" name="Check 4 icon circle"/>
          <p:cNvSpPr/>
          <p:nvPr/>
        </p:nvSpPr>
        <p:spPr>
          <a:xfrm>
            <a:off x="6415888" y="3817620"/>
            <a:ext cx="640080" cy="640080"/>
          </a:xfrm>
          <a:prstGeom prst="ellipse">
            <a:avLst/>
          </a:prstGeom>
          <a:solidFill>
            <a:schemeClr val="accent4"/>
          </a:solidFill>
          <a:ln/>
        </p:spPr>
      </p:sp>
      <p:pic>
        <p:nvPicPr>
          <p:cNvPr id="17" name="Check 4 icon glyph" descr="warning icon">    </p:cNvPr>
          <p:cNvPicPr>
            <a:picLocks noChangeAspect="1"/>
          </p:cNvPicPr>
          <p:nvPr/>
        </p:nvPicPr>
        <p:blipFill>
          <a:blip r:embed="rId4"/>
          <a:stretch>
            <a:fillRect/>
          </a:stretch>
        </p:blipFill>
        <p:spPr>
          <a:xfrm>
            <a:off x="6575908" y="3977640"/>
            <a:ext cx="320040" cy="320040"/>
          </a:xfrm>
          <a:prstGeom prst="rect">
            <a:avLst/>
          </a:prstGeom>
        </p:spPr>
      </p:pic>
      <p:sp>
        <p:nvSpPr>
          <p:cNvPr id="18" name="Check 4 text"/>
          <p:cNvSpPr txBox="1"/>
          <p:nvPr/>
        </p:nvSpPr>
        <p:spPr>
          <a:xfrm>
            <a:off x="7238848" y="3817620"/>
            <a:ext cx="4312768" cy="1577340"/>
          </a:xfrm>
          <a:prstGeom prst="rect">
            <a:avLst/>
          </a:prstGeom>
          <a:noFill/>
          <a:ln/>
        </p:spPr>
        <p:txBody>
          <a:bodyPr wrap="square" lIns="0" tIns="0" rIns="0" bIns="0" rtlCol="0" anchor="t"/>
          <a:lstStyle/>
          <a:p>
            <a:pPr algn="l" indent="0" marL="0">
              <a:spcAft>
                <a:spcPts val="300"/>
              </a:spcAft>
              <a:buNone/>
            </a:pPr>
            <a:r>
              <a:rPr lang="en-US" sz="1800" b="1" dirty="0">
                <a:solidFill>
                  <a:schemeClr val="tx2"/>
                </a:solidFill>
              </a:rPr>
              <a:t>Joint sign consistency</a:t>
            </a:r>
            <a:endParaRPr lang="en-US" sz="1600" dirty="0"/>
          </a:p>
          <a:p>
            <a:pPr algn="l" indent="0" marL="0">
              <a:spcAft>
                <a:spcPts val="300"/>
              </a:spcAft>
              <a:buNone/>
            </a:pPr>
            <a:r>
              <a:rPr lang="en-US" sz="1600" b="1" dirty="0">
                <a:solidFill>
                  <a:schemeClr val="accent1"/>
                </a:solidFill>
              </a:rPr>
              <a:t>far below 100 percent (B only)</a:t>
            </a:r>
            <a:endParaRPr lang="en-US" sz="1600" dirty="0"/>
          </a:p>
          <a:p>
            <a:pPr algn="l" indent="0" marL="0">
              <a:buNone/>
            </a:pPr>
            <a:r>
              <a:rPr lang="en-US" sz="1400" dirty="0">
                <a:solidFill>
                  <a:schemeClr val="tx1"/>
                </a:solidFill>
              </a:rPr>
              <a:t>The approach move did not standardize that joint's backlash over part of the workspace; tell the engineer</a:t>
            </a:r>
            <a:endParaRPr lang="en-US" sz="1600" dirty="0"/>
          </a:p>
        </p:txBody>
      </p:sp>
      <p:sp>
        <p:nvSpPr>
          <p:cNvPr id="19" name="Checks caption"/>
          <p:cNvSpPr txBox="1"/>
          <p:nvPr/>
        </p:nvSpPr>
        <p:spPr>
          <a:xfrm>
            <a:off x="457200" y="5852160"/>
            <a:ext cx="11277295" cy="274320"/>
          </a:xfrm>
          <a:prstGeom prst="rect">
            <a:avLst/>
          </a:prstGeom>
          <a:noFill/>
          <a:ln/>
        </p:spPr>
        <p:txBody>
          <a:bodyPr wrap="square" lIns="0" tIns="0" rIns="0" bIns="0" rtlCol="0" anchor="b"/>
          <a:lstStyle/>
          <a:p>
            <a:pPr algn="l" indent="0" marL="0">
              <a:buNone/>
            </a:pPr>
            <a:r>
              <a:rPr lang="en-US" sz="1200" dirty="0">
                <a:solidFill>
                  <a:schemeClr val="accent5"/>
                </a:solidFill>
              </a:rPr>
              <a:t>Re-capture a flagged pose under a new id, for example b_z0650_t24_a090_05r; never delete lines from the log. Exit code 0 means nothing flagged.</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Seven things that spoil a session</a:t>
            </a:r>
            <a:endParaRPr lang="en-US" sz="3400" dirty="0"/>
          </a:p>
        </p:txBody>
      </p:sp>
      <p:sp>
        <p:nvSpPr>
          <p:cNvPr id="3" name="Spoiler column 1 row 1 card"/>
          <p:cNvSpPr/>
          <p:nvPr/>
        </p:nvSpPr>
        <p:spPr>
          <a:xfrm>
            <a:off x="457200" y="1417320"/>
            <a:ext cx="5501488" cy="1152144"/>
          </a:xfrm>
          <a:prstGeom prst="roundRect">
            <a:avLst>
              <a:gd name="adj" fmla="val 9524"/>
            </a:avLst>
          </a:prstGeom>
          <a:solidFill>
            <a:schemeClr val="bg2"/>
          </a:solidFill>
          <a:ln/>
        </p:spPr>
      </p:sp>
      <p:sp>
        <p:nvSpPr>
          <p:cNvPr id="4" name="Spoiler column 1 icon 1 circle"/>
          <p:cNvSpPr/>
          <p:nvPr/>
        </p:nvSpPr>
        <p:spPr>
          <a:xfrm>
            <a:off x="640080" y="1696212"/>
            <a:ext cx="594360" cy="594360"/>
          </a:xfrm>
          <a:prstGeom prst="ellipse">
            <a:avLst/>
          </a:prstGeom>
          <a:solidFill>
            <a:schemeClr val="accent4"/>
          </a:solidFill>
          <a:ln/>
        </p:spPr>
      </p:sp>
      <p:pic>
        <p:nvPicPr>
          <p:cNvPr id="5" name="Spoiler column 1 icon 1 glyph" descr="move icon">    </p:cNvPr>
          <p:cNvPicPr>
            <a:picLocks noChangeAspect="1"/>
          </p:cNvPicPr>
          <p:nvPr/>
        </p:nvPicPr>
        <p:blipFill>
          <a:blip r:embed="rId1"/>
          <a:stretch>
            <a:fillRect/>
          </a:stretch>
        </p:blipFill>
        <p:spPr>
          <a:xfrm>
            <a:off x="788670" y="1844802"/>
            <a:ext cx="297180" cy="297180"/>
          </a:xfrm>
          <a:prstGeom prst="rect">
            <a:avLst/>
          </a:prstGeom>
        </p:spPr>
      </p:pic>
      <p:sp>
        <p:nvSpPr>
          <p:cNvPr id="6" name="Spoiler column 1 text 1"/>
          <p:cNvSpPr txBox="1"/>
          <p:nvPr/>
        </p:nvSpPr>
        <p:spPr>
          <a:xfrm>
            <a:off x="1417320" y="1417320"/>
            <a:ext cx="4358488" cy="1152144"/>
          </a:xfrm>
          <a:prstGeom prst="rect">
            <a:avLst/>
          </a:prstGeom>
          <a:noFill/>
          <a:ln/>
        </p:spPr>
        <p:txBody>
          <a:bodyPr wrap="square" lIns="0" tIns="0" rIns="0" bIns="0" rtlCol="0" anchor="ctr"/>
          <a:lstStyle/>
          <a:p>
            <a:pPr algn="l" indent="0" marL="0">
              <a:buNone/>
            </a:pPr>
            <a:r>
              <a:rPr lang="en-US" sz="1600" dirty="0">
                <a:solidFill>
                  <a:schemeClr val="tx1"/>
                </a:solidFill>
              </a:rPr>
              <a:t>Moving or bumping the sensor: everything after it is a new session, both sub-procedures repeated</a:t>
            </a:r>
            <a:endParaRPr lang="en-US" sz="1600" dirty="0"/>
          </a:p>
        </p:txBody>
      </p:sp>
      <p:sp>
        <p:nvSpPr>
          <p:cNvPr id="7" name="Spoiler column 1 row 2 card"/>
          <p:cNvSpPr/>
          <p:nvPr/>
        </p:nvSpPr>
        <p:spPr>
          <a:xfrm>
            <a:off x="457200" y="2752344"/>
            <a:ext cx="5501488" cy="1152144"/>
          </a:xfrm>
          <a:prstGeom prst="roundRect">
            <a:avLst>
              <a:gd name="adj" fmla="val 9524"/>
            </a:avLst>
          </a:prstGeom>
          <a:solidFill>
            <a:schemeClr val="bg2"/>
          </a:solidFill>
          <a:ln/>
        </p:spPr>
      </p:sp>
      <p:sp>
        <p:nvSpPr>
          <p:cNvPr id="8" name="Spoiler column 1 icon 2 circle"/>
          <p:cNvSpPr/>
          <p:nvPr/>
        </p:nvSpPr>
        <p:spPr>
          <a:xfrm>
            <a:off x="640080" y="3031236"/>
            <a:ext cx="594360" cy="594360"/>
          </a:xfrm>
          <a:prstGeom prst="ellipse">
            <a:avLst/>
          </a:prstGeom>
          <a:solidFill>
            <a:schemeClr val="accent4"/>
          </a:solidFill>
          <a:ln/>
        </p:spPr>
      </p:sp>
      <p:pic>
        <p:nvPicPr>
          <p:cNvPr id="9" name="Spoiler column 1 icon 2 glyph" descr="sliders icon">    </p:cNvPr>
          <p:cNvPicPr>
            <a:picLocks noChangeAspect="1"/>
          </p:cNvPicPr>
          <p:nvPr/>
        </p:nvPicPr>
        <p:blipFill>
          <a:blip r:embed="rId2"/>
          <a:stretch>
            <a:fillRect/>
          </a:stretch>
        </p:blipFill>
        <p:spPr>
          <a:xfrm>
            <a:off x="788670" y="3179826"/>
            <a:ext cx="297180" cy="297180"/>
          </a:xfrm>
          <a:prstGeom prst="rect">
            <a:avLst/>
          </a:prstGeom>
        </p:spPr>
      </p:pic>
      <p:sp>
        <p:nvSpPr>
          <p:cNvPr id="10" name="Spoiler column 1 text 2"/>
          <p:cNvSpPr txBox="1"/>
          <p:nvPr/>
        </p:nvSpPr>
        <p:spPr>
          <a:xfrm>
            <a:off x="1417320" y="2752344"/>
            <a:ext cx="4358488" cy="1152144"/>
          </a:xfrm>
          <a:prstGeom prst="rect">
            <a:avLst/>
          </a:prstGeom>
          <a:noFill/>
          <a:ln/>
        </p:spPr>
        <p:txBody>
          <a:bodyPr wrap="square" lIns="0" tIns="0" rIns="0" bIns="0" rtlCol="0" anchor="ctr"/>
          <a:lstStyle/>
          <a:p>
            <a:pPr algn="l" indent="0" marL="0">
              <a:buNone/>
            </a:pPr>
            <a:r>
              <a:rPr lang="en-US" sz="1600" dirty="0">
                <a:solidFill>
                  <a:schemeClr val="tx1"/>
                </a:solidFill>
              </a:rPr>
              <a:t>Changing exposure, gain, the base frame, the speed settings or the backlash compensation mid-session or between the runs</a:t>
            </a:r>
            <a:endParaRPr lang="en-US" sz="1600" dirty="0"/>
          </a:p>
        </p:txBody>
      </p:sp>
      <p:sp>
        <p:nvSpPr>
          <p:cNvPr id="11" name="Spoiler column 1 row 3 card"/>
          <p:cNvSpPr/>
          <p:nvPr/>
        </p:nvSpPr>
        <p:spPr>
          <a:xfrm>
            <a:off x="457200" y="4087368"/>
            <a:ext cx="5501488" cy="1040130"/>
          </a:xfrm>
          <a:prstGeom prst="roundRect">
            <a:avLst>
              <a:gd name="adj" fmla="val 10549"/>
            </a:avLst>
          </a:prstGeom>
          <a:solidFill>
            <a:schemeClr val="bg2"/>
          </a:solidFill>
          <a:ln/>
        </p:spPr>
      </p:sp>
      <p:sp>
        <p:nvSpPr>
          <p:cNvPr id="12" name="Spoiler column 1 icon 3 circle"/>
          <p:cNvSpPr/>
          <p:nvPr/>
        </p:nvSpPr>
        <p:spPr>
          <a:xfrm>
            <a:off x="640080" y="4310253"/>
            <a:ext cx="594360" cy="594360"/>
          </a:xfrm>
          <a:prstGeom prst="ellipse">
            <a:avLst/>
          </a:prstGeom>
          <a:solidFill>
            <a:schemeClr val="accent4"/>
          </a:solidFill>
          <a:ln/>
        </p:spPr>
      </p:sp>
      <p:pic>
        <p:nvPicPr>
          <p:cNvPr id="13" name="Spoiler column 1 icon 3 glyph" descr="edit icon">    </p:cNvPr>
          <p:cNvPicPr>
            <a:picLocks noChangeAspect="1"/>
          </p:cNvPicPr>
          <p:nvPr/>
        </p:nvPicPr>
        <p:blipFill>
          <a:blip r:embed="rId3"/>
          <a:stretch>
            <a:fillRect/>
          </a:stretch>
        </p:blipFill>
        <p:spPr>
          <a:xfrm>
            <a:off x="788670" y="4458843"/>
            <a:ext cx="297180" cy="297180"/>
          </a:xfrm>
          <a:prstGeom prst="rect">
            <a:avLst/>
          </a:prstGeom>
        </p:spPr>
      </p:pic>
      <p:sp>
        <p:nvSpPr>
          <p:cNvPr id="14" name="Spoiler column 1 text 3"/>
          <p:cNvSpPr txBox="1"/>
          <p:nvPr/>
        </p:nvSpPr>
        <p:spPr>
          <a:xfrm>
            <a:off x="1417320" y="4087368"/>
            <a:ext cx="4358488" cy="1040130"/>
          </a:xfrm>
          <a:prstGeom prst="rect">
            <a:avLst/>
          </a:prstGeom>
          <a:noFill/>
          <a:ln/>
        </p:spPr>
        <p:txBody>
          <a:bodyPr wrap="square" lIns="0" tIns="0" rIns="0" bIns="0" rtlCol="0" anchor="ctr"/>
          <a:lstStyle/>
          <a:p>
            <a:pPr algn="l" indent="0" marL="0">
              <a:buNone/>
            </a:pPr>
            <a:r>
              <a:rPr lang="en-US" sz="1600" dirty="0">
                <a:solidFill>
                  <a:schemeClr val="tx1"/>
                </a:solidFill>
              </a:rPr>
              <a:t>Logging the commanded pose instead of the reported pose</a:t>
            </a:r>
            <a:endParaRPr lang="en-US" sz="1600" dirty="0"/>
          </a:p>
        </p:txBody>
      </p:sp>
      <p:sp>
        <p:nvSpPr>
          <p:cNvPr id="15" name="Spoiler column 1 row 4 card"/>
          <p:cNvSpPr/>
          <p:nvPr/>
        </p:nvSpPr>
        <p:spPr>
          <a:xfrm>
            <a:off x="457200" y="5310378"/>
            <a:ext cx="5501488" cy="1040130"/>
          </a:xfrm>
          <a:prstGeom prst="roundRect">
            <a:avLst>
              <a:gd name="adj" fmla="val 10549"/>
            </a:avLst>
          </a:prstGeom>
          <a:solidFill>
            <a:schemeClr val="bg2"/>
          </a:solidFill>
          <a:ln/>
        </p:spPr>
      </p:sp>
      <p:sp>
        <p:nvSpPr>
          <p:cNvPr id="16" name="Spoiler column 1 icon 4 circle"/>
          <p:cNvSpPr/>
          <p:nvPr/>
        </p:nvSpPr>
        <p:spPr>
          <a:xfrm>
            <a:off x="640080" y="5533263"/>
            <a:ext cx="594360" cy="594360"/>
          </a:xfrm>
          <a:prstGeom prst="ellipse">
            <a:avLst/>
          </a:prstGeom>
          <a:solidFill>
            <a:schemeClr val="accent4"/>
          </a:solidFill>
          <a:ln/>
        </p:spPr>
      </p:sp>
      <p:pic>
        <p:nvPicPr>
          <p:cNvPr id="17" name="Spoiler column 1 icon 4 glyph" descr="tool icon">    </p:cNvPr>
          <p:cNvPicPr>
            <a:picLocks noChangeAspect="1"/>
          </p:cNvPicPr>
          <p:nvPr/>
        </p:nvPicPr>
        <p:blipFill>
          <a:blip r:embed="rId4"/>
          <a:stretch>
            <a:fillRect/>
          </a:stretch>
        </p:blipFill>
        <p:spPr>
          <a:xfrm>
            <a:off x="788670" y="5681853"/>
            <a:ext cx="297180" cy="297180"/>
          </a:xfrm>
          <a:prstGeom prst="rect">
            <a:avLst/>
          </a:prstGeom>
        </p:spPr>
      </p:pic>
      <p:sp>
        <p:nvSpPr>
          <p:cNvPr id="18" name="Spoiler column 1 text 4"/>
          <p:cNvSpPr txBox="1"/>
          <p:nvPr/>
        </p:nvSpPr>
        <p:spPr>
          <a:xfrm>
            <a:off x="1417320" y="5310378"/>
            <a:ext cx="4358488" cy="1040130"/>
          </a:xfrm>
          <a:prstGeom prst="rect">
            <a:avLst/>
          </a:prstGeom>
          <a:noFill/>
          <a:ln/>
        </p:spPr>
        <p:txBody>
          <a:bodyPr wrap="square" lIns="0" tIns="0" rIns="0" bIns="0" rtlCol="0" anchor="ctr"/>
          <a:lstStyle/>
          <a:p>
            <a:pPr algn="l" indent="0" marL="0">
              <a:buNone/>
            </a:pPr>
            <a:r>
              <a:rPr lang="en-US" sz="1600" dirty="0">
                <a:solidFill>
                  <a:schemeClr val="tx1"/>
                </a:solidFill>
              </a:rPr>
              <a:t>A loose adapter, or a remount that did not go back: do the remount check after any remount</a:t>
            </a:r>
            <a:endParaRPr lang="en-US" sz="1600" dirty="0"/>
          </a:p>
        </p:txBody>
      </p:sp>
      <p:sp>
        <p:nvSpPr>
          <p:cNvPr id="19" name="Spoiler column 2 row 1 card"/>
          <p:cNvSpPr/>
          <p:nvPr/>
        </p:nvSpPr>
        <p:spPr>
          <a:xfrm>
            <a:off x="6233008" y="1417320"/>
            <a:ext cx="5501488" cy="1040130"/>
          </a:xfrm>
          <a:prstGeom prst="roundRect">
            <a:avLst>
              <a:gd name="adj" fmla="val 10549"/>
            </a:avLst>
          </a:prstGeom>
          <a:solidFill>
            <a:schemeClr val="bg2"/>
          </a:solidFill>
          <a:ln/>
        </p:spPr>
      </p:sp>
      <p:sp>
        <p:nvSpPr>
          <p:cNvPr id="20" name="Spoiler column 2 icon 1 circle"/>
          <p:cNvSpPr/>
          <p:nvPr/>
        </p:nvSpPr>
        <p:spPr>
          <a:xfrm>
            <a:off x="6415888" y="1640205"/>
            <a:ext cx="594360" cy="594360"/>
          </a:xfrm>
          <a:prstGeom prst="ellipse">
            <a:avLst/>
          </a:prstGeom>
          <a:solidFill>
            <a:schemeClr val="accent4"/>
          </a:solidFill>
          <a:ln/>
        </p:spPr>
      </p:sp>
      <p:pic>
        <p:nvPicPr>
          <p:cNvPr id="21" name="Spoiler column 2 icon 1 glyph" descr="hand icon">    </p:cNvPr>
          <p:cNvPicPr>
            <a:picLocks noChangeAspect="1"/>
          </p:cNvPicPr>
          <p:nvPr/>
        </p:nvPicPr>
        <p:blipFill>
          <a:blip r:embed="rId5"/>
          <a:stretch>
            <a:fillRect/>
          </a:stretch>
        </p:blipFill>
        <p:spPr>
          <a:xfrm>
            <a:off x="6564478" y="1788795"/>
            <a:ext cx="297180" cy="297180"/>
          </a:xfrm>
          <a:prstGeom prst="rect">
            <a:avLst/>
          </a:prstGeom>
        </p:spPr>
      </p:pic>
      <p:sp>
        <p:nvSpPr>
          <p:cNvPr id="22" name="Spoiler column 2 text 1"/>
          <p:cNvSpPr txBox="1"/>
          <p:nvPr/>
        </p:nvSpPr>
        <p:spPr>
          <a:xfrm>
            <a:off x="7193128" y="1417320"/>
            <a:ext cx="4358488" cy="1040130"/>
          </a:xfrm>
          <a:prstGeom prst="rect">
            <a:avLst/>
          </a:prstGeom>
          <a:noFill/>
          <a:ln/>
        </p:spPr>
        <p:txBody>
          <a:bodyPr wrap="square" lIns="0" tIns="0" rIns="0" bIns="0" rtlCol="0" anchor="ctr"/>
          <a:lstStyle/>
          <a:p>
            <a:pPr algn="l" indent="0" marL="0">
              <a:buNone/>
            </a:pPr>
            <a:r>
              <a:rPr lang="en-US" sz="1600" dirty="0">
                <a:solidFill>
                  <a:schemeClr val="tx1"/>
                </a:solidFill>
              </a:rPr>
              <a:t>Fingerprints or gloss on the board: wipe with isopropyl alcohol</a:t>
            </a:r>
            <a:endParaRPr lang="en-US" sz="1600" dirty="0"/>
          </a:p>
        </p:txBody>
      </p:sp>
      <p:sp>
        <p:nvSpPr>
          <p:cNvPr id="23" name="Spoiler column 2 row 2 card"/>
          <p:cNvSpPr/>
          <p:nvPr/>
        </p:nvSpPr>
        <p:spPr>
          <a:xfrm>
            <a:off x="6233008" y="2640330"/>
            <a:ext cx="5501488" cy="1040130"/>
          </a:xfrm>
          <a:prstGeom prst="roundRect">
            <a:avLst>
              <a:gd name="adj" fmla="val 10549"/>
            </a:avLst>
          </a:prstGeom>
          <a:solidFill>
            <a:schemeClr val="bg2"/>
          </a:solidFill>
          <a:ln/>
        </p:spPr>
      </p:sp>
      <p:sp>
        <p:nvSpPr>
          <p:cNvPr id="24" name="Spoiler column 2 icon 2 circle"/>
          <p:cNvSpPr/>
          <p:nvPr/>
        </p:nvSpPr>
        <p:spPr>
          <a:xfrm>
            <a:off x="6415888" y="2863215"/>
            <a:ext cx="594360" cy="594360"/>
          </a:xfrm>
          <a:prstGeom prst="ellipse">
            <a:avLst/>
          </a:prstGeom>
          <a:solidFill>
            <a:schemeClr val="accent4"/>
          </a:solidFill>
          <a:ln/>
        </p:spPr>
      </p:sp>
      <p:pic>
        <p:nvPicPr>
          <p:cNvPr id="25" name="Spoiler column 2 icon 2 glyph" descr="eye icon">    </p:cNvPr>
          <p:cNvPicPr>
            <a:picLocks noChangeAspect="1"/>
          </p:cNvPicPr>
          <p:nvPr/>
        </p:nvPicPr>
        <p:blipFill>
          <a:blip r:embed="rId6"/>
          <a:stretch>
            <a:fillRect/>
          </a:stretch>
        </p:blipFill>
        <p:spPr>
          <a:xfrm>
            <a:off x="6564478" y="3011805"/>
            <a:ext cx="297180" cy="297180"/>
          </a:xfrm>
          <a:prstGeom prst="rect">
            <a:avLst/>
          </a:prstGeom>
        </p:spPr>
      </p:pic>
      <p:sp>
        <p:nvSpPr>
          <p:cNvPr id="26" name="Spoiler column 2 text 2"/>
          <p:cNvSpPr txBox="1"/>
          <p:nvPr/>
        </p:nvSpPr>
        <p:spPr>
          <a:xfrm>
            <a:off x="7193128" y="2640330"/>
            <a:ext cx="4358488" cy="1040130"/>
          </a:xfrm>
          <a:prstGeom prst="rect">
            <a:avLst/>
          </a:prstGeom>
          <a:noFill/>
          <a:ln/>
        </p:spPr>
        <p:txBody>
          <a:bodyPr wrap="square" lIns="0" tIns="0" rIns="0" bIns="0" rtlCol="0" anchor="ctr"/>
          <a:lstStyle/>
          <a:p>
            <a:pPr algn="l" indent="0" marL="0">
              <a:buNone/>
            </a:pPr>
            <a:r>
              <a:rPr lang="en-US" sz="1600" dirty="0">
                <a:solidFill>
                  <a:schemeClr val="tx1"/>
                </a:solidFill>
              </a:rPr>
              <a:t>Something flat and large closer to the sensor than the board: keep the foreground clear</a:t>
            </a:r>
            <a:endParaRPr lang="en-US" sz="1600" dirty="0"/>
          </a:p>
        </p:txBody>
      </p:sp>
      <p:sp>
        <p:nvSpPr>
          <p:cNvPr id="27" name="Spoiler column 2 row 3 card"/>
          <p:cNvSpPr/>
          <p:nvPr/>
        </p:nvSpPr>
        <p:spPr>
          <a:xfrm>
            <a:off x="6233008" y="3863340"/>
            <a:ext cx="5501488" cy="1152144"/>
          </a:xfrm>
          <a:prstGeom prst="roundRect">
            <a:avLst>
              <a:gd name="adj" fmla="val 9524"/>
            </a:avLst>
          </a:prstGeom>
          <a:solidFill>
            <a:schemeClr val="bg2"/>
          </a:solidFill>
          <a:ln/>
        </p:spPr>
      </p:sp>
      <p:sp>
        <p:nvSpPr>
          <p:cNvPr id="28" name="Spoiler column 2 icon 3 circle"/>
          <p:cNvSpPr/>
          <p:nvPr/>
        </p:nvSpPr>
        <p:spPr>
          <a:xfrm>
            <a:off x="6415888" y="4142232"/>
            <a:ext cx="594360" cy="594360"/>
          </a:xfrm>
          <a:prstGeom prst="ellipse">
            <a:avLst/>
          </a:prstGeom>
          <a:solidFill>
            <a:schemeClr val="accent4"/>
          </a:solidFill>
          <a:ln/>
        </p:spPr>
      </p:sp>
      <p:pic>
        <p:nvPicPr>
          <p:cNvPr id="29" name="Spoiler column 2 icon 3 glyph" descr="swap icon">    </p:cNvPr>
          <p:cNvPicPr>
            <a:picLocks noChangeAspect="1"/>
          </p:cNvPicPr>
          <p:nvPr/>
        </p:nvPicPr>
        <p:blipFill>
          <a:blip r:embed="rId7"/>
          <a:stretch>
            <a:fillRect/>
          </a:stretch>
        </p:blipFill>
        <p:spPr>
          <a:xfrm>
            <a:off x="6564478" y="4290822"/>
            <a:ext cx="297180" cy="297180"/>
          </a:xfrm>
          <a:prstGeom prst="rect">
            <a:avLst/>
          </a:prstGeom>
        </p:spPr>
      </p:pic>
      <p:sp>
        <p:nvSpPr>
          <p:cNvPr id="30" name="Spoiler column 2 text 3"/>
          <p:cNvSpPr txBox="1"/>
          <p:nvPr/>
        </p:nvSpPr>
        <p:spPr>
          <a:xfrm>
            <a:off x="7193128" y="3863340"/>
            <a:ext cx="4358488" cy="1152144"/>
          </a:xfrm>
          <a:prstGeom prst="rect">
            <a:avLst/>
          </a:prstGeom>
          <a:noFill/>
          <a:ln/>
        </p:spPr>
        <p:txBody>
          <a:bodyPr wrap="square" lIns="0" tIns="0" rIns="0" bIns="0" rtlCol="0" anchor="ctr"/>
          <a:lstStyle/>
          <a:p>
            <a:pPr algn="l" indent="0" marL="0">
              <a:buNone/>
            </a:pPr>
            <a:r>
              <a:rPr lang="en-US" sz="1600" dirty="0">
                <a:solidFill>
                  <a:schemeClr val="tx1"/>
                </a:solidFill>
              </a:rPr>
              <a:t>In B, stopping or reversing on the final move, or skipping the approach pose; or capturing B into the A folder</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What to hand over at the end of the session</a:t>
            </a:r>
            <a:endParaRPr lang="en-US" sz="3400" dirty="0"/>
          </a:p>
        </p:txBody>
      </p:sp>
      <p:pic>
        <p:nvPicPr>
          <p:cNvPr id="3" name="Checklist check 1" descr="check icon">    </p:cNvPr>
          <p:cNvPicPr>
            <a:picLocks noChangeAspect="1"/>
          </p:cNvPicPr>
          <p:nvPr/>
        </p:nvPicPr>
        <p:blipFill>
          <a:blip r:embed="rId1"/>
          <a:stretch>
            <a:fillRect/>
          </a:stretch>
        </p:blipFill>
        <p:spPr>
          <a:xfrm>
            <a:off x="457200" y="1439309"/>
            <a:ext cx="411480" cy="411480"/>
          </a:xfrm>
          <a:prstGeom prst="rect">
            <a:avLst/>
          </a:prstGeom>
        </p:spPr>
      </p:pic>
      <p:sp>
        <p:nvSpPr>
          <p:cNvPr id="4" name="Checklist text 1"/>
          <p:cNvSpPr txBox="1"/>
          <p:nvPr/>
        </p:nvSpPr>
        <p:spPr>
          <a:xfrm>
            <a:off x="1051560" y="1417320"/>
            <a:ext cx="6995160" cy="455458"/>
          </a:xfrm>
          <a:prstGeom prst="rect">
            <a:avLst/>
          </a:prstGeom>
          <a:noFill/>
          <a:ln/>
        </p:spPr>
        <p:txBody>
          <a:bodyPr wrap="square" lIns="0" tIns="0" rIns="0" bIns="0" rtlCol="0" anchor="ctr"/>
          <a:lstStyle/>
          <a:p>
            <a:pPr algn="l" indent="0" marL="0">
              <a:buNone/>
            </a:pPr>
            <a:r>
              <a:rPr lang="en-US" sz="1400" dirty="0">
                <a:solidFill>
                  <a:schemeClr val="tx1"/>
                </a:solidFill>
              </a:rPr>
              <a:t>captures_A/ and captures_B/ with every .mc file, named &lt;pose_id&gt;_Index&lt;nn&gt;.mc</a:t>
            </a:r>
            <a:endParaRPr lang="en-US" sz="1400" dirty="0"/>
          </a:p>
        </p:txBody>
      </p:sp>
      <p:pic>
        <p:nvPicPr>
          <p:cNvPr id="5" name="Checklist check 2" descr="check icon">    </p:cNvPr>
          <p:cNvPicPr>
            <a:picLocks noChangeAspect="1"/>
          </p:cNvPicPr>
          <p:nvPr/>
        </p:nvPicPr>
        <p:blipFill>
          <a:blip r:embed="rId2"/>
          <a:stretch>
            <a:fillRect/>
          </a:stretch>
        </p:blipFill>
        <p:spPr>
          <a:xfrm>
            <a:off x="457200" y="2112699"/>
            <a:ext cx="411480" cy="411480"/>
          </a:xfrm>
          <a:prstGeom prst="rect">
            <a:avLst/>
          </a:prstGeom>
        </p:spPr>
      </p:pic>
      <p:sp>
        <p:nvSpPr>
          <p:cNvPr id="6" name="Checklist text 2"/>
          <p:cNvSpPr txBox="1"/>
          <p:nvPr/>
        </p:nvSpPr>
        <p:spPr>
          <a:xfrm>
            <a:off x="1051560" y="2055658"/>
            <a:ext cx="6995160" cy="525562"/>
          </a:xfrm>
          <a:prstGeom prst="rect">
            <a:avLst/>
          </a:prstGeom>
          <a:noFill/>
          <a:ln/>
        </p:spPr>
        <p:txBody>
          <a:bodyPr wrap="square" lIns="0" tIns="0" rIns="0" bIns="0" rtlCol="0" anchor="ctr"/>
          <a:lstStyle/>
          <a:p>
            <a:pPr algn="l" indent="0" marL="0">
              <a:buNone/>
            </a:pPr>
            <a:r>
              <a:rPr lang="en-US" sz="1400" dirty="0">
                <a:solidFill>
                  <a:schemeClr val="tx1"/>
                </a:solidFill>
              </a:rPr>
              <a:t>pose_log_A.csv and pose_log_B.csv, with the joint-angle columns when the controller reports them</a:t>
            </a:r>
            <a:endParaRPr lang="en-US" sz="1400" dirty="0"/>
          </a:p>
        </p:txBody>
      </p:sp>
      <p:pic>
        <p:nvPicPr>
          <p:cNvPr id="7" name="Checklist check 3" descr="check icon">    </p:cNvPr>
          <p:cNvPicPr>
            <a:picLocks noChangeAspect="1"/>
          </p:cNvPicPr>
          <p:nvPr/>
        </p:nvPicPr>
        <p:blipFill>
          <a:blip r:embed="rId3"/>
          <a:stretch>
            <a:fillRect/>
          </a:stretch>
        </p:blipFill>
        <p:spPr>
          <a:xfrm>
            <a:off x="457200" y="2786090"/>
            <a:ext cx="411480" cy="411480"/>
          </a:xfrm>
          <a:prstGeom prst="rect">
            <a:avLst/>
          </a:prstGeom>
        </p:spPr>
      </p:pic>
      <p:sp>
        <p:nvSpPr>
          <p:cNvPr id="8" name="Checklist text 3"/>
          <p:cNvSpPr txBox="1"/>
          <p:nvPr/>
        </p:nvSpPr>
        <p:spPr>
          <a:xfrm>
            <a:off x="1051560" y="2764101"/>
            <a:ext cx="6995160" cy="455458"/>
          </a:xfrm>
          <a:prstGeom prst="rect">
            <a:avLst/>
          </a:prstGeom>
          <a:noFill/>
          <a:ln/>
        </p:spPr>
        <p:txBody>
          <a:bodyPr wrap="square" lIns="0" tIns="0" rIns="0" bIns="0" rtlCol="0" anchor="ctr"/>
          <a:lstStyle/>
          <a:p>
            <a:pPr algn="l" indent="0" marL="0">
              <a:buNone/>
            </a:pPr>
            <a:r>
              <a:rPr lang="en-US" sz="1400" dirty="0">
                <a:solidFill>
                  <a:schemeClr val="tx1"/>
                </a:solidFill>
              </a:rPr>
              <a:t>captures_A/manifest.csv and captures_B/manifest.csv, built without errors</a:t>
            </a:r>
            <a:endParaRPr lang="en-US" sz="1400" dirty="0"/>
          </a:p>
        </p:txBody>
      </p:sp>
      <p:pic>
        <p:nvPicPr>
          <p:cNvPr id="9" name="Checklist check 4" descr="check icon">    </p:cNvPr>
          <p:cNvPicPr>
            <a:picLocks noChangeAspect="1"/>
          </p:cNvPicPr>
          <p:nvPr/>
        </p:nvPicPr>
        <p:blipFill>
          <a:blip r:embed="rId4"/>
          <a:stretch>
            <a:fillRect/>
          </a:stretch>
        </p:blipFill>
        <p:spPr>
          <a:xfrm>
            <a:off x="457200" y="3424428"/>
            <a:ext cx="411480" cy="411480"/>
          </a:xfrm>
          <a:prstGeom prst="rect">
            <a:avLst/>
          </a:prstGeom>
        </p:spPr>
      </p:pic>
      <p:sp>
        <p:nvSpPr>
          <p:cNvPr id="10" name="Checklist text 4"/>
          <p:cNvSpPr txBox="1"/>
          <p:nvPr/>
        </p:nvSpPr>
        <p:spPr>
          <a:xfrm>
            <a:off x="1051560" y="3402439"/>
            <a:ext cx="6995160" cy="455458"/>
          </a:xfrm>
          <a:prstGeom prst="rect">
            <a:avLst/>
          </a:prstGeom>
          <a:noFill/>
          <a:ln/>
        </p:spPr>
        <p:txBody>
          <a:bodyPr wrap="square" lIns="0" tIns="0" rIns="0" bIns="0" rtlCol="0" anchor="ctr"/>
          <a:lstStyle/>
          <a:p>
            <a:pPr algn="l" indent="0" marL="0">
              <a:buNone/>
            </a:pPr>
            <a:r>
              <a:rPr lang="en-US" sz="1400" dirty="0">
                <a:solidFill>
                  <a:schemeClr val="tx1"/>
                </a:solidFill>
              </a:rPr>
              <a:t>captures_A/check.json and captures_B/check.json with no flags, or a note on each</a:t>
            </a:r>
            <a:endParaRPr lang="en-US" sz="1400" dirty="0"/>
          </a:p>
        </p:txBody>
      </p:sp>
      <p:pic>
        <p:nvPicPr>
          <p:cNvPr id="11" name="Checklist check 5" descr="check icon">    </p:cNvPr>
          <p:cNvPicPr>
            <a:picLocks noChangeAspect="1"/>
          </p:cNvPicPr>
          <p:nvPr/>
        </p:nvPicPr>
        <p:blipFill>
          <a:blip r:embed="rId5"/>
          <a:stretch>
            <a:fillRect/>
          </a:stretch>
        </p:blipFill>
        <p:spPr>
          <a:xfrm>
            <a:off x="457200" y="4062766"/>
            <a:ext cx="411480" cy="411480"/>
          </a:xfrm>
          <a:prstGeom prst="rect">
            <a:avLst/>
          </a:prstGeom>
        </p:spPr>
      </p:pic>
      <p:sp>
        <p:nvSpPr>
          <p:cNvPr id="12" name="Checklist text 5"/>
          <p:cNvSpPr txBox="1"/>
          <p:nvPr/>
        </p:nvSpPr>
        <p:spPr>
          <a:xfrm>
            <a:off x="1051560" y="4040777"/>
            <a:ext cx="6995160" cy="455458"/>
          </a:xfrm>
          <a:prstGeom prst="rect">
            <a:avLst/>
          </a:prstGeom>
          <a:noFill/>
          <a:ln/>
        </p:spPr>
        <p:txBody>
          <a:bodyPr wrap="square" lIns="0" tIns="0" rIns="0" bIns="0" rtlCol="0" anchor="ctr"/>
          <a:lstStyle/>
          <a:p>
            <a:pPr algn="l" indent="0" marL="0">
              <a:buNone/>
            </a:pPr>
            <a:r>
              <a:rPr lang="en-US" sz="1400" dirty="0">
                <a:solidFill>
                  <a:schemeClr val="tx1"/>
                </a:solidFill>
              </a:rPr>
              <a:t>plan/ files as used, boot.json, boot_pose_log.csv and the bootstrap captures</a:t>
            </a:r>
            <a:endParaRPr lang="en-US" sz="1400" dirty="0"/>
          </a:p>
        </p:txBody>
      </p:sp>
      <p:pic>
        <p:nvPicPr>
          <p:cNvPr id="13" name="Checklist check 6" descr="check icon">    </p:cNvPr>
          <p:cNvPicPr>
            <a:picLocks noChangeAspect="1"/>
          </p:cNvPicPr>
          <p:nvPr/>
        </p:nvPicPr>
        <p:blipFill>
          <a:blip r:embed="rId6"/>
          <a:stretch>
            <a:fillRect/>
          </a:stretch>
        </p:blipFill>
        <p:spPr>
          <a:xfrm>
            <a:off x="457200" y="4842837"/>
            <a:ext cx="411480" cy="411480"/>
          </a:xfrm>
          <a:prstGeom prst="rect">
            <a:avLst/>
          </a:prstGeom>
        </p:spPr>
      </p:pic>
      <p:sp>
        <p:nvSpPr>
          <p:cNvPr id="14" name="Checklist text 6"/>
          <p:cNvSpPr txBox="1"/>
          <p:nvPr/>
        </p:nvSpPr>
        <p:spPr>
          <a:xfrm>
            <a:off x="1051560" y="4679115"/>
            <a:ext cx="6995160" cy="738922"/>
          </a:xfrm>
          <a:prstGeom prst="rect">
            <a:avLst/>
          </a:prstGeom>
          <a:noFill/>
          <a:ln/>
        </p:spPr>
        <p:txBody>
          <a:bodyPr wrap="square" lIns="0" tIns="0" rIns="0" bIns="0" rtlCol="0" anchor="ctr"/>
          <a:lstStyle/>
          <a:p>
            <a:pPr algn="l" indent="0" marL="0">
              <a:buNone/>
            </a:pPr>
            <a:r>
              <a:rPr lang="en-US" sz="1400" dirty="0">
                <a:solidFill>
                  <a:schemeClr val="tx1"/>
                </a:solidFill>
              </a:rPr>
              <a:t>session_notes.txt: sensor serial, warm-up, exposure, gain and SGM parameters, pose log location, base frame, backlash setting, board D and run-out, TOOL_BOARD, temperature, speed settings, run order and times</a:t>
            </a:r>
            <a:endParaRPr lang="en-US" sz="1400" dirty="0"/>
          </a:p>
        </p:txBody>
      </p:sp>
      <p:pic>
        <p:nvPicPr>
          <p:cNvPr id="15" name="Checklist check 7" descr="check icon">    </p:cNvPr>
          <p:cNvPicPr>
            <a:picLocks noChangeAspect="1"/>
          </p:cNvPicPr>
          <p:nvPr/>
        </p:nvPicPr>
        <p:blipFill>
          <a:blip r:embed="rId7"/>
          <a:stretch>
            <a:fillRect/>
          </a:stretch>
        </p:blipFill>
        <p:spPr>
          <a:xfrm>
            <a:off x="457200" y="5657959"/>
            <a:ext cx="411480" cy="411480"/>
          </a:xfrm>
          <a:prstGeom prst="rect">
            <a:avLst/>
          </a:prstGeom>
        </p:spPr>
      </p:pic>
      <p:sp>
        <p:nvSpPr>
          <p:cNvPr id="16" name="Checklist text 7"/>
          <p:cNvSpPr txBox="1"/>
          <p:nvPr/>
        </p:nvSpPr>
        <p:spPr>
          <a:xfrm>
            <a:off x="1051560" y="5600918"/>
            <a:ext cx="6995160" cy="525562"/>
          </a:xfrm>
          <a:prstGeom prst="rect">
            <a:avLst/>
          </a:prstGeom>
          <a:noFill/>
          <a:ln/>
        </p:spPr>
        <p:txBody>
          <a:bodyPr wrap="square" lIns="0" tIns="0" rIns="0" bIns="0" rtlCol="0" anchor="ctr"/>
          <a:lstStyle/>
          <a:p>
            <a:pPr algn="l" indent="0" marL="0">
              <a:buNone/>
            </a:pPr>
            <a:r>
              <a:rPr lang="en-US" sz="1400" dirty="0">
                <a:solidFill>
                  <a:schemeClr val="tx1"/>
                </a:solidFill>
              </a:rPr>
              <a:t>Photos (a phone camera is fine) of the sensor mount, the board on the flange, and the workspace as the sensor sees it</a:t>
            </a:r>
            <a:endParaRPr lang="en-US" sz="1400" dirty="0"/>
          </a:p>
        </p:txBody>
      </p:sp>
      <p:sp>
        <p:nvSpPr>
          <p:cNvPr id="17" name="Software card"/>
          <p:cNvSpPr/>
          <p:nvPr/>
        </p:nvSpPr>
        <p:spPr>
          <a:xfrm>
            <a:off x="8321040" y="1417320"/>
            <a:ext cx="3413455" cy="4709160"/>
          </a:xfrm>
          <a:prstGeom prst="roundRect">
            <a:avLst>
              <a:gd name="adj" fmla="val 3215"/>
            </a:avLst>
          </a:prstGeom>
          <a:solidFill>
            <a:schemeClr val="bg2"/>
          </a:solidFill>
          <a:ln/>
        </p:spPr>
      </p:sp>
      <p:sp>
        <p:nvSpPr>
          <p:cNvPr id="18" name="Software icon circle"/>
          <p:cNvSpPr/>
          <p:nvPr/>
        </p:nvSpPr>
        <p:spPr>
          <a:xfrm>
            <a:off x="8549640" y="1645920"/>
            <a:ext cx="640080" cy="640080"/>
          </a:xfrm>
          <a:prstGeom prst="ellipse">
            <a:avLst/>
          </a:prstGeom>
          <a:solidFill>
            <a:schemeClr val="accent2"/>
          </a:solidFill>
          <a:ln/>
        </p:spPr>
      </p:sp>
      <p:pic>
        <p:nvPicPr>
          <p:cNvPr id="19" name="Software icon glyph" descr="code icon">    </p:cNvPr>
          <p:cNvPicPr>
            <a:picLocks noChangeAspect="1"/>
          </p:cNvPicPr>
          <p:nvPr/>
        </p:nvPicPr>
        <p:blipFill>
          <a:blip r:embed="rId8"/>
          <a:stretch>
            <a:fillRect/>
          </a:stretch>
        </p:blipFill>
        <p:spPr>
          <a:xfrm>
            <a:off x="8709660" y="1805940"/>
            <a:ext cx="320040" cy="320040"/>
          </a:xfrm>
          <a:prstGeom prst="rect">
            <a:avLst/>
          </a:prstGeom>
        </p:spPr>
      </p:pic>
      <p:sp>
        <p:nvSpPr>
          <p:cNvPr id="20" name="Software head"/>
          <p:cNvSpPr txBox="1"/>
          <p:nvPr/>
        </p:nvSpPr>
        <p:spPr>
          <a:xfrm>
            <a:off x="9372600" y="1645920"/>
            <a:ext cx="2133295" cy="640080"/>
          </a:xfrm>
          <a:prstGeom prst="rect">
            <a:avLst/>
          </a:prstGeom>
          <a:noFill/>
          <a:ln/>
        </p:spPr>
        <p:txBody>
          <a:bodyPr wrap="square" lIns="0" tIns="0" rIns="0" bIns="0" rtlCol="0" anchor="ctr"/>
          <a:lstStyle/>
          <a:p>
            <a:pPr algn="l" indent="0" marL="0">
              <a:buNone/>
            </a:pPr>
            <a:r>
              <a:rPr lang="en-US" sz="2000" b="1" dirty="0">
                <a:solidFill>
                  <a:schemeClr val="tx2"/>
                </a:solidFill>
                <a:latin typeface="+mj-lt" pitchFamily="34" charset="0"/>
                <a:ea typeface="+mj-lt" pitchFamily="34" charset="-122"/>
                <a:cs typeface="+mj-lt" pitchFamily="34" charset="-120"/>
              </a:rPr>
              <a:t>Software</a:t>
            </a:r>
            <a:endParaRPr lang="en-US" sz="2000" dirty="0"/>
          </a:p>
        </p:txBody>
      </p:sp>
      <p:sp>
        <p:nvSpPr>
          <p:cNvPr id="21" name="Software points"/>
          <p:cNvSpPr txBox="1"/>
          <p:nvPr/>
        </p:nvSpPr>
        <p:spPr>
          <a:xfrm>
            <a:off x="8549640" y="2468880"/>
            <a:ext cx="2956255" cy="3429000"/>
          </a:xfrm>
          <a:prstGeom prst="rect">
            <a:avLst/>
          </a:prstGeom>
          <a:noFill/>
          <a:ln/>
        </p:spPr>
        <p:txBody>
          <a:bodyPr wrap="square" lIns="0" tIns="0" rIns="0" bIns="0" rtlCol="0" anchor="t"/>
          <a:lstStyle/>
          <a:p>
            <a:pPr algn="l" marL="177800" indent="-177800">
              <a:spcAft>
                <a:spcPts val="1200"/>
              </a:spcAft>
              <a:buSzPct val="100000"/>
              <a:buChar char="•"/>
            </a:pPr>
            <a:r>
              <a:rPr lang="en-US" sz="1600" dirty="0">
                <a:solidFill>
                  <a:schemeClr val="tx1"/>
                </a:solidFill>
              </a:rPr>
              <a:t>plan_poses, bootstrap and check_captures in planereg.capture; make_manifest in sphcal.cli</a:t>
            </a:r>
            <a:endParaRPr lang="en-US" sz="1600" dirty="0"/>
          </a:p>
          <a:p>
            <a:pPr algn="l" marL="177800" indent="-177800">
              <a:spcAft>
                <a:spcPts val="1200"/>
              </a:spcAft>
              <a:buSzPct val="100000"/>
              <a:buChar char="•"/>
            </a:pPr>
            <a:r>
              <a:rPr lang="en-US" sz="1600" dirty="0">
                <a:solidFill>
                  <a:schemeClr val="tx1"/>
                </a:solidFill>
              </a:rPr>
              <a:t>Install and self-test: procedure appendix C</a:t>
            </a:r>
            <a:endParaRPr lang="en-US" sz="1600" dirty="0"/>
          </a:p>
          <a:p>
            <a:pPr algn="l" marL="177800" indent="-177800">
              <a:spcAft>
                <a:spcPts val="1200"/>
              </a:spcAft>
              <a:buSzPct val="100000"/>
              <a:buChar char="•"/>
            </a:pPr>
            <a:r>
              <a:rPr lang="en-US" sz="1600" dirty="0">
                <a:solidFill>
                  <a:schemeClr val="tx1"/>
                </a:solidFill>
              </a:rPr>
              <a:t>Every tool prints its options with --help; appendix B quotes them</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Sensor Registration">
  <a:themeElements>
    <a:clrScheme name="Sensor Registration">
      <a:dk1>
        <a:srgbClr val="1F2A30"/>
      </a:dk1>
      <a:lt1>
        <a:srgbClr val="FFFFFF"/>
      </a:lt1>
      <a:dk2>
        <a:srgbClr val="2E4A52"/>
      </a:dk2>
      <a:lt2>
        <a:srgbClr val="EEF2F3"/>
      </a:lt2>
      <a:accent1>
        <a:srgbClr val="D9731A"/>
      </a:accent1>
      <a:accent2>
        <a:srgbClr val="3E7C87"/>
      </a:accent2>
      <a:accent3>
        <a:srgbClr val="8FA9AE"/>
      </a:accent3>
      <a:accent4>
        <a:srgbClr val="B23A2E"/>
      </a:accent4>
      <a:accent5>
        <a:srgbClr val="5B6B70"/>
      </a:accent5>
      <a:accent6>
        <a:srgbClr val="C9D6D8"/>
      </a:accent6>
      <a:hlink>
        <a:srgbClr val="3E7C87"/>
      </a:hlink>
      <a:folHlink>
        <a:srgbClr val="5B6B70"/>
      </a:folHlink>
    </a:clrScheme>
    <a:fontScheme name="Sensor Registr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Sensor Registration: Test Procedure and Robot Program</dc:title>
  <dc:subject>Sensor-to-robot registration captures</dc:subject>
  <dc:creator>Plane-plane registration</dc:creator>
  <cp:lastModifiedBy>Plane-plane registration</cp:lastModifiedBy>
  <cp:revision>1</cp:revision>
  <dcterms:created xsi:type="dcterms:W3CDTF">2026-10-08T22:05:36Z</dcterms:created>
  <dcterms:modified xsi:type="dcterms:W3CDTF">2026-10-08T22:05:36Z</dcterms:modified>
</cp:coreProperties>
</file>